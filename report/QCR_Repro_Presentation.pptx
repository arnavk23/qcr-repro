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1.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1.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1.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1.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778240" y="-2377440"/>
            <a:ext cx="6858000" cy="6858000"/>
          </a:xfrm>
          <a:prstGeom prst="ellipse">
            <a:avLst/>
          </a:prstGeom>
          <a:solidFill>
            <a:srgbClr val="13294C"/>
          </a:solidFill>
          <a:ln/>
        </p:spPr>
      </p:sp>
      <p:sp>
        <p:nvSpPr>
          <p:cNvPr id="3" name="Shape 1"/>
          <p:cNvSpPr/>
          <p:nvPr/>
        </p:nvSpPr>
        <p:spPr>
          <a:xfrm>
            <a:off x="9875520" y="-1463040"/>
            <a:ext cx="4206240" cy="4206240"/>
          </a:xfrm>
          <a:prstGeom prst="ellipse">
            <a:avLst/>
          </a:prstGeom>
          <a:solidFill>
            <a:srgbClr val="1B3660"/>
          </a:solidFill>
          <a:ln/>
        </p:spPr>
      </p:sp>
      <p:sp>
        <p:nvSpPr>
          <p:cNvPr id="4" name="Text 2"/>
          <p:cNvSpPr/>
          <p:nvPr/>
        </p:nvSpPr>
        <p:spPr>
          <a:xfrm>
            <a:off x="548640" y="1417320"/>
            <a:ext cx="7315200" cy="365760"/>
          </a:xfrm>
          <a:prstGeom prst="rect">
            <a:avLst/>
          </a:prstGeom>
          <a:noFill/>
          <a:ln/>
        </p:spPr>
        <p:txBody>
          <a:bodyPr wrap="square" lIns="0" tIns="0" rIns="0" bIns="0" rtlCol="0" anchor="ctr"/>
          <a:lstStyle/>
          <a:p>
            <a:pPr indent="0" marL="0">
              <a:buNone/>
            </a:pPr>
            <a:r>
              <a:rPr lang="en-US" sz="1400" b="1" spc="300" kern="0" dirty="0">
                <a:solidFill>
                  <a:srgbClr val="E8B94B"/>
                </a:solidFill>
                <a:latin typeface="Calibri" pitchFamily="34" charset="0"/>
                <a:ea typeface="Calibri" pitchFamily="34" charset="-122"/>
                <a:cs typeface="Calibri" pitchFamily="34" charset="-120"/>
              </a:rPr>
              <a:t>THESIS DEFENSE</a:t>
            </a:r>
            <a:endParaRPr lang="en-US" sz="1400" dirty="0"/>
          </a:p>
        </p:txBody>
      </p:sp>
      <p:sp>
        <p:nvSpPr>
          <p:cNvPr id="5" name="Text 3"/>
          <p:cNvSpPr/>
          <p:nvPr/>
        </p:nvSpPr>
        <p:spPr>
          <a:xfrm>
            <a:off x="548640" y="1874520"/>
            <a:ext cx="9692640" cy="1874520"/>
          </a:xfrm>
          <a:prstGeom prst="rect">
            <a:avLst/>
          </a:prstGeom>
          <a:noFill/>
          <a:ln/>
        </p:spPr>
        <p:txBody>
          <a:bodyPr wrap="square" lIns="0" tIns="0" rIns="0" bIns="0" rtlCol="0" anchor="ctr"/>
          <a:lstStyle/>
          <a:p>
            <a:pPr indent="0" marL="0">
              <a:lnSpc>
                <a:spcPct val="104000"/>
              </a:lnSpc>
              <a:buNone/>
            </a:pPr>
            <a:r>
              <a:rPr lang="en-US" sz="4200" b="1" dirty="0">
                <a:solidFill>
                  <a:srgbClr val="FFFFFF"/>
                </a:solidFill>
                <a:latin typeface="Cambria" pitchFamily="34" charset="0"/>
                <a:ea typeface="Cambria" pitchFamily="34" charset="-122"/>
                <a:cs typeface="Cambria" pitchFamily="34" charset="-120"/>
              </a:rPr>
              <a:t>Exact Symplectic Reduction</a:t>
            </a:r>
            <a:endParaRPr lang="en-US" sz="4200" dirty="0"/>
          </a:p>
          <a:p>
            <a:pPr indent="0" marL="0">
              <a:lnSpc>
                <a:spcPct val="104000"/>
              </a:lnSpc>
              <a:buNone/>
            </a:pPr>
            <a:r>
              <a:rPr lang="en-US" sz="4200" b="1" dirty="0">
                <a:solidFill>
                  <a:srgbClr val="FFFFFF"/>
                </a:solidFill>
                <a:latin typeface="Cambria" pitchFamily="34" charset="0"/>
                <a:ea typeface="Cambria" pitchFamily="34" charset="-122"/>
                <a:cs typeface="Cambria" pitchFamily="34" charset="-120"/>
              </a:rPr>
              <a:t>for Quantum Circuits</a:t>
            </a:r>
            <a:endParaRPr lang="en-US" sz="4200" dirty="0"/>
          </a:p>
        </p:txBody>
      </p:sp>
      <p:sp>
        <p:nvSpPr>
          <p:cNvPr id="6" name="Text 4"/>
          <p:cNvSpPr/>
          <p:nvPr/>
        </p:nvSpPr>
        <p:spPr>
          <a:xfrm>
            <a:off x="548640" y="3703320"/>
            <a:ext cx="9875520" cy="640080"/>
          </a:xfrm>
          <a:prstGeom prst="rect">
            <a:avLst/>
          </a:prstGeom>
          <a:noFill/>
          <a:ln/>
        </p:spPr>
        <p:txBody>
          <a:bodyPr wrap="square" lIns="0" tIns="0" rIns="0" bIns="0" rtlCol="0" anchor="ctr"/>
          <a:lstStyle/>
          <a:p>
            <a:pPr indent="0" marL="0">
              <a:buNone/>
            </a:pPr>
            <a:r>
              <a:rPr lang="en-US" sz="1900" i="1" dirty="0">
                <a:solidFill>
                  <a:srgbClr val="C7D6EA"/>
                </a:solidFill>
                <a:latin typeface="Cambria" pitchFamily="34" charset="0"/>
                <a:ea typeface="Cambria" pitchFamily="34" charset="-122"/>
                <a:cs typeface="Cambria" pitchFamily="34" charset="-120"/>
              </a:rPr>
              <a:t>A Cost-Aware Engine and a Diagnostic Study of Database Coverage Limits</a:t>
            </a:r>
            <a:endParaRPr lang="en-US" sz="1900" dirty="0"/>
          </a:p>
        </p:txBody>
      </p:sp>
      <p:sp>
        <p:nvSpPr>
          <p:cNvPr id="7" name="Shape 5"/>
          <p:cNvSpPr/>
          <p:nvPr/>
        </p:nvSpPr>
        <p:spPr>
          <a:xfrm>
            <a:off x="548640" y="4526280"/>
            <a:ext cx="2926080" cy="0"/>
          </a:xfrm>
          <a:prstGeom prst="line">
            <a:avLst/>
          </a:prstGeom>
          <a:noFill/>
          <a:ln w="19050">
            <a:solidFill>
              <a:srgbClr val="E8B94B"/>
            </a:solidFill>
            <a:prstDash val="solid"/>
          </a:ln>
        </p:spPr>
      </p:sp>
      <p:sp>
        <p:nvSpPr>
          <p:cNvPr id="8" name="Text 6"/>
          <p:cNvSpPr/>
          <p:nvPr/>
        </p:nvSpPr>
        <p:spPr>
          <a:xfrm>
            <a:off x="548640" y="4709160"/>
            <a:ext cx="7315200" cy="822960"/>
          </a:xfrm>
          <a:prstGeom prst="rect">
            <a:avLst/>
          </a:prstGeom>
          <a:noFill/>
          <a:ln/>
        </p:spPr>
        <p:txBody>
          <a:bodyPr wrap="square" lIns="0" tIns="0" rIns="0" bIns="0" rtlCol="0" anchor="ctr"/>
          <a:lstStyle/>
          <a:p>
            <a:pPr indent="0" marL="0">
              <a:lnSpc>
                <a:spcPct val="130000"/>
              </a:lnSpc>
              <a:buNone/>
            </a:pPr>
            <a:r>
              <a:rPr lang="en-US" sz="1500" b="1" dirty="0">
                <a:solidFill>
                  <a:srgbClr val="FFFFFF"/>
                </a:solidFill>
                <a:latin typeface="Calibri" pitchFamily="34" charset="0"/>
                <a:ea typeface="Calibri" pitchFamily="34" charset="-122"/>
                <a:cs typeface="Calibri" pitchFamily="34" charset="-120"/>
              </a:rPr>
              <a:t>Arnav Kapoor
</a:t>
            </a:r>
            <a:pPr indent="0" marL="0">
              <a:lnSpc>
                <a:spcPct val="130000"/>
              </a:lnSpc>
              <a:buNone/>
            </a:pPr>
            <a:r>
              <a:rPr lang="en-US" sz="1250" dirty="0">
                <a:solidFill>
                  <a:srgbClr val="AFC2DB"/>
                </a:solidFill>
                <a:latin typeface="Calibri" pitchFamily="34" charset="0"/>
                <a:ea typeface="Calibri" pitchFamily="34" charset="-122"/>
                <a:cs typeface="Calibri" pitchFamily="34" charset="-120"/>
              </a:rPr>
              <a:t>Indian Institute of Science Education and Research Bhopal</a:t>
            </a:r>
            <a:endParaRPr lang="en-US" sz="1500" dirty="0"/>
          </a:p>
        </p:txBody>
      </p:sp>
      <p:sp>
        <p:nvSpPr>
          <p:cNvPr id="9" name="Text 7"/>
          <p:cNvSpPr/>
          <p:nvPr/>
        </p:nvSpPr>
        <p:spPr>
          <a:xfrm>
            <a:off x="548640" y="6080760"/>
            <a:ext cx="9601200" cy="365760"/>
          </a:xfrm>
          <a:prstGeom prst="rect">
            <a:avLst/>
          </a:prstGeom>
          <a:noFill/>
          <a:ln/>
        </p:spPr>
        <p:txBody>
          <a:bodyPr wrap="square" lIns="0" tIns="0" rIns="0" bIns="0" rtlCol="0" anchor="ctr"/>
          <a:lstStyle/>
          <a:p>
            <a:pPr indent="0" marL="0">
              <a:buNone/>
            </a:pPr>
            <a:r>
              <a:rPr lang="en-US" sz="1150" i="1" dirty="0">
                <a:solidFill>
                  <a:srgbClr val="8FA2BC"/>
                </a:solidFill>
                <a:latin typeface="Calibri" pitchFamily="34" charset="0"/>
                <a:ea typeface="Calibri" pitchFamily="34" charset="-122"/>
                <a:cs typeface="Calibri" pitchFamily="34" charset="-120"/>
              </a:rPr>
              <a:t>Building on Rosenhahn, Osborne &amp; Hirche — New Journal of Physics 27, 104509 (2025)</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OVERVIEW</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Roadmap of the Defense</a:t>
            </a:r>
            <a:endParaRPr lang="en-US" sz="2900" dirty="0"/>
          </a:p>
        </p:txBody>
      </p:sp>
      <p:sp>
        <p:nvSpPr>
          <p:cNvPr id="4" name="Shape 2"/>
          <p:cNvSpPr/>
          <p:nvPr/>
        </p:nvSpPr>
        <p:spPr>
          <a:xfrm>
            <a:off x="548640" y="1572768"/>
            <a:ext cx="5382616" cy="1298448"/>
          </a:xfrm>
          <a:prstGeom prst="roundRect">
            <a:avLst>
              <a:gd name="adj" fmla="val 5634"/>
            </a:avLst>
          </a:prstGeom>
          <a:solidFill>
            <a:srgbClr val="F4F7FB"/>
          </a:solidFill>
          <a:ln w="12700">
            <a:solidFill>
              <a:srgbClr val="D7E0EA"/>
            </a:solidFill>
            <a:prstDash val="solid"/>
          </a:ln>
        </p:spPr>
      </p:sp>
      <p:sp>
        <p:nvSpPr>
          <p:cNvPr id="5" name="Shape 3"/>
          <p:cNvSpPr/>
          <p:nvPr/>
        </p:nvSpPr>
        <p:spPr>
          <a:xfrm>
            <a:off x="749808" y="1755648"/>
            <a:ext cx="384048" cy="384048"/>
          </a:xfrm>
          <a:prstGeom prst="ellipse">
            <a:avLst/>
          </a:prstGeom>
          <a:solidFill>
            <a:srgbClr val="9C6510"/>
          </a:solidFill>
          <a:ln/>
        </p:spPr>
      </p:sp>
      <p:sp>
        <p:nvSpPr>
          <p:cNvPr id="6" name="Text 4"/>
          <p:cNvSpPr/>
          <p:nvPr/>
        </p:nvSpPr>
        <p:spPr>
          <a:xfrm>
            <a:off x="749808" y="1755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a:t>
            </a:r>
            <a:endParaRPr lang="en-US" sz="1200" dirty="0"/>
          </a:p>
        </p:txBody>
      </p:sp>
      <p:sp>
        <p:nvSpPr>
          <p:cNvPr id="7" name="Text 5"/>
          <p:cNvSpPr/>
          <p:nvPr/>
        </p:nvSpPr>
        <p:spPr>
          <a:xfrm>
            <a:off x="1280160" y="1700784"/>
            <a:ext cx="4468216" cy="36576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Foundations</a:t>
            </a:r>
            <a:endParaRPr lang="en-US" sz="1600" dirty="0"/>
          </a:p>
        </p:txBody>
      </p:sp>
      <p:sp>
        <p:nvSpPr>
          <p:cNvPr id="8" name="Text 6"/>
          <p:cNvSpPr/>
          <p:nvPr/>
        </p:nvSpPr>
        <p:spPr>
          <a:xfrm>
            <a:off x="822960" y="2139696"/>
            <a:ext cx="4833976" cy="658368"/>
          </a:xfrm>
          <a:prstGeom prst="rect">
            <a:avLst/>
          </a:prstGeom>
          <a:noFill/>
          <a:ln/>
        </p:spPr>
        <p:txBody>
          <a:bodyPr wrap="square" lIns="0" tIns="0" rIns="0" bIns="0" rtlCol="0" anchor="ctr"/>
          <a:lstStyle/>
          <a:p>
            <a:pPr indent="0" marL="0">
              <a:lnSpc>
                <a:spcPct val="115000"/>
              </a:lnSpc>
              <a:buNone/>
            </a:pPr>
            <a:r>
              <a:rPr lang="en-US" sz="1100" dirty="0">
                <a:solidFill>
                  <a:srgbClr val="5B6B82"/>
                </a:solidFill>
                <a:latin typeface="Calibri" pitchFamily="34" charset="0"/>
                <a:ea typeface="Calibri" pitchFamily="34" charset="-122"/>
                <a:cs typeface="Calibri" pitchFamily="34" charset="-120"/>
              </a:rPr>
              <a:t>The source paper: gate sets, test protocol, and the local term-replacement method it introduces.</a:t>
            </a:r>
            <a:endParaRPr lang="en-US" sz="1100" dirty="0"/>
          </a:p>
        </p:txBody>
      </p:sp>
      <p:sp>
        <p:nvSpPr>
          <p:cNvPr id="9" name="Shape 7"/>
          <p:cNvSpPr/>
          <p:nvPr/>
        </p:nvSpPr>
        <p:spPr>
          <a:xfrm>
            <a:off x="6260440" y="1572768"/>
            <a:ext cx="5382616" cy="1298448"/>
          </a:xfrm>
          <a:prstGeom prst="roundRect">
            <a:avLst>
              <a:gd name="adj" fmla="val 5634"/>
            </a:avLst>
          </a:prstGeom>
          <a:solidFill>
            <a:srgbClr val="F4F7FB"/>
          </a:solidFill>
          <a:ln w="12700">
            <a:solidFill>
              <a:srgbClr val="D7E0EA"/>
            </a:solidFill>
            <a:prstDash val="solid"/>
          </a:ln>
        </p:spPr>
      </p:sp>
      <p:sp>
        <p:nvSpPr>
          <p:cNvPr id="10" name="Shape 8"/>
          <p:cNvSpPr/>
          <p:nvPr/>
        </p:nvSpPr>
        <p:spPr>
          <a:xfrm>
            <a:off x="6461608" y="1755648"/>
            <a:ext cx="384048" cy="384048"/>
          </a:xfrm>
          <a:prstGeom prst="ellipse">
            <a:avLst/>
          </a:prstGeom>
          <a:solidFill>
            <a:srgbClr val="9C6510"/>
          </a:solidFill>
          <a:ln/>
        </p:spPr>
      </p:sp>
      <p:sp>
        <p:nvSpPr>
          <p:cNvPr id="11" name="Text 9"/>
          <p:cNvSpPr/>
          <p:nvPr/>
        </p:nvSpPr>
        <p:spPr>
          <a:xfrm>
            <a:off x="6461608" y="175564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II</a:t>
            </a:r>
            <a:endParaRPr lang="en-US" sz="1200" dirty="0"/>
          </a:p>
        </p:txBody>
      </p:sp>
      <p:sp>
        <p:nvSpPr>
          <p:cNvPr id="12" name="Text 10"/>
          <p:cNvSpPr/>
          <p:nvPr/>
        </p:nvSpPr>
        <p:spPr>
          <a:xfrm>
            <a:off x="6991960" y="1700784"/>
            <a:ext cx="4468216" cy="36576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Contributions</a:t>
            </a:r>
            <a:endParaRPr lang="en-US" sz="1600" dirty="0"/>
          </a:p>
        </p:txBody>
      </p:sp>
      <p:sp>
        <p:nvSpPr>
          <p:cNvPr id="13" name="Text 11"/>
          <p:cNvSpPr/>
          <p:nvPr/>
        </p:nvSpPr>
        <p:spPr>
          <a:xfrm>
            <a:off x="6534760" y="2139696"/>
            <a:ext cx="4833976" cy="658368"/>
          </a:xfrm>
          <a:prstGeom prst="rect">
            <a:avLst/>
          </a:prstGeom>
          <a:noFill/>
          <a:ln/>
        </p:spPr>
        <p:txBody>
          <a:bodyPr wrap="square" lIns="0" tIns="0" rIns="0" bIns="0" rtlCol="0" anchor="ctr"/>
          <a:lstStyle/>
          <a:p>
            <a:pPr indent="0" marL="0">
              <a:lnSpc>
                <a:spcPct val="115000"/>
              </a:lnSpc>
              <a:buNone/>
            </a:pPr>
            <a:r>
              <a:rPr lang="en-US" sz="1100" dirty="0">
                <a:solidFill>
                  <a:srgbClr val="5B6B82"/>
                </a:solidFill>
                <a:latin typeface="Calibri" pitchFamily="34" charset="0"/>
                <a:ea typeface="Calibri" pitchFamily="34" charset="-122"/>
                <a:cs typeface="Calibri" pitchFamily="34" charset="-120"/>
              </a:rPr>
              <a:t>Five additions this thesis makes to that method — motivation and mechanism for each.</a:t>
            </a:r>
            <a:endParaRPr lang="en-US" sz="1100" dirty="0"/>
          </a:p>
        </p:txBody>
      </p:sp>
      <p:sp>
        <p:nvSpPr>
          <p:cNvPr id="14" name="Shape 12"/>
          <p:cNvSpPr/>
          <p:nvPr/>
        </p:nvSpPr>
        <p:spPr>
          <a:xfrm>
            <a:off x="548640" y="3054096"/>
            <a:ext cx="5382616" cy="1298448"/>
          </a:xfrm>
          <a:prstGeom prst="roundRect">
            <a:avLst>
              <a:gd name="adj" fmla="val 5634"/>
            </a:avLst>
          </a:prstGeom>
          <a:solidFill>
            <a:srgbClr val="F4F7FB"/>
          </a:solidFill>
          <a:ln w="12700">
            <a:solidFill>
              <a:srgbClr val="D7E0EA"/>
            </a:solidFill>
            <a:prstDash val="solid"/>
          </a:ln>
        </p:spPr>
      </p:sp>
      <p:sp>
        <p:nvSpPr>
          <p:cNvPr id="15" name="Shape 13"/>
          <p:cNvSpPr/>
          <p:nvPr/>
        </p:nvSpPr>
        <p:spPr>
          <a:xfrm>
            <a:off x="749808" y="3236976"/>
            <a:ext cx="384048" cy="384048"/>
          </a:xfrm>
          <a:prstGeom prst="ellipse">
            <a:avLst/>
          </a:prstGeom>
          <a:solidFill>
            <a:srgbClr val="9C6510"/>
          </a:solidFill>
          <a:ln/>
        </p:spPr>
      </p:sp>
      <p:sp>
        <p:nvSpPr>
          <p:cNvPr id="16" name="Text 14"/>
          <p:cNvSpPr/>
          <p:nvPr/>
        </p:nvSpPr>
        <p:spPr>
          <a:xfrm>
            <a:off x="749808" y="3236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III</a:t>
            </a:r>
            <a:endParaRPr lang="en-US" sz="1200" dirty="0"/>
          </a:p>
        </p:txBody>
      </p:sp>
      <p:sp>
        <p:nvSpPr>
          <p:cNvPr id="17" name="Text 15"/>
          <p:cNvSpPr/>
          <p:nvPr/>
        </p:nvSpPr>
        <p:spPr>
          <a:xfrm>
            <a:off x="1280160" y="3182112"/>
            <a:ext cx="4468216" cy="36576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Mechanism &amp; Examples</a:t>
            </a:r>
            <a:endParaRPr lang="en-US" sz="1600" dirty="0"/>
          </a:p>
        </p:txBody>
      </p:sp>
      <p:sp>
        <p:nvSpPr>
          <p:cNvPr id="18" name="Text 16"/>
          <p:cNvSpPr/>
          <p:nvPr/>
        </p:nvSpPr>
        <p:spPr>
          <a:xfrm>
            <a:off x="822960" y="3621024"/>
            <a:ext cx="4833976" cy="658368"/>
          </a:xfrm>
          <a:prstGeom prst="rect">
            <a:avLst/>
          </a:prstGeom>
          <a:noFill/>
          <a:ln/>
        </p:spPr>
        <p:txBody>
          <a:bodyPr wrap="square" lIns="0" tIns="0" rIns="0" bIns="0" rtlCol="0" anchor="ctr"/>
          <a:lstStyle/>
          <a:p>
            <a:pPr indent="0" marL="0">
              <a:lnSpc>
                <a:spcPct val="115000"/>
              </a:lnSpc>
              <a:buNone/>
            </a:pPr>
            <a:r>
              <a:rPr lang="en-US" sz="1100" dirty="0">
                <a:solidFill>
                  <a:srgbClr val="5B6B82"/>
                </a:solidFill>
                <a:latin typeface="Calibri" pitchFamily="34" charset="0"/>
                <a:ea typeface="Calibri" pitchFamily="34" charset="-122"/>
                <a:cs typeface="Calibri" pitchFamily="34" charset="-120"/>
              </a:rPr>
              <a:t>The full pipeline end to end, worked circuit examples, and compute-graph growth.</a:t>
            </a:r>
            <a:endParaRPr lang="en-US" sz="1100" dirty="0"/>
          </a:p>
        </p:txBody>
      </p:sp>
      <p:sp>
        <p:nvSpPr>
          <p:cNvPr id="19" name="Shape 17"/>
          <p:cNvSpPr/>
          <p:nvPr/>
        </p:nvSpPr>
        <p:spPr>
          <a:xfrm>
            <a:off x="6260440" y="3054096"/>
            <a:ext cx="5382616" cy="1298448"/>
          </a:xfrm>
          <a:prstGeom prst="roundRect">
            <a:avLst>
              <a:gd name="adj" fmla="val 5634"/>
            </a:avLst>
          </a:prstGeom>
          <a:solidFill>
            <a:srgbClr val="F4F7FB"/>
          </a:solidFill>
          <a:ln w="12700">
            <a:solidFill>
              <a:srgbClr val="D7E0EA"/>
            </a:solidFill>
            <a:prstDash val="solid"/>
          </a:ln>
        </p:spPr>
      </p:sp>
      <p:sp>
        <p:nvSpPr>
          <p:cNvPr id="20" name="Shape 18"/>
          <p:cNvSpPr/>
          <p:nvPr/>
        </p:nvSpPr>
        <p:spPr>
          <a:xfrm>
            <a:off x="6461608" y="3236976"/>
            <a:ext cx="384048" cy="384048"/>
          </a:xfrm>
          <a:prstGeom prst="ellipse">
            <a:avLst/>
          </a:prstGeom>
          <a:solidFill>
            <a:srgbClr val="9C6510"/>
          </a:solidFill>
          <a:ln/>
        </p:spPr>
      </p:sp>
      <p:sp>
        <p:nvSpPr>
          <p:cNvPr id="21" name="Text 19"/>
          <p:cNvSpPr/>
          <p:nvPr/>
        </p:nvSpPr>
        <p:spPr>
          <a:xfrm>
            <a:off x="6461608" y="3236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IV</a:t>
            </a:r>
            <a:endParaRPr lang="en-US" sz="1200" dirty="0"/>
          </a:p>
        </p:txBody>
      </p:sp>
      <p:sp>
        <p:nvSpPr>
          <p:cNvPr id="22" name="Text 20"/>
          <p:cNvSpPr/>
          <p:nvPr/>
        </p:nvSpPr>
        <p:spPr>
          <a:xfrm>
            <a:off x="6991960" y="3182112"/>
            <a:ext cx="4468216" cy="36576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Results</a:t>
            </a:r>
            <a:endParaRPr lang="en-US" sz="1600" dirty="0"/>
          </a:p>
        </p:txBody>
      </p:sp>
      <p:sp>
        <p:nvSpPr>
          <p:cNvPr id="23" name="Text 21"/>
          <p:cNvSpPr/>
          <p:nvPr/>
        </p:nvSpPr>
        <p:spPr>
          <a:xfrm>
            <a:off x="6534760" y="3621024"/>
            <a:ext cx="4833976" cy="658368"/>
          </a:xfrm>
          <a:prstGeom prst="rect">
            <a:avLst/>
          </a:prstGeom>
          <a:noFill/>
          <a:ln/>
        </p:spPr>
        <p:txBody>
          <a:bodyPr wrap="square" lIns="0" tIns="0" rIns="0" bIns="0" rtlCol="0" anchor="ctr"/>
          <a:lstStyle/>
          <a:p>
            <a:pPr indent="0" marL="0">
              <a:lnSpc>
                <a:spcPct val="115000"/>
              </a:lnSpc>
              <a:buNone/>
            </a:pPr>
            <a:r>
              <a:rPr lang="en-US" sz="1100" dirty="0">
                <a:solidFill>
                  <a:srgbClr val="5B6B82"/>
                </a:solidFill>
                <a:latin typeface="Calibri" pitchFamily="34" charset="0"/>
                <a:ea typeface="Calibri" pitchFamily="34" charset="-122"/>
                <a:cs typeface="Calibri" pitchFamily="34" charset="-120"/>
              </a:rPr>
              <a:t>Head-to-head evaluation on the paper's own 100-circuit protocol, ion-trap and NISQ.</a:t>
            </a:r>
            <a:endParaRPr lang="en-US" sz="1100" dirty="0"/>
          </a:p>
        </p:txBody>
      </p:sp>
      <p:sp>
        <p:nvSpPr>
          <p:cNvPr id="24" name="Shape 22"/>
          <p:cNvSpPr/>
          <p:nvPr/>
        </p:nvSpPr>
        <p:spPr>
          <a:xfrm>
            <a:off x="548640" y="4535424"/>
            <a:ext cx="5382616" cy="1298448"/>
          </a:xfrm>
          <a:prstGeom prst="roundRect">
            <a:avLst>
              <a:gd name="adj" fmla="val 5634"/>
            </a:avLst>
          </a:prstGeom>
          <a:solidFill>
            <a:srgbClr val="F4F7FB"/>
          </a:solidFill>
          <a:ln w="12700">
            <a:solidFill>
              <a:srgbClr val="D7E0EA"/>
            </a:solidFill>
            <a:prstDash val="solid"/>
          </a:ln>
        </p:spPr>
      </p:sp>
      <p:sp>
        <p:nvSpPr>
          <p:cNvPr id="25" name="Shape 23"/>
          <p:cNvSpPr/>
          <p:nvPr/>
        </p:nvSpPr>
        <p:spPr>
          <a:xfrm>
            <a:off x="749808" y="4718304"/>
            <a:ext cx="384048" cy="384048"/>
          </a:xfrm>
          <a:prstGeom prst="ellipse">
            <a:avLst/>
          </a:prstGeom>
          <a:solidFill>
            <a:srgbClr val="9C6510"/>
          </a:solidFill>
          <a:ln/>
        </p:spPr>
      </p:sp>
      <p:sp>
        <p:nvSpPr>
          <p:cNvPr id="26" name="Text 24"/>
          <p:cNvSpPr/>
          <p:nvPr/>
        </p:nvSpPr>
        <p:spPr>
          <a:xfrm>
            <a:off x="749808" y="47183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a:t>
            </a:r>
            <a:endParaRPr lang="en-US" sz="1200" dirty="0"/>
          </a:p>
        </p:txBody>
      </p:sp>
      <p:sp>
        <p:nvSpPr>
          <p:cNvPr id="27" name="Text 25"/>
          <p:cNvSpPr/>
          <p:nvPr/>
        </p:nvSpPr>
        <p:spPr>
          <a:xfrm>
            <a:off x="1280160" y="4663440"/>
            <a:ext cx="4468216" cy="36576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Diagnostics</a:t>
            </a:r>
            <a:endParaRPr lang="en-US" sz="1600" dirty="0"/>
          </a:p>
        </p:txBody>
      </p:sp>
      <p:sp>
        <p:nvSpPr>
          <p:cNvPr id="28" name="Text 26"/>
          <p:cNvSpPr/>
          <p:nvPr/>
        </p:nvSpPr>
        <p:spPr>
          <a:xfrm>
            <a:off x="822960" y="5102352"/>
            <a:ext cx="4833976" cy="658368"/>
          </a:xfrm>
          <a:prstGeom prst="rect">
            <a:avLst/>
          </a:prstGeom>
          <a:noFill/>
          <a:ln/>
        </p:spPr>
        <p:txBody>
          <a:bodyPr wrap="square" lIns="0" tIns="0" rIns="0" bIns="0" rtlCol="0" anchor="ctr"/>
          <a:lstStyle/>
          <a:p>
            <a:pPr indent="0" marL="0">
              <a:lnSpc>
                <a:spcPct val="115000"/>
              </a:lnSpc>
              <a:buNone/>
            </a:pPr>
            <a:r>
              <a:rPr lang="en-US" sz="1100" dirty="0">
                <a:solidFill>
                  <a:srgbClr val="5B6B82"/>
                </a:solidFill>
                <a:latin typeface="Calibri" pitchFamily="34" charset="0"/>
                <a:ea typeface="Calibri" pitchFamily="34" charset="-122"/>
                <a:cs typeface="Calibri" pitchFamily="34" charset="-120"/>
              </a:rPr>
              <a:t>A NISQ shortfall against the published baseline, eight ruled-out causes, and one real win.</a:t>
            </a:r>
            <a:endParaRPr lang="en-US" sz="1100" dirty="0"/>
          </a:p>
        </p:txBody>
      </p:sp>
      <p:sp>
        <p:nvSpPr>
          <p:cNvPr id="29" name="Shape 27"/>
          <p:cNvSpPr/>
          <p:nvPr/>
        </p:nvSpPr>
        <p:spPr>
          <a:xfrm>
            <a:off x="6260440" y="4535424"/>
            <a:ext cx="5382616" cy="1298448"/>
          </a:xfrm>
          <a:prstGeom prst="roundRect">
            <a:avLst>
              <a:gd name="adj" fmla="val 5634"/>
            </a:avLst>
          </a:prstGeom>
          <a:solidFill>
            <a:srgbClr val="F4F7FB"/>
          </a:solidFill>
          <a:ln w="12700">
            <a:solidFill>
              <a:srgbClr val="D7E0EA"/>
            </a:solidFill>
            <a:prstDash val="solid"/>
          </a:ln>
        </p:spPr>
      </p:sp>
      <p:sp>
        <p:nvSpPr>
          <p:cNvPr id="30" name="Shape 28"/>
          <p:cNvSpPr/>
          <p:nvPr/>
        </p:nvSpPr>
        <p:spPr>
          <a:xfrm>
            <a:off x="6461608" y="4718304"/>
            <a:ext cx="384048" cy="384048"/>
          </a:xfrm>
          <a:prstGeom prst="ellipse">
            <a:avLst/>
          </a:prstGeom>
          <a:solidFill>
            <a:srgbClr val="9C6510"/>
          </a:solidFill>
          <a:ln/>
        </p:spPr>
      </p:sp>
      <p:sp>
        <p:nvSpPr>
          <p:cNvPr id="31" name="Text 29"/>
          <p:cNvSpPr/>
          <p:nvPr/>
        </p:nvSpPr>
        <p:spPr>
          <a:xfrm>
            <a:off x="6461608" y="471830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VI</a:t>
            </a:r>
            <a:endParaRPr lang="en-US" sz="1200" dirty="0"/>
          </a:p>
        </p:txBody>
      </p:sp>
      <p:sp>
        <p:nvSpPr>
          <p:cNvPr id="32" name="Text 30"/>
          <p:cNvSpPr/>
          <p:nvPr/>
        </p:nvSpPr>
        <p:spPr>
          <a:xfrm>
            <a:off x="6991960" y="4663440"/>
            <a:ext cx="4468216" cy="365760"/>
          </a:xfrm>
          <a:prstGeom prst="rect">
            <a:avLst/>
          </a:prstGeom>
          <a:noFill/>
          <a:ln/>
        </p:spPr>
        <p:txBody>
          <a:bodyPr wrap="square" lIns="0" tIns="0" rIns="0" bIns="0" rtlCol="0" anchor="ctr"/>
          <a:lstStyle/>
          <a:p>
            <a:pPr indent="0" marL="0">
              <a:buNone/>
            </a:pPr>
            <a:r>
              <a:rPr lang="en-US" sz="1600" b="1" dirty="0">
                <a:solidFill>
                  <a:srgbClr val="16233F"/>
                </a:solidFill>
                <a:latin typeface="Cambria" pitchFamily="34" charset="0"/>
                <a:ea typeface="Cambria" pitchFamily="34" charset="-122"/>
                <a:cs typeface="Cambria" pitchFamily="34" charset="-120"/>
              </a:rPr>
              <a:t>Synthesis</a:t>
            </a:r>
            <a:endParaRPr lang="en-US" sz="1600" dirty="0"/>
          </a:p>
        </p:txBody>
      </p:sp>
      <p:sp>
        <p:nvSpPr>
          <p:cNvPr id="33" name="Text 31"/>
          <p:cNvSpPr/>
          <p:nvPr/>
        </p:nvSpPr>
        <p:spPr>
          <a:xfrm>
            <a:off x="6534760" y="5102352"/>
            <a:ext cx="4833976" cy="658368"/>
          </a:xfrm>
          <a:prstGeom prst="rect">
            <a:avLst/>
          </a:prstGeom>
          <a:noFill/>
          <a:ln/>
        </p:spPr>
        <p:txBody>
          <a:bodyPr wrap="square" lIns="0" tIns="0" rIns="0" bIns="0" rtlCol="0" anchor="ctr"/>
          <a:lstStyle/>
          <a:p>
            <a:pPr indent="0" marL="0">
              <a:lnSpc>
                <a:spcPct val="115000"/>
              </a:lnSpc>
              <a:buNone/>
            </a:pPr>
            <a:r>
              <a:rPr lang="en-US" sz="1100" dirty="0">
                <a:solidFill>
                  <a:srgbClr val="5B6B82"/>
                </a:solidFill>
                <a:latin typeface="Calibri" pitchFamily="34" charset="0"/>
                <a:ea typeface="Calibri" pitchFamily="34" charset="-122"/>
                <a:cs typeface="Calibri" pitchFamily="34" charset="-120"/>
              </a:rPr>
              <a:t>What this establishes, what it doesn't, and what remains open.</a:t>
            </a:r>
            <a:endParaRPr lang="en-US" sz="1100" dirty="0"/>
          </a:p>
        </p:txBody>
      </p:sp>
      <p:sp>
        <p:nvSpPr>
          <p:cNvPr id="34" name="Text 3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35" name="Text 3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194560" y="3840480"/>
            <a:ext cx="5669280" cy="5669280"/>
          </a:xfrm>
          <a:prstGeom prst="ellipse">
            <a:avLst/>
          </a:prstGeom>
          <a:solidFill>
            <a:srgbClr val="13294C"/>
          </a:solidFill>
          <a:ln/>
        </p:spPr>
      </p:sp>
      <p:sp>
        <p:nvSpPr>
          <p:cNvPr id="3" name="Shape 1"/>
          <p:cNvSpPr/>
          <p:nvPr/>
        </p:nvSpPr>
        <p:spPr>
          <a:xfrm>
            <a:off x="548640" y="640080"/>
            <a:ext cx="457200" cy="457200"/>
          </a:xfrm>
          <a:prstGeom prst="ellipse">
            <a:avLst/>
          </a:prstGeom>
          <a:solidFill>
            <a:srgbClr val="9C6510"/>
          </a:solidFill>
          <a:ln/>
        </p:spPr>
      </p:sp>
      <p:sp>
        <p:nvSpPr>
          <p:cNvPr id="4" name="Text 2"/>
          <p:cNvSpPr/>
          <p:nvPr/>
        </p:nvSpPr>
        <p:spPr>
          <a:xfrm>
            <a:off x="548640" y="6400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5" name="Text 3"/>
          <p:cNvSpPr/>
          <p:nvPr/>
        </p:nvSpPr>
        <p:spPr>
          <a:xfrm>
            <a:off x="1170432" y="640080"/>
            <a:ext cx="5486400" cy="457200"/>
          </a:xfrm>
          <a:prstGeom prst="rect">
            <a:avLst/>
          </a:prstGeom>
          <a:noFill/>
          <a:ln/>
        </p:spPr>
        <p:txBody>
          <a:bodyPr wrap="square" lIns="0" tIns="0" rIns="0" bIns="0" rtlCol="0" anchor="ctr"/>
          <a:lstStyle/>
          <a:p>
            <a:pPr indent="0" marL="0">
              <a:buNone/>
            </a:pPr>
            <a:r>
              <a:rPr lang="en-US" sz="1400" b="1" spc="300" kern="0" dirty="0">
                <a:solidFill>
                  <a:srgbClr val="E8B94B"/>
                </a:solidFill>
                <a:latin typeface="Calibri" pitchFamily="34" charset="0"/>
                <a:ea typeface="Calibri" pitchFamily="34" charset="-122"/>
                <a:cs typeface="Calibri" pitchFamily="34" charset="-120"/>
              </a:rPr>
              <a:t>SECTION I</a:t>
            </a:r>
            <a:endParaRPr lang="en-US" sz="1400" dirty="0"/>
          </a:p>
        </p:txBody>
      </p:sp>
      <p:sp>
        <p:nvSpPr>
          <p:cNvPr id="6" name="Text 4"/>
          <p:cNvSpPr/>
          <p:nvPr/>
        </p:nvSpPr>
        <p:spPr>
          <a:xfrm>
            <a:off x="548640" y="2286000"/>
            <a:ext cx="987552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Foundations</a:t>
            </a:r>
            <a:endParaRPr lang="en-US" sz="4000" dirty="0"/>
          </a:p>
        </p:txBody>
      </p:sp>
      <p:sp>
        <p:nvSpPr>
          <p:cNvPr id="7" name="Text 5"/>
          <p:cNvSpPr/>
          <p:nvPr/>
        </p:nvSpPr>
        <p:spPr>
          <a:xfrm>
            <a:off x="548640" y="3611880"/>
            <a:ext cx="8778240" cy="822960"/>
          </a:xfrm>
          <a:prstGeom prst="rect">
            <a:avLst/>
          </a:prstGeom>
          <a:noFill/>
          <a:ln/>
        </p:spPr>
        <p:txBody>
          <a:bodyPr wrap="square" lIns="0" tIns="0" rIns="0" bIns="0" rtlCol="0" anchor="ctr"/>
          <a:lstStyle/>
          <a:p>
            <a:pPr indent="0" marL="0">
              <a:lnSpc>
                <a:spcPct val="120000"/>
              </a:lnSpc>
              <a:buNone/>
            </a:pPr>
            <a:r>
              <a:rPr lang="en-US" sz="1600" i="1" dirty="0">
                <a:solidFill>
                  <a:srgbClr val="C7D6EA"/>
                </a:solidFill>
                <a:latin typeface="Cambria" pitchFamily="34" charset="0"/>
                <a:ea typeface="Cambria" pitchFamily="34" charset="-122"/>
                <a:cs typeface="Cambria" pitchFamily="34" charset="-120"/>
              </a:rPr>
              <a:t>What the source paper defines — gates, protocol, and mechanism — before this thesis changes anything.</a:t>
            </a:r>
            <a:endParaRPr lang="en-US" sz="1600" dirty="0"/>
          </a:p>
        </p:txBody>
      </p:sp>
      <p:sp>
        <p:nvSpPr>
          <p:cNvPr id="8" name="Shape 6"/>
          <p:cNvSpPr/>
          <p:nvPr/>
        </p:nvSpPr>
        <p:spPr>
          <a:xfrm>
            <a:off x="548640" y="4700016"/>
            <a:ext cx="82296" cy="82296"/>
          </a:xfrm>
          <a:prstGeom prst="ellipse">
            <a:avLst/>
          </a:prstGeom>
          <a:solidFill>
            <a:srgbClr val="E8B94B"/>
          </a:solidFill>
          <a:ln/>
        </p:spPr>
      </p:sp>
      <p:sp>
        <p:nvSpPr>
          <p:cNvPr id="9" name="Text 7"/>
          <p:cNvSpPr/>
          <p:nvPr/>
        </p:nvSpPr>
        <p:spPr>
          <a:xfrm>
            <a:off x="804672" y="456285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Gate sets: the ion-trap (Clifford) pool and the NISQ pool</a:t>
            </a:r>
            <a:endParaRPr lang="en-US" sz="1300" dirty="0"/>
          </a:p>
        </p:txBody>
      </p:sp>
      <p:sp>
        <p:nvSpPr>
          <p:cNvPr id="10" name="Shape 8"/>
          <p:cNvSpPr/>
          <p:nvPr/>
        </p:nvSpPr>
        <p:spPr>
          <a:xfrm>
            <a:off x="548640" y="5065776"/>
            <a:ext cx="82296" cy="82296"/>
          </a:xfrm>
          <a:prstGeom prst="ellipse">
            <a:avLst/>
          </a:prstGeom>
          <a:solidFill>
            <a:srgbClr val="E8B94B"/>
          </a:solidFill>
          <a:ln/>
        </p:spPr>
      </p:sp>
      <p:sp>
        <p:nvSpPr>
          <p:cNvPr id="11" name="Text 9"/>
          <p:cNvSpPr/>
          <p:nvPr/>
        </p:nvSpPr>
        <p:spPr>
          <a:xfrm>
            <a:off x="804672" y="492861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The hundred-circuit, four-qubit evaluation protocol</a:t>
            </a:r>
            <a:endParaRPr lang="en-US" sz="1300" dirty="0"/>
          </a:p>
        </p:txBody>
      </p:sp>
      <p:sp>
        <p:nvSpPr>
          <p:cNvPr id="12" name="Shape 10"/>
          <p:cNvSpPr/>
          <p:nvPr/>
        </p:nvSpPr>
        <p:spPr>
          <a:xfrm>
            <a:off x="548640" y="5431536"/>
            <a:ext cx="82296" cy="82296"/>
          </a:xfrm>
          <a:prstGeom prst="ellipse">
            <a:avLst/>
          </a:prstGeom>
          <a:solidFill>
            <a:srgbClr val="E8B94B"/>
          </a:solidFill>
          <a:ln/>
        </p:spPr>
      </p:sp>
      <p:sp>
        <p:nvSpPr>
          <p:cNvPr id="13" name="Text 11"/>
          <p:cNvSpPr/>
          <p:nvPr/>
        </p:nvSpPr>
        <p:spPr>
          <a:xfrm>
            <a:off x="804672" y="529437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Token chains, compute graphs, and the three published variants</a:t>
            </a:r>
            <a:endParaRPr lang="en-US" sz="1300" dirty="0"/>
          </a:p>
        </p:txBody>
      </p:sp>
      <p:sp>
        <p:nvSpPr>
          <p:cNvPr id="14" name="Text 1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A749A"/>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A749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Why Circuit Reduction Is Not Optional</a:t>
            </a:r>
            <a:endParaRPr lang="en-US" sz="2900" dirty="0"/>
          </a:p>
        </p:txBody>
      </p:sp>
      <p:sp>
        <p:nvSpPr>
          <p:cNvPr id="4" name="Text 2"/>
          <p:cNvSpPr/>
          <p:nvPr/>
        </p:nvSpPr>
        <p:spPr>
          <a:xfrm>
            <a:off x="548640" y="1572768"/>
            <a:ext cx="11094415" cy="914400"/>
          </a:xfrm>
          <a:prstGeom prst="rect">
            <a:avLst/>
          </a:prstGeom>
          <a:noFill/>
          <a:ln/>
        </p:spPr>
        <p:txBody>
          <a:bodyPr wrap="square" lIns="0" tIns="0" rIns="0" bIns="0" rtlCol="0" anchor="ctr"/>
          <a:lstStyle/>
          <a:p>
            <a:pPr indent="0" marL="0">
              <a:lnSpc>
                <a:spcPct val="125000"/>
              </a:lnSpc>
              <a:buNone/>
            </a:pPr>
            <a:r>
              <a:rPr lang="en-US" sz="1450" b="1" dirty="0">
                <a:solidFill>
                  <a:srgbClr val="16233F"/>
                </a:solidFill>
                <a:latin typeface="Calibri" pitchFamily="34" charset="0"/>
                <a:ea typeface="Calibri" pitchFamily="34" charset="-122"/>
                <a:cs typeface="Calibri" pitchFamily="34" charset="-120"/>
              </a:rPr>
              <a:t>Compiling to a restricted native gate set inflates circuit length. </a:t>
            </a:r>
            <a:pPr indent="0" marL="0">
              <a:lnSpc>
                <a:spcPct val="125000"/>
              </a:lnSpc>
              <a:buNone/>
            </a:pPr>
            <a:r>
              <a:rPr lang="en-US" sz="1450" dirty="0">
                <a:solidFill>
                  <a:srgbClr val="2A3648"/>
                </a:solidFill>
                <a:latin typeface="Calibri" pitchFamily="34" charset="0"/>
                <a:ea typeface="Calibri" pitchFamily="34" charset="-122"/>
                <a:cs typeface="Calibri" pitchFamily="34" charset="-120"/>
              </a:rPr>
              <a:t>A Hadamard and a CNOT — two gates — become an eight-gate sequence once mapped naively onto an ion-trap RX/RY/RZ/RXX gate set. The reduction scheme this thesis builds on finds the six-gate equivalent shown on the right.</a:t>
            </a:r>
            <a:endParaRPr lang="en-US" sz="1450" dirty="0"/>
          </a:p>
        </p:txBody>
      </p:sp>
      <p:pic>
        <p:nvPicPr>
          <p:cNvPr id="5" name="Image 0" descr="C:/Users/kapoo/Downloads/QCR-Repro/figures/paper_figure1_motivation.png">    </p:cNvPr>
          <p:cNvPicPr>
            <a:picLocks noChangeAspect="1"/>
          </p:cNvPicPr>
          <p:nvPr/>
        </p:nvPicPr>
        <p:blipFill>
          <a:blip r:embed="rId1"/>
          <a:stretch>
            <a:fillRect/>
          </a:stretch>
        </p:blipFill>
        <p:spPr>
          <a:xfrm>
            <a:off x="1725152" y="2606040"/>
            <a:ext cx="8741391" cy="3200400"/>
          </a:xfrm>
          <a:prstGeom prst="rect">
            <a:avLst/>
          </a:prstGeom>
        </p:spPr>
      </p:pic>
      <p:sp>
        <p:nvSpPr>
          <p:cNvPr id="6" name="Shape 3"/>
          <p:cNvSpPr/>
          <p:nvPr/>
        </p:nvSpPr>
        <p:spPr>
          <a:xfrm>
            <a:off x="1587992" y="2468880"/>
            <a:ext cx="9015711" cy="3474720"/>
          </a:xfrm>
          <a:prstGeom prst="roundRect">
            <a:avLst>
              <a:gd name="adj" fmla="val 2105"/>
            </a:avLst>
          </a:prstGeom>
          <a:solidFill>
            <a:srgbClr val="FFFFFF"/>
          </a:solidFill>
          <a:ln w="12700">
            <a:solidFill>
              <a:srgbClr val="D7E0EA"/>
            </a:solidFill>
            <a:prstDash val="solid"/>
          </a:ln>
        </p:spPr>
      </p:sp>
      <p:pic>
        <p:nvPicPr>
          <p:cNvPr id="7" name="Image 1" descr="C:/Users/kapoo/Downloads/QCR-Repro/figures/paper_figure1_motivation.png">    </p:cNvPr>
          <p:cNvPicPr>
            <a:picLocks noChangeAspect="1"/>
          </p:cNvPicPr>
          <p:nvPr/>
        </p:nvPicPr>
        <p:blipFill>
          <a:blip r:embed="rId2"/>
          <a:stretch>
            <a:fillRect/>
          </a:stretch>
        </p:blipFill>
        <p:spPr>
          <a:xfrm>
            <a:off x="1725152" y="2606040"/>
            <a:ext cx="8741391" cy="3200400"/>
          </a:xfrm>
          <a:prstGeom prst="rect">
            <a:avLst/>
          </a:prstGeom>
        </p:spPr>
      </p:pic>
      <p:sp>
        <p:nvSpPr>
          <p:cNvPr id="8" name="Text 4"/>
          <p:cNvSpPr/>
          <p:nvPr/>
        </p:nvSpPr>
        <p:spPr>
          <a:xfrm>
            <a:off x="548640" y="5989320"/>
            <a:ext cx="11094415" cy="457200"/>
          </a:xfrm>
          <a:prstGeom prst="rect">
            <a:avLst/>
          </a:prstGeom>
          <a:noFill/>
          <a:ln/>
        </p:spPr>
        <p:txBody>
          <a:bodyPr wrap="square" lIns="0" tIns="0" rIns="0" bIns="0" rtlCol="0" anchor="t"/>
          <a:lstStyle/>
          <a:p>
            <a:pPr algn="ctr" indent="0" marL="0">
              <a:buNone/>
            </a:pPr>
            <a:r>
              <a:rPr lang="en-US" sz="1050" i="1" dirty="0">
                <a:solidFill>
                  <a:srgbClr val="5B6B82"/>
                </a:solidFill>
                <a:latin typeface="Calibri" pitchFamily="34" charset="0"/>
                <a:ea typeface="Calibri" pitchFamily="34" charset="-122"/>
                <a:cs typeface="Calibri" pitchFamily="34" charset="-120"/>
              </a:rPr>
              <a:t>Figure reproduced from Rosenhahn, Osborne &amp; Hirche (2025), Fig. 1 — naive vs. resource-efficient mapping of a Bell-state preparation.</a:t>
            </a:r>
            <a:endParaRPr lang="en-US" sz="1050" dirty="0"/>
          </a:p>
        </p:txBody>
      </p:sp>
      <p:sp>
        <p:nvSpPr>
          <p:cNvPr id="9" name="Text 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Every Extra Gate Is Exposure to Noise</a:t>
            </a:r>
            <a:endParaRPr lang="en-US" sz="2900" dirty="0"/>
          </a:p>
        </p:txBody>
      </p:sp>
      <p:sp>
        <p:nvSpPr>
          <p:cNvPr id="4" name="Text 2"/>
          <p:cNvSpPr/>
          <p:nvPr/>
        </p:nvSpPr>
        <p:spPr>
          <a:xfrm>
            <a:off x="548640" y="1572768"/>
            <a:ext cx="5943600" cy="4389120"/>
          </a:xfrm>
          <a:prstGeom prst="rect">
            <a:avLst/>
          </a:prstGeom>
          <a:noFill/>
          <a:ln/>
        </p:spPr>
        <p:txBody>
          <a:bodyPr wrap="square" rtlCol="0" anchor="t"/>
          <a:lstStyle/>
          <a:p>
            <a:pPr marL="177800" indent="-177800">
              <a:lnSpc>
                <a:spcPct val="112000"/>
              </a:lnSpc>
              <a:spcAft>
                <a:spcPts val="1400"/>
              </a:spcAft>
              <a:buSzPct val="100000"/>
              <a:buChar char="▪"/>
            </a:pPr>
            <a:r>
              <a:rPr lang="en-US" sz="1450" dirty="0">
                <a:solidFill>
                  <a:srgbClr val="2A3648"/>
                </a:solidFill>
                <a:latin typeface="Calibri" pitchFamily="34" charset="0"/>
                <a:ea typeface="Calibri" pitchFamily="34" charset="-122"/>
                <a:cs typeface="Calibri" pitchFamily="34" charset="-120"/>
              </a:rPr>
              <a:t>Two-qubit gates dominate both error rate and duration on essentially every current platform.</a:t>
            </a:r>
            <a:endParaRPr lang="en-US" sz="1450" dirty="0"/>
          </a:p>
          <a:p>
            <a:pPr marL="177800" indent="-177800">
              <a:lnSpc>
                <a:spcPct val="112000"/>
              </a:lnSpc>
              <a:spcAft>
                <a:spcPts val="1400"/>
              </a:spcAft>
              <a:buSzPct val="100000"/>
              <a:buChar char="▪"/>
            </a:pPr>
            <a:r>
              <a:rPr lang="en-US" sz="1450" dirty="0">
                <a:solidFill>
                  <a:srgbClr val="2A3648"/>
                </a:solidFill>
                <a:latin typeface="Calibri" pitchFamily="34" charset="0"/>
                <a:ea typeface="Calibri" pitchFamily="34" charset="-122"/>
                <a:cs typeface="Calibri" pitchFamily="34" charset="-120"/>
              </a:rPr>
              <a:t>Decoherence accumulates with circuit depth — a mathematically equivalent circuit that is shorter is measurably more faithful on real hardware.</a:t>
            </a:r>
            <a:endParaRPr lang="en-US" sz="1450" dirty="0"/>
          </a:p>
          <a:p>
            <a:pPr marL="177800" indent="-177800">
              <a:lnSpc>
                <a:spcPct val="112000"/>
              </a:lnSpc>
              <a:spcAft>
                <a:spcPts val="1400"/>
              </a:spcAft>
              <a:buSzPct val="100000"/>
              <a:buChar char="▪"/>
            </a:pPr>
            <a:r>
              <a:rPr lang="en-US" sz="1450" dirty="0">
                <a:solidFill>
                  <a:srgbClr val="2A3648"/>
                </a:solidFill>
                <a:latin typeface="Calibri" pitchFamily="34" charset="0"/>
                <a:ea typeface="Calibri" pitchFamily="34" charset="-122"/>
                <a:cs typeface="Calibri" pitchFamily="34" charset="-120"/>
              </a:rPr>
              <a:t>The source paper demonstrates this directly on IBM Eagle r3: a 40-gate and an 8-gate circuit, provably equivalent, diverge from the noiseless simulation prediction by different amounts.</a:t>
            </a:r>
            <a:endParaRPr lang="en-US" sz="1450" dirty="0"/>
          </a:p>
          <a:p>
            <a:pPr marL="177800" indent="-177800">
              <a:lnSpc>
                <a:spcPct val="112000"/>
              </a:lnSpc>
              <a:spcAft>
                <a:spcPts val="1000"/>
              </a:spcAft>
              <a:buSzPct val="100000"/>
              <a:buChar char="▪"/>
            </a:pPr>
            <a:r>
              <a:rPr lang="en-US" sz="1450" b="1" dirty="0">
                <a:solidFill>
                  <a:srgbClr val="2A3648"/>
                </a:solidFill>
                <a:latin typeface="Calibri" pitchFamily="34" charset="0"/>
                <a:ea typeface="Calibri" pitchFamily="34" charset="-122"/>
                <a:cs typeface="Calibri" pitchFamily="34" charset="-120"/>
              </a:rPr>
              <a:t>This motivates two separate objectives this thesis treats explicitly: total gate count, and two-qubit gate count specifically.</a:t>
            </a:r>
            <a:endParaRPr lang="en-US" sz="1450" dirty="0"/>
          </a:p>
        </p:txBody>
      </p:sp>
      <p:pic>
        <p:nvPicPr>
          <p:cNvPr id="5" name="Image 0" descr="C:/Users/kapoo/Downloads/QCR-Repro/figures/paper_figure10_hardware.png">    </p:cNvPr>
          <p:cNvPicPr>
            <a:picLocks noChangeAspect="1"/>
          </p:cNvPicPr>
          <p:nvPr/>
        </p:nvPicPr>
        <p:blipFill>
          <a:blip r:embed="rId1"/>
          <a:stretch>
            <a:fillRect/>
          </a:stretch>
        </p:blipFill>
        <p:spPr>
          <a:xfrm>
            <a:off x="6720840" y="1709928"/>
            <a:ext cx="4937760" cy="1807814"/>
          </a:xfrm>
          <a:prstGeom prst="rect">
            <a:avLst/>
          </a:prstGeom>
        </p:spPr>
      </p:pic>
      <p:sp>
        <p:nvSpPr>
          <p:cNvPr id="6" name="Shape 3"/>
          <p:cNvSpPr/>
          <p:nvPr/>
        </p:nvSpPr>
        <p:spPr>
          <a:xfrm>
            <a:off x="6583680" y="1572768"/>
            <a:ext cx="5212080" cy="2173574"/>
          </a:xfrm>
          <a:prstGeom prst="roundRect">
            <a:avLst>
              <a:gd name="adj" fmla="val 3366"/>
            </a:avLst>
          </a:prstGeom>
          <a:solidFill>
            <a:srgbClr val="FFFFFF"/>
          </a:solidFill>
          <a:ln w="12700">
            <a:solidFill>
              <a:srgbClr val="D7E0EA"/>
            </a:solidFill>
            <a:prstDash val="solid"/>
          </a:ln>
        </p:spPr>
      </p:sp>
      <p:pic>
        <p:nvPicPr>
          <p:cNvPr id="7" name="Image 1" descr="C:/Users/kapoo/Downloads/QCR-Repro/figures/paper_figure10_hardware.png">    </p:cNvPr>
          <p:cNvPicPr>
            <a:picLocks noChangeAspect="1"/>
          </p:cNvPicPr>
          <p:nvPr/>
        </p:nvPicPr>
        <p:blipFill>
          <a:blip r:embed="rId2"/>
          <a:stretch>
            <a:fillRect/>
          </a:stretch>
        </p:blipFill>
        <p:spPr>
          <a:xfrm>
            <a:off x="6720840" y="1709928"/>
            <a:ext cx="4937760" cy="1807814"/>
          </a:xfrm>
          <a:prstGeom prst="rect">
            <a:avLst/>
          </a:prstGeom>
        </p:spPr>
      </p:pic>
      <p:sp>
        <p:nvSpPr>
          <p:cNvPr id="8" name="Text 4"/>
          <p:cNvSpPr/>
          <p:nvPr/>
        </p:nvSpPr>
        <p:spPr>
          <a:xfrm>
            <a:off x="6583680" y="3563462"/>
            <a:ext cx="5212080" cy="457200"/>
          </a:xfrm>
          <a:prstGeom prst="rect">
            <a:avLst/>
          </a:prstGeom>
          <a:noFill/>
          <a:ln/>
        </p:spPr>
        <p:txBody>
          <a:bodyPr wrap="square" lIns="0" tIns="0" rIns="0" bIns="0" rtlCol="0" anchor="t"/>
          <a:lstStyle/>
          <a:p>
            <a:pPr algn="ctr" indent="0" marL="0">
              <a:buNone/>
            </a:pPr>
            <a:r>
              <a:rPr lang="en-US" sz="950" i="1" dirty="0">
                <a:solidFill>
                  <a:srgbClr val="5B6B82"/>
                </a:solidFill>
                <a:latin typeface="Calibri" pitchFamily="34" charset="0"/>
                <a:ea typeface="Calibri" pitchFamily="34" charset="-122"/>
                <a:cs typeface="Calibri" pitchFamily="34" charset="-120"/>
              </a:rPr>
              <a:t>Reproduced from Rosenhahn, Osborne &amp; Hirche (2025), Fig. 10 — IBM Eagle r3 measurement, long (40-gate) vs. short (8-gate) equivalent circuits.</a:t>
            </a:r>
            <a:endParaRPr lang="en-US" sz="950" dirty="0"/>
          </a:p>
        </p:txBody>
      </p:sp>
      <p:sp>
        <p:nvSpPr>
          <p:cNvPr id="9" name="Text 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The Paper This Thesis Builds On</a:t>
            </a:r>
            <a:endParaRPr lang="en-US" sz="2900" dirty="0"/>
          </a:p>
        </p:txBody>
      </p:sp>
      <p:sp>
        <p:nvSpPr>
          <p:cNvPr id="4" name="Shape 2"/>
          <p:cNvSpPr/>
          <p:nvPr/>
        </p:nvSpPr>
        <p:spPr>
          <a:xfrm>
            <a:off x="548640" y="1572768"/>
            <a:ext cx="11094415" cy="1371600"/>
          </a:xfrm>
          <a:prstGeom prst="roundRect">
            <a:avLst>
              <a:gd name="adj" fmla="val 5333"/>
            </a:avLst>
          </a:prstGeom>
          <a:solidFill>
            <a:srgbClr val="0B1F3A"/>
          </a:solidFill>
          <a:ln/>
          <a:effectLst>
            <a:outerShdw sx="100000" sy="100000" kx="0" ky="0" algn="bl" rotWithShape="0" blurRad="76200" dist="25400" dir="5400000">
              <a:srgbClr val="1B2A44">
                <a:alpha val="18000"/>
              </a:srgbClr>
            </a:outerShdw>
          </a:effectLst>
        </p:spPr>
      </p:sp>
      <p:sp>
        <p:nvSpPr>
          <p:cNvPr id="5" name="Text 3"/>
          <p:cNvSpPr/>
          <p:nvPr/>
        </p:nvSpPr>
        <p:spPr>
          <a:xfrm>
            <a:off x="868680" y="1755648"/>
            <a:ext cx="10454335" cy="365760"/>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Rosenhahn, B., Osborne, T. J., &amp; Hirche, C.</a:t>
            </a:r>
            <a:endParaRPr lang="en-US" sz="1700" dirty="0"/>
          </a:p>
        </p:txBody>
      </p:sp>
      <p:sp>
        <p:nvSpPr>
          <p:cNvPr id="6" name="Text 4"/>
          <p:cNvSpPr/>
          <p:nvPr/>
        </p:nvSpPr>
        <p:spPr>
          <a:xfrm>
            <a:off x="868680" y="2148840"/>
            <a:ext cx="10454335" cy="365760"/>
          </a:xfrm>
          <a:prstGeom prst="rect">
            <a:avLst/>
          </a:prstGeom>
          <a:noFill/>
          <a:ln/>
        </p:spPr>
        <p:txBody>
          <a:bodyPr wrap="square" lIns="0" tIns="0" rIns="0" bIns="0" rtlCol="0" anchor="ctr"/>
          <a:lstStyle/>
          <a:p>
            <a:pPr indent="0" marL="0">
              <a:buNone/>
            </a:pPr>
            <a:r>
              <a:rPr lang="en-US" sz="1250" i="1" dirty="0">
                <a:solidFill>
                  <a:srgbClr val="C7D6EA"/>
                </a:solidFill>
                <a:latin typeface="Calibri" pitchFamily="34" charset="0"/>
                <a:ea typeface="Calibri" pitchFamily="34" charset="-122"/>
                <a:cs typeface="Calibri" pitchFamily="34" charset="-120"/>
              </a:rPr>
              <a:t>“Optimization driven quantum circuit reduction” — New Journal of Physics 27, 104509 (2025)  ·  doi:10.1088/1367-2630/ae0e40</a:t>
            </a:r>
            <a:endParaRPr lang="en-US" sz="1250" dirty="0"/>
          </a:p>
        </p:txBody>
      </p:sp>
      <p:sp>
        <p:nvSpPr>
          <p:cNvPr id="7" name="Text 5"/>
          <p:cNvSpPr/>
          <p:nvPr/>
        </p:nvSpPr>
        <p:spPr>
          <a:xfrm>
            <a:off x="868680" y="2542032"/>
            <a:ext cx="10454335" cy="320040"/>
          </a:xfrm>
          <a:prstGeom prst="rect">
            <a:avLst/>
          </a:prstGeom>
          <a:noFill/>
          <a:ln/>
        </p:spPr>
        <p:txBody>
          <a:bodyPr wrap="square" lIns="0" tIns="0" rIns="0" bIns="0" rtlCol="0" anchor="ctr"/>
          <a:lstStyle/>
          <a:p>
            <a:pPr indent="0" marL="0">
              <a:buNone/>
            </a:pPr>
            <a:r>
              <a:rPr lang="en-US" sz="1050" dirty="0">
                <a:solidFill>
                  <a:srgbClr val="8FA2BC"/>
                </a:solidFill>
                <a:latin typeface="Calibri" pitchFamily="34" charset="0"/>
                <a:ea typeface="Calibri" pitchFamily="34" charset="-122"/>
                <a:cs typeface="Calibri" pitchFamily="34" charset="-120"/>
              </a:rPr>
              <a:t>Precursor: Rosenhahn &amp; Osborne, “Monte Carlo graph search for quantum circuit optimization,” Phys. Rev. A 108, 062615 (2023)</a:t>
            </a:r>
            <a:endParaRPr lang="en-US" sz="1050" dirty="0"/>
          </a:p>
        </p:txBody>
      </p:sp>
      <p:sp>
        <p:nvSpPr>
          <p:cNvPr id="8" name="Text 6"/>
          <p:cNvSpPr/>
          <p:nvPr/>
        </p:nvSpPr>
        <p:spPr>
          <a:xfrm>
            <a:off x="548640" y="3246120"/>
            <a:ext cx="11094415" cy="32004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Where it sits in the literature</a:t>
            </a:r>
            <a:endParaRPr lang="en-US" sz="1450" dirty="0"/>
          </a:p>
        </p:txBody>
      </p:sp>
      <p:sp>
        <p:nvSpPr>
          <p:cNvPr id="9" name="Text 7"/>
          <p:cNvSpPr/>
          <p:nvPr/>
        </p:nvSpPr>
        <p:spPr>
          <a:xfrm>
            <a:off x="548640" y="3657600"/>
            <a:ext cx="11094415" cy="292608"/>
          </a:xfrm>
          <a:prstGeom prst="rect">
            <a:avLst/>
          </a:prstGeom>
          <a:noFill/>
          <a:ln/>
        </p:spPr>
        <p:txBody>
          <a:bodyPr wrap="square" lIns="0" tIns="0" rIns="0" bIns="0" rtlCol="0" anchor="ctr"/>
          <a:lstStyle/>
          <a:p>
            <a:pPr indent="0" marL="0">
              <a:buNone/>
            </a:pPr>
            <a:r>
              <a:rPr lang="en-US" sz="1250" b="1" dirty="0">
                <a:solidFill>
                  <a:srgbClr val="16233F"/>
                </a:solidFill>
                <a:latin typeface="Calibri" pitchFamily="34" charset="0"/>
                <a:ea typeface="Calibri" pitchFamily="34" charset="-122"/>
                <a:cs typeface="Calibri" pitchFamily="34" charset="-120"/>
              </a:rPr>
              <a:t>Template / peephole rewriting  </a:t>
            </a:r>
            <a:pPr indent="0" marL="0">
              <a:buNone/>
            </a:pPr>
            <a:r>
              <a:rPr lang="en-US" sz="1150" dirty="0">
                <a:solidFill>
                  <a:srgbClr val="5B6B82"/>
                </a:solidFill>
                <a:latin typeface="Calibri" pitchFamily="34" charset="0"/>
                <a:ea typeface="Calibri" pitchFamily="34" charset="-122"/>
                <a:cs typeface="Calibri" pitchFamily="34" charset="-120"/>
              </a:rPr>
              <a:t>Fixed, hand-derived identities (T-depth reduction, automated peephole passes)</a:t>
            </a:r>
            <a:endParaRPr lang="en-US" sz="1250" dirty="0"/>
          </a:p>
        </p:txBody>
      </p:sp>
      <p:sp>
        <p:nvSpPr>
          <p:cNvPr id="10" name="Text 8"/>
          <p:cNvSpPr/>
          <p:nvPr/>
        </p:nvSpPr>
        <p:spPr>
          <a:xfrm>
            <a:off x="777240" y="3931920"/>
            <a:ext cx="10865815" cy="310896"/>
          </a:xfrm>
          <a:prstGeom prst="rect">
            <a:avLst/>
          </a:prstGeom>
          <a:noFill/>
          <a:ln/>
        </p:spPr>
        <p:txBody>
          <a:bodyPr wrap="square" lIns="0" tIns="0" rIns="0" bIns="0" rtlCol="0" anchor="ctr"/>
          <a:lstStyle/>
          <a:p>
            <a:pPr indent="0" marL="0">
              <a:buNone/>
            </a:pPr>
            <a:r>
              <a:rPr lang="en-US" sz="1100" i="1" dirty="0">
                <a:solidFill>
                  <a:srgbClr val="2C5578"/>
                </a:solidFill>
                <a:latin typeface="Calibri" pitchFamily="34" charset="0"/>
                <a:ea typeface="Calibri" pitchFamily="34" charset="-122"/>
                <a:cs typeface="Calibri" pitchFamily="34" charset="-120"/>
              </a:rPr>
              <a:t>Rewrite rules are derived, not hand-picked — exhaustively searched from a gate pool</a:t>
            </a:r>
            <a:endParaRPr lang="en-US" sz="1100" dirty="0"/>
          </a:p>
        </p:txBody>
      </p:sp>
      <p:sp>
        <p:nvSpPr>
          <p:cNvPr id="11" name="Text 9"/>
          <p:cNvSpPr/>
          <p:nvPr/>
        </p:nvSpPr>
        <p:spPr>
          <a:xfrm>
            <a:off x="548640" y="4334256"/>
            <a:ext cx="11094415" cy="292608"/>
          </a:xfrm>
          <a:prstGeom prst="rect">
            <a:avLst/>
          </a:prstGeom>
          <a:noFill/>
          <a:ln/>
        </p:spPr>
        <p:txBody>
          <a:bodyPr wrap="square" lIns="0" tIns="0" rIns="0" bIns="0" rtlCol="0" anchor="ctr"/>
          <a:lstStyle/>
          <a:p>
            <a:pPr indent="0" marL="0">
              <a:buNone/>
            </a:pPr>
            <a:r>
              <a:rPr lang="en-US" sz="1250" b="1" dirty="0">
                <a:solidFill>
                  <a:srgbClr val="16233F"/>
                </a:solidFill>
                <a:latin typeface="Calibri" pitchFamily="34" charset="0"/>
                <a:ea typeface="Calibri" pitchFamily="34" charset="-122"/>
                <a:cs typeface="Calibri" pitchFamily="34" charset="-120"/>
              </a:rPr>
              <a:t>Production transpilers  </a:t>
            </a:r>
            <a:pPr indent="0" marL="0">
              <a:buNone/>
            </a:pPr>
            <a:r>
              <a:rPr lang="en-US" sz="1150" dirty="0">
                <a:solidFill>
                  <a:srgbClr val="5B6B82"/>
                </a:solidFill>
                <a:latin typeface="Calibri" pitchFamily="34" charset="0"/>
                <a:ea typeface="Calibri" pitchFamily="34" charset="-122"/>
                <a:cs typeface="Calibri" pitchFamily="34" charset="-120"/>
              </a:rPr>
              <a:t>Qiskit, t|ket⟩, BQSKit — many passes behind one interface, per-circuit search</a:t>
            </a:r>
            <a:endParaRPr lang="en-US" sz="1250" dirty="0"/>
          </a:p>
        </p:txBody>
      </p:sp>
      <p:sp>
        <p:nvSpPr>
          <p:cNvPr id="12" name="Text 10"/>
          <p:cNvSpPr/>
          <p:nvPr/>
        </p:nvSpPr>
        <p:spPr>
          <a:xfrm>
            <a:off x="777240" y="4608576"/>
            <a:ext cx="10865815" cy="310896"/>
          </a:xfrm>
          <a:prstGeom prst="rect">
            <a:avLst/>
          </a:prstGeom>
          <a:noFill/>
          <a:ln/>
        </p:spPr>
        <p:txBody>
          <a:bodyPr wrap="square" lIns="0" tIns="0" rIns="0" bIns="0" rtlCol="0" anchor="ctr"/>
          <a:lstStyle/>
          <a:p>
            <a:pPr indent="0" marL="0">
              <a:buNone/>
            </a:pPr>
            <a:r>
              <a:rPr lang="en-US" sz="1100" i="1" dirty="0">
                <a:solidFill>
                  <a:srgbClr val="2C5578"/>
                </a:solidFill>
                <a:latin typeface="Calibri" pitchFamily="34" charset="0"/>
                <a:ea typeface="Calibri" pitchFamily="34" charset="-122"/>
                <a:cs typeface="Calibri" pitchFamily="34" charset="-120"/>
              </a:rPr>
              <a:t>One-time, offline-amortized compute graph reused across every circuit of a given width</a:t>
            </a:r>
            <a:endParaRPr lang="en-US" sz="1100" dirty="0"/>
          </a:p>
        </p:txBody>
      </p:sp>
      <p:sp>
        <p:nvSpPr>
          <p:cNvPr id="13" name="Text 11"/>
          <p:cNvSpPr/>
          <p:nvPr/>
        </p:nvSpPr>
        <p:spPr>
          <a:xfrm>
            <a:off x="548640" y="5010912"/>
            <a:ext cx="11094415" cy="292608"/>
          </a:xfrm>
          <a:prstGeom prst="rect">
            <a:avLst/>
          </a:prstGeom>
          <a:noFill/>
          <a:ln/>
        </p:spPr>
        <p:txBody>
          <a:bodyPr wrap="square" lIns="0" tIns="0" rIns="0" bIns="0" rtlCol="0" anchor="ctr"/>
          <a:lstStyle/>
          <a:p>
            <a:pPr indent="0" marL="0">
              <a:buNone/>
            </a:pPr>
            <a:r>
              <a:rPr lang="en-US" sz="1250" b="1" dirty="0">
                <a:solidFill>
                  <a:srgbClr val="16233F"/>
                </a:solidFill>
                <a:latin typeface="Calibri" pitchFamily="34" charset="0"/>
                <a:ea typeface="Calibri" pitchFamily="34" charset="-122"/>
                <a:cs typeface="Calibri" pitchFamily="34" charset="-120"/>
              </a:rPr>
              <a:t>Quantum architecture search  </a:t>
            </a:r>
            <a:pPr indent="0" marL="0">
              <a:buNone/>
            </a:pPr>
            <a:r>
              <a:rPr lang="en-US" sz="1150" dirty="0">
                <a:solidFill>
                  <a:srgbClr val="5B6B82"/>
                </a:solidFill>
                <a:latin typeface="Calibri" pitchFamily="34" charset="0"/>
                <a:ea typeface="Calibri" pitchFamily="34" charset="-122"/>
                <a:cs typeface="Calibri" pitchFamily="34" charset="-120"/>
              </a:rPr>
              <a:t>Neural / evolutionary search over circuit or mapping choice</a:t>
            </a:r>
            <a:endParaRPr lang="en-US" sz="1250" dirty="0"/>
          </a:p>
        </p:txBody>
      </p:sp>
      <p:sp>
        <p:nvSpPr>
          <p:cNvPr id="14" name="Text 12"/>
          <p:cNvSpPr/>
          <p:nvPr/>
        </p:nvSpPr>
        <p:spPr>
          <a:xfrm>
            <a:off x="777240" y="5285232"/>
            <a:ext cx="10865815" cy="310896"/>
          </a:xfrm>
          <a:prstGeom prst="rect">
            <a:avLst/>
          </a:prstGeom>
          <a:noFill/>
          <a:ln/>
        </p:spPr>
        <p:txBody>
          <a:bodyPr wrap="square" lIns="0" tIns="0" rIns="0" bIns="0" rtlCol="0" anchor="ctr"/>
          <a:lstStyle/>
          <a:p>
            <a:pPr indent="0" marL="0">
              <a:buNone/>
            </a:pPr>
            <a:r>
              <a:rPr lang="en-US" sz="1100" i="1" dirty="0">
                <a:solidFill>
                  <a:srgbClr val="2C5578"/>
                </a:solidFill>
                <a:latin typeface="Calibri" pitchFamily="34" charset="0"/>
                <a:ea typeface="Calibri" pitchFamily="34" charset="-122"/>
                <a:cs typeface="Calibri" pitchFamily="34" charset="-120"/>
              </a:rPr>
              <a:t>Shares RF-classifier and RL-proxy ideas, but rewrites circuits rather than searching architectures</a:t>
            </a:r>
            <a:endParaRPr lang="en-US" sz="1100" dirty="0"/>
          </a:p>
        </p:txBody>
      </p:sp>
      <p:sp>
        <p:nvSpPr>
          <p:cNvPr id="15" name="Text 13"/>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6" name="Text 14"/>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Gate Set I — the Ion-Trap Pool</a:t>
            </a:r>
            <a:endParaRPr lang="en-US" sz="2900" dirty="0"/>
          </a:p>
        </p:txBody>
      </p:sp>
      <p:sp>
        <p:nvSpPr>
          <p:cNvPr id="6" name="Text 4"/>
          <p:cNvSpPr/>
          <p:nvPr/>
        </p:nvSpPr>
        <p:spPr>
          <a:xfrm>
            <a:off x="548640" y="1572768"/>
            <a:ext cx="11094415" cy="365760"/>
          </a:xfrm>
          <a:prstGeom prst="rect">
            <a:avLst/>
          </a:prstGeom>
          <a:noFill/>
          <a:ln/>
        </p:spPr>
        <p:txBody>
          <a:bodyPr wrap="square" lIns="0" tIns="0" rIns="0" bIns="0" rtlCol="0" anchor="ctr"/>
          <a:lstStyle/>
          <a:p>
            <a:pPr indent="0" marL="0">
              <a:buNone/>
            </a:pPr>
            <a:r>
              <a:rPr lang="en-US" sz="1350" dirty="0">
                <a:solidFill>
                  <a:srgbClr val="2A3648"/>
                </a:solidFill>
                <a:latin typeface="Calibri" pitchFamily="34" charset="0"/>
                <a:ea typeface="Calibri" pitchFamily="34" charset="-122"/>
                <a:cs typeface="Calibri" pitchFamily="34" charset="-120"/>
              </a:rPr>
              <a:t>Every evaluated ion-trap circuit is built exclusively from four gate families, all at fixed discrete angles:</a:t>
            </a:r>
            <a:endParaRPr lang="en-US" sz="1350" dirty="0"/>
          </a:p>
        </p:txBody>
      </p:sp>
      <p:sp>
        <p:nvSpPr>
          <p:cNvPr id="7" name="Shape 5"/>
          <p:cNvSpPr/>
          <p:nvPr/>
        </p:nvSpPr>
        <p:spPr>
          <a:xfrm>
            <a:off x="548640" y="2103120"/>
            <a:ext cx="2567864" cy="1691640"/>
          </a:xfrm>
          <a:prstGeom prst="roundRect">
            <a:avLst>
              <a:gd name="adj" fmla="val 4324"/>
            </a:avLst>
          </a:prstGeom>
          <a:solidFill>
            <a:srgbClr val="F4F7FB"/>
          </a:solidFill>
          <a:ln w="12700">
            <a:solidFill>
              <a:srgbClr val="D7E0EA"/>
            </a:solidFill>
            <a:prstDash val="solid"/>
          </a:ln>
        </p:spPr>
      </p:sp>
      <p:sp>
        <p:nvSpPr>
          <p:cNvPr id="8" name="Text 6"/>
          <p:cNvSpPr/>
          <p:nvPr/>
        </p:nvSpPr>
        <p:spPr>
          <a:xfrm>
            <a:off x="548640" y="2231136"/>
            <a:ext cx="2567864" cy="365760"/>
          </a:xfrm>
          <a:prstGeom prst="rect">
            <a:avLst/>
          </a:prstGeom>
          <a:noFill/>
          <a:ln/>
        </p:spPr>
        <p:txBody>
          <a:bodyPr wrap="square" lIns="0" tIns="0" rIns="0" bIns="0" rtlCol="0" anchor="ctr"/>
          <a:lstStyle/>
          <a:p>
            <a:pPr algn="ctr" indent="0" marL="0">
              <a:buNone/>
            </a:pPr>
            <a:r>
              <a:rPr lang="en-US" sz="1550" b="1" dirty="0">
                <a:solidFill>
                  <a:srgbClr val="0B1F3A"/>
                </a:solidFill>
                <a:latin typeface="Courier New" pitchFamily="34" charset="0"/>
                <a:ea typeface="Courier New" pitchFamily="34" charset="-122"/>
                <a:cs typeface="Courier New" pitchFamily="34" charset="-120"/>
              </a:rPr>
              <a:t>RX(±π/2)</a:t>
            </a:r>
            <a:endParaRPr lang="en-US" sz="1550" dirty="0"/>
          </a:p>
        </p:txBody>
      </p:sp>
      <p:sp>
        <p:nvSpPr>
          <p:cNvPr id="9" name="Text 7"/>
          <p:cNvSpPr/>
          <p:nvPr/>
        </p:nvSpPr>
        <p:spPr>
          <a:xfrm>
            <a:off x="658368" y="2688336"/>
            <a:ext cx="2348408" cy="685800"/>
          </a:xfrm>
          <a:prstGeom prst="rect">
            <a:avLst/>
          </a:prstGeom>
          <a:noFill/>
          <a:ln/>
        </p:spPr>
        <p:txBody>
          <a:bodyPr wrap="square" lIns="0" tIns="0" rIns="0" bIns="0" rtlCol="0" anchor="t"/>
          <a:lstStyle/>
          <a:p>
            <a:pPr algn="ctr" indent="0" marL="0">
              <a:buNone/>
            </a:pPr>
            <a:r>
              <a:rPr lang="en-US" sz="950" dirty="0">
                <a:solidFill>
                  <a:srgbClr val="2A3648"/>
                </a:solidFill>
                <a:latin typeface="Courier New" pitchFamily="34" charset="0"/>
                <a:ea typeface="Courier New" pitchFamily="34" charset="-122"/>
                <a:cs typeface="Courier New" pitchFamily="34" charset="-120"/>
              </a:rPr>
              <a:t>cos(θ/2)·I − i·sin(θ/2)·X</a:t>
            </a:r>
            <a:endParaRPr lang="en-US" sz="950" dirty="0"/>
          </a:p>
        </p:txBody>
      </p:sp>
      <p:sp>
        <p:nvSpPr>
          <p:cNvPr id="10" name="Text 8"/>
          <p:cNvSpPr/>
          <p:nvPr/>
        </p:nvSpPr>
        <p:spPr>
          <a:xfrm>
            <a:off x="548640" y="3429000"/>
            <a:ext cx="2567864" cy="292608"/>
          </a:xfrm>
          <a:prstGeom prst="rect">
            <a:avLst/>
          </a:prstGeom>
          <a:noFill/>
          <a:ln/>
        </p:spPr>
        <p:txBody>
          <a:bodyPr wrap="square" lIns="0" tIns="0" rIns="0" bIns="0" rtlCol="0" anchor="ctr"/>
          <a:lstStyle/>
          <a:p>
            <a:pPr algn="ctr" indent="0" marL="0">
              <a:buNone/>
            </a:pPr>
            <a:r>
              <a:rPr lang="en-US" sz="950" i="1" dirty="0">
                <a:solidFill>
                  <a:srgbClr val="5B6B82"/>
                </a:solidFill>
                <a:latin typeface="Calibri" pitchFamily="34" charset="0"/>
                <a:ea typeface="Calibri" pitchFamily="34" charset="-122"/>
                <a:cs typeface="Calibri" pitchFamily="34" charset="-120"/>
              </a:rPr>
              <a:t>single-qubit</a:t>
            </a:r>
            <a:endParaRPr lang="en-US" sz="950" dirty="0"/>
          </a:p>
        </p:txBody>
      </p:sp>
      <p:sp>
        <p:nvSpPr>
          <p:cNvPr id="11" name="Shape 9"/>
          <p:cNvSpPr/>
          <p:nvPr/>
        </p:nvSpPr>
        <p:spPr>
          <a:xfrm>
            <a:off x="3390824" y="2103120"/>
            <a:ext cx="2567864" cy="1691640"/>
          </a:xfrm>
          <a:prstGeom prst="roundRect">
            <a:avLst>
              <a:gd name="adj" fmla="val 4324"/>
            </a:avLst>
          </a:prstGeom>
          <a:solidFill>
            <a:srgbClr val="F4F7FB"/>
          </a:solidFill>
          <a:ln w="12700">
            <a:solidFill>
              <a:srgbClr val="D7E0EA"/>
            </a:solidFill>
            <a:prstDash val="solid"/>
          </a:ln>
        </p:spPr>
      </p:sp>
      <p:sp>
        <p:nvSpPr>
          <p:cNvPr id="12" name="Text 10"/>
          <p:cNvSpPr/>
          <p:nvPr/>
        </p:nvSpPr>
        <p:spPr>
          <a:xfrm>
            <a:off x="3390824" y="2231136"/>
            <a:ext cx="2567864" cy="365760"/>
          </a:xfrm>
          <a:prstGeom prst="rect">
            <a:avLst/>
          </a:prstGeom>
          <a:noFill/>
          <a:ln/>
        </p:spPr>
        <p:txBody>
          <a:bodyPr wrap="square" lIns="0" tIns="0" rIns="0" bIns="0" rtlCol="0" anchor="ctr"/>
          <a:lstStyle/>
          <a:p>
            <a:pPr algn="ctr" indent="0" marL="0">
              <a:buNone/>
            </a:pPr>
            <a:r>
              <a:rPr lang="en-US" sz="1550" b="1" dirty="0">
                <a:solidFill>
                  <a:srgbClr val="0B1F3A"/>
                </a:solidFill>
                <a:latin typeface="Courier New" pitchFamily="34" charset="0"/>
                <a:ea typeface="Courier New" pitchFamily="34" charset="-122"/>
                <a:cs typeface="Courier New" pitchFamily="34" charset="-120"/>
              </a:rPr>
              <a:t>RY(±π/2)</a:t>
            </a:r>
            <a:endParaRPr lang="en-US" sz="1550" dirty="0"/>
          </a:p>
        </p:txBody>
      </p:sp>
      <p:sp>
        <p:nvSpPr>
          <p:cNvPr id="13" name="Text 11"/>
          <p:cNvSpPr/>
          <p:nvPr/>
        </p:nvSpPr>
        <p:spPr>
          <a:xfrm>
            <a:off x="3500552" y="2688336"/>
            <a:ext cx="2348408" cy="685800"/>
          </a:xfrm>
          <a:prstGeom prst="rect">
            <a:avLst/>
          </a:prstGeom>
          <a:noFill/>
          <a:ln/>
        </p:spPr>
        <p:txBody>
          <a:bodyPr wrap="square" lIns="0" tIns="0" rIns="0" bIns="0" rtlCol="0" anchor="t"/>
          <a:lstStyle/>
          <a:p>
            <a:pPr algn="ctr" indent="0" marL="0">
              <a:buNone/>
            </a:pPr>
            <a:r>
              <a:rPr lang="en-US" sz="950" dirty="0">
                <a:solidFill>
                  <a:srgbClr val="2A3648"/>
                </a:solidFill>
                <a:latin typeface="Courier New" pitchFamily="34" charset="0"/>
                <a:ea typeface="Courier New" pitchFamily="34" charset="-122"/>
                <a:cs typeface="Courier New" pitchFamily="34" charset="-120"/>
              </a:rPr>
              <a:t>cos(θ/2)·I − i·sin(θ/2)·Y</a:t>
            </a:r>
            <a:endParaRPr lang="en-US" sz="950" dirty="0"/>
          </a:p>
        </p:txBody>
      </p:sp>
      <p:sp>
        <p:nvSpPr>
          <p:cNvPr id="14" name="Text 12"/>
          <p:cNvSpPr/>
          <p:nvPr/>
        </p:nvSpPr>
        <p:spPr>
          <a:xfrm>
            <a:off x="3390824" y="3429000"/>
            <a:ext cx="2567864" cy="292608"/>
          </a:xfrm>
          <a:prstGeom prst="rect">
            <a:avLst/>
          </a:prstGeom>
          <a:noFill/>
          <a:ln/>
        </p:spPr>
        <p:txBody>
          <a:bodyPr wrap="square" lIns="0" tIns="0" rIns="0" bIns="0" rtlCol="0" anchor="ctr"/>
          <a:lstStyle/>
          <a:p>
            <a:pPr algn="ctr" indent="0" marL="0">
              <a:buNone/>
            </a:pPr>
            <a:r>
              <a:rPr lang="en-US" sz="950" i="1" dirty="0">
                <a:solidFill>
                  <a:srgbClr val="5B6B82"/>
                </a:solidFill>
                <a:latin typeface="Calibri" pitchFamily="34" charset="0"/>
                <a:ea typeface="Calibri" pitchFamily="34" charset="-122"/>
                <a:cs typeface="Calibri" pitchFamily="34" charset="-120"/>
              </a:rPr>
              <a:t>single-qubit</a:t>
            </a:r>
            <a:endParaRPr lang="en-US" sz="950" dirty="0"/>
          </a:p>
        </p:txBody>
      </p:sp>
      <p:sp>
        <p:nvSpPr>
          <p:cNvPr id="15" name="Shape 13"/>
          <p:cNvSpPr/>
          <p:nvPr/>
        </p:nvSpPr>
        <p:spPr>
          <a:xfrm>
            <a:off x="6233008" y="2103120"/>
            <a:ext cx="2567864" cy="1691640"/>
          </a:xfrm>
          <a:prstGeom prst="roundRect">
            <a:avLst>
              <a:gd name="adj" fmla="val 4324"/>
            </a:avLst>
          </a:prstGeom>
          <a:solidFill>
            <a:srgbClr val="F4F7FB"/>
          </a:solidFill>
          <a:ln w="12700">
            <a:solidFill>
              <a:srgbClr val="D7E0EA"/>
            </a:solidFill>
            <a:prstDash val="solid"/>
          </a:ln>
        </p:spPr>
      </p:sp>
      <p:sp>
        <p:nvSpPr>
          <p:cNvPr id="16" name="Text 14"/>
          <p:cNvSpPr/>
          <p:nvPr/>
        </p:nvSpPr>
        <p:spPr>
          <a:xfrm>
            <a:off x="6233008" y="2231136"/>
            <a:ext cx="2567864" cy="365760"/>
          </a:xfrm>
          <a:prstGeom prst="rect">
            <a:avLst/>
          </a:prstGeom>
          <a:noFill/>
          <a:ln/>
        </p:spPr>
        <p:txBody>
          <a:bodyPr wrap="square" lIns="0" tIns="0" rIns="0" bIns="0" rtlCol="0" anchor="ctr"/>
          <a:lstStyle/>
          <a:p>
            <a:pPr algn="ctr" indent="0" marL="0">
              <a:buNone/>
            </a:pPr>
            <a:r>
              <a:rPr lang="en-US" sz="1550" b="1" dirty="0">
                <a:solidFill>
                  <a:srgbClr val="0B1F3A"/>
                </a:solidFill>
                <a:latin typeface="Courier New" pitchFamily="34" charset="0"/>
                <a:ea typeface="Courier New" pitchFamily="34" charset="-122"/>
                <a:cs typeface="Courier New" pitchFamily="34" charset="-120"/>
              </a:rPr>
              <a:t>RZ(±π/2)</a:t>
            </a:r>
            <a:endParaRPr lang="en-US" sz="1550" dirty="0"/>
          </a:p>
        </p:txBody>
      </p:sp>
      <p:sp>
        <p:nvSpPr>
          <p:cNvPr id="17" name="Text 15"/>
          <p:cNvSpPr/>
          <p:nvPr/>
        </p:nvSpPr>
        <p:spPr>
          <a:xfrm>
            <a:off x="6342736" y="2688336"/>
            <a:ext cx="2348408" cy="685800"/>
          </a:xfrm>
          <a:prstGeom prst="rect">
            <a:avLst/>
          </a:prstGeom>
          <a:noFill/>
          <a:ln/>
        </p:spPr>
        <p:txBody>
          <a:bodyPr wrap="square" lIns="0" tIns="0" rIns="0" bIns="0" rtlCol="0" anchor="t"/>
          <a:lstStyle/>
          <a:p>
            <a:pPr algn="ctr" indent="0" marL="0">
              <a:buNone/>
            </a:pPr>
            <a:r>
              <a:rPr lang="en-US" sz="950" dirty="0">
                <a:solidFill>
                  <a:srgbClr val="2A3648"/>
                </a:solidFill>
                <a:latin typeface="Courier New" pitchFamily="34" charset="0"/>
                <a:ea typeface="Courier New" pitchFamily="34" charset="-122"/>
                <a:cs typeface="Courier New" pitchFamily="34" charset="-120"/>
              </a:rPr>
              <a:t>diag(e⁻ⁱθ/², eⁱθ/²)</a:t>
            </a:r>
            <a:endParaRPr lang="en-US" sz="950" dirty="0"/>
          </a:p>
        </p:txBody>
      </p:sp>
      <p:sp>
        <p:nvSpPr>
          <p:cNvPr id="18" name="Text 16"/>
          <p:cNvSpPr/>
          <p:nvPr/>
        </p:nvSpPr>
        <p:spPr>
          <a:xfrm>
            <a:off x="6233008" y="3429000"/>
            <a:ext cx="2567864" cy="292608"/>
          </a:xfrm>
          <a:prstGeom prst="rect">
            <a:avLst/>
          </a:prstGeom>
          <a:noFill/>
          <a:ln/>
        </p:spPr>
        <p:txBody>
          <a:bodyPr wrap="square" lIns="0" tIns="0" rIns="0" bIns="0" rtlCol="0" anchor="ctr"/>
          <a:lstStyle/>
          <a:p>
            <a:pPr algn="ctr" indent="0" marL="0">
              <a:buNone/>
            </a:pPr>
            <a:r>
              <a:rPr lang="en-US" sz="950" i="1" dirty="0">
                <a:solidFill>
                  <a:srgbClr val="5B6B82"/>
                </a:solidFill>
                <a:latin typeface="Calibri" pitchFamily="34" charset="0"/>
                <a:ea typeface="Calibri" pitchFamily="34" charset="-122"/>
                <a:cs typeface="Calibri" pitchFamily="34" charset="-120"/>
              </a:rPr>
              <a:t>single-qubit</a:t>
            </a:r>
            <a:endParaRPr lang="en-US" sz="950" dirty="0"/>
          </a:p>
        </p:txBody>
      </p:sp>
      <p:sp>
        <p:nvSpPr>
          <p:cNvPr id="19" name="Shape 17"/>
          <p:cNvSpPr/>
          <p:nvPr/>
        </p:nvSpPr>
        <p:spPr>
          <a:xfrm>
            <a:off x="9075191" y="2103120"/>
            <a:ext cx="2567864" cy="1691640"/>
          </a:xfrm>
          <a:prstGeom prst="roundRect">
            <a:avLst>
              <a:gd name="adj" fmla="val 4324"/>
            </a:avLst>
          </a:prstGeom>
          <a:solidFill>
            <a:srgbClr val="F3E7D2"/>
          </a:solidFill>
          <a:ln w="12700">
            <a:solidFill>
              <a:srgbClr val="D7E0EA"/>
            </a:solidFill>
            <a:prstDash val="solid"/>
          </a:ln>
        </p:spPr>
      </p:sp>
      <p:sp>
        <p:nvSpPr>
          <p:cNvPr id="20" name="Text 18"/>
          <p:cNvSpPr/>
          <p:nvPr/>
        </p:nvSpPr>
        <p:spPr>
          <a:xfrm>
            <a:off x="9075191" y="2231136"/>
            <a:ext cx="2567864" cy="365760"/>
          </a:xfrm>
          <a:prstGeom prst="rect">
            <a:avLst/>
          </a:prstGeom>
          <a:noFill/>
          <a:ln/>
        </p:spPr>
        <p:txBody>
          <a:bodyPr wrap="square" lIns="0" tIns="0" rIns="0" bIns="0" rtlCol="0" anchor="ctr"/>
          <a:lstStyle/>
          <a:p>
            <a:pPr algn="ctr" indent="0" marL="0">
              <a:buNone/>
            </a:pPr>
            <a:r>
              <a:rPr lang="en-US" sz="1550" b="1" dirty="0">
                <a:solidFill>
                  <a:srgbClr val="9C6510"/>
                </a:solidFill>
                <a:latin typeface="Courier New" pitchFamily="34" charset="0"/>
                <a:ea typeface="Courier New" pitchFamily="34" charset="-122"/>
                <a:cs typeface="Courier New" pitchFamily="34" charset="-120"/>
              </a:rPr>
              <a:t>RXX(π/2)</a:t>
            </a:r>
            <a:endParaRPr lang="en-US" sz="1550" dirty="0"/>
          </a:p>
        </p:txBody>
      </p:sp>
      <p:sp>
        <p:nvSpPr>
          <p:cNvPr id="21" name="Text 19"/>
          <p:cNvSpPr/>
          <p:nvPr/>
        </p:nvSpPr>
        <p:spPr>
          <a:xfrm>
            <a:off x="9184919" y="2688336"/>
            <a:ext cx="2348408" cy="685800"/>
          </a:xfrm>
          <a:prstGeom prst="rect">
            <a:avLst/>
          </a:prstGeom>
          <a:noFill/>
          <a:ln/>
        </p:spPr>
        <p:txBody>
          <a:bodyPr wrap="square" lIns="0" tIns="0" rIns="0" bIns="0" rtlCol="0" anchor="t"/>
          <a:lstStyle/>
          <a:p>
            <a:pPr algn="ctr" indent="0" marL="0">
              <a:buNone/>
            </a:pPr>
            <a:r>
              <a:rPr lang="en-US" sz="950" dirty="0">
                <a:solidFill>
                  <a:srgbClr val="2A3648"/>
                </a:solidFill>
                <a:latin typeface="Courier New" pitchFamily="34" charset="0"/>
                <a:ea typeface="Courier New" pitchFamily="34" charset="-122"/>
                <a:cs typeface="Courier New" pitchFamily="34" charset="-120"/>
              </a:rPr>
              <a:t>cos(π/4)·I₄ − i·sin(π/4)·(X⊗X)</a:t>
            </a:r>
            <a:endParaRPr lang="en-US" sz="950" dirty="0"/>
          </a:p>
        </p:txBody>
      </p:sp>
      <p:sp>
        <p:nvSpPr>
          <p:cNvPr id="22" name="Text 20"/>
          <p:cNvSpPr/>
          <p:nvPr/>
        </p:nvSpPr>
        <p:spPr>
          <a:xfrm>
            <a:off x="9075191" y="3429000"/>
            <a:ext cx="2567864" cy="292608"/>
          </a:xfrm>
          <a:prstGeom prst="rect">
            <a:avLst/>
          </a:prstGeom>
          <a:noFill/>
          <a:ln/>
        </p:spPr>
        <p:txBody>
          <a:bodyPr wrap="square" lIns="0" tIns="0" rIns="0" bIns="0" rtlCol="0" anchor="ctr"/>
          <a:lstStyle/>
          <a:p>
            <a:pPr algn="ctr" indent="0" marL="0">
              <a:buNone/>
            </a:pPr>
            <a:r>
              <a:rPr lang="en-US" sz="950" i="1" dirty="0">
                <a:solidFill>
                  <a:srgbClr val="5B6B82"/>
                </a:solidFill>
                <a:latin typeface="Calibri" pitchFamily="34" charset="0"/>
                <a:ea typeface="Calibri" pitchFamily="34" charset="-122"/>
                <a:cs typeface="Calibri" pitchFamily="34" charset="-120"/>
              </a:rPr>
              <a:t>two-qubit, fixed angle</a:t>
            </a:r>
            <a:endParaRPr lang="en-US" sz="950" dirty="0"/>
          </a:p>
        </p:txBody>
      </p:sp>
      <p:sp>
        <p:nvSpPr>
          <p:cNvPr id="23" name="Shape 21"/>
          <p:cNvSpPr/>
          <p:nvPr/>
        </p:nvSpPr>
        <p:spPr>
          <a:xfrm>
            <a:off x="548640" y="4114800"/>
            <a:ext cx="11094415" cy="1965960"/>
          </a:xfrm>
          <a:prstGeom prst="roundRect">
            <a:avLst>
              <a:gd name="adj" fmla="val 3721"/>
            </a:avLst>
          </a:prstGeom>
          <a:solidFill>
            <a:srgbClr val="0B1F3A"/>
          </a:solidFill>
          <a:ln/>
        </p:spPr>
      </p:sp>
      <p:sp>
        <p:nvSpPr>
          <p:cNvPr id="24" name="Text 22"/>
          <p:cNvSpPr/>
          <p:nvPr/>
        </p:nvSpPr>
        <p:spPr>
          <a:xfrm>
            <a:off x="822960" y="4279392"/>
            <a:ext cx="10545775" cy="365760"/>
          </a:xfrm>
          <a:prstGeom prst="rect">
            <a:avLst/>
          </a:prstGeom>
          <a:noFill/>
          <a:ln/>
        </p:spPr>
        <p:txBody>
          <a:bodyPr wrap="square" lIns="0" tIns="0" rIns="0" bIns="0" rtlCol="0" anchor="ctr"/>
          <a:lstStyle/>
          <a:p>
            <a:pPr indent="0" marL="0">
              <a:buNone/>
            </a:pPr>
            <a:r>
              <a:rPr lang="en-US" sz="1600" b="1" dirty="0">
                <a:solidFill>
                  <a:srgbClr val="E8B94B"/>
                </a:solidFill>
                <a:latin typeface="Cambria" pitchFamily="34" charset="0"/>
                <a:ea typeface="Cambria" pitchFamily="34" charset="-122"/>
                <a:cs typeface="Cambria" pitchFamily="34" charset="-120"/>
              </a:rPr>
              <a:t>This pool is entirely Clifford.</a:t>
            </a:r>
            <a:endParaRPr lang="en-US" sz="1600" dirty="0"/>
          </a:p>
        </p:txBody>
      </p:sp>
      <p:sp>
        <p:nvSpPr>
          <p:cNvPr id="25" name="Text 23"/>
          <p:cNvSpPr/>
          <p:nvPr/>
        </p:nvSpPr>
        <p:spPr>
          <a:xfrm>
            <a:off x="822960" y="4645152"/>
            <a:ext cx="10545775" cy="4389120"/>
          </a:xfrm>
          <a:prstGeom prst="rect">
            <a:avLst/>
          </a:prstGeom>
          <a:noFill/>
          <a:ln/>
        </p:spPr>
        <p:txBody>
          <a:bodyPr wrap="square" rtlCol="0" anchor="t"/>
          <a:lstStyle/>
          <a:p>
            <a:pPr marL="177800" indent="-177800">
              <a:lnSpc>
                <a:spcPct val="110000"/>
              </a:lnSpc>
              <a:spcAft>
                <a:spcPts val="600"/>
              </a:spcAft>
              <a:buSzPct val="100000"/>
              <a:buChar char="▪"/>
            </a:pPr>
            <a:r>
              <a:rPr lang="en-US" sz="1250" dirty="0">
                <a:solidFill>
                  <a:srgbClr val="DCE6F3"/>
                </a:solidFill>
                <a:latin typeface="Calibri" pitchFamily="34" charset="0"/>
                <a:ea typeface="Calibri" pitchFamily="34" charset="-122"/>
                <a:cs typeface="Calibri" pitchFamily="34" charset="-120"/>
              </a:rPr>
              <a:t>Every element is generated by ±π/2 rotations and a π/2 entangler — the defining generators of the Clifford group.</a:t>
            </a:r>
            <a:endParaRPr lang="en-US" sz="1250" dirty="0"/>
          </a:p>
          <a:p>
            <a:pPr marL="177800" indent="-177800">
              <a:lnSpc>
                <a:spcPct val="110000"/>
              </a:lnSpc>
              <a:spcAft>
                <a:spcPts val="600"/>
              </a:spcAft>
              <a:buSzPct val="100000"/>
              <a:buChar char="▪"/>
            </a:pPr>
            <a:r>
              <a:rPr lang="en-US" sz="1250" dirty="0">
                <a:solidFill>
                  <a:srgbClr val="DCE6F3"/>
                </a:solidFill>
                <a:latin typeface="Calibri" pitchFamily="34" charset="0"/>
                <a:ea typeface="Calibri" pitchFamily="34" charset="-122"/>
                <a:cs typeface="Calibri" pitchFamily="34" charset="-120"/>
              </a:rPr>
              <a:t>Clifford elements are fully determined, up to global phase, by their conjugation action on the Pauli generators — an exact, classically tractable representation (Gottesman 1998; Aaronson &amp; Gottesman 2004).</a:t>
            </a:r>
            <a:endParaRPr lang="en-US" sz="1250" dirty="0"/>
          </a:p>
          <a:p>
            <a:pPr marL="177800" indent="-177800">
              <a:lnSpc>
                <a:spcPct val="110000"/>
              </a:lnSpc>
              <a:spcAft>
                <a:spcPts val="1000"/>
              </a:spcAft>
              <a:buSzPct val="100000"/>
              <a:buChar char="▪"/>
            </a:pPr>
            <a:r>
              <a:rPr lang="en-US" sz="1250" b="1" dirty="0">
                <a:solidFill>
                  <a:srgbClr val="E8B94B"/>
                </a:solidFill>
                <a:latin typeface="Calibri" pitchFamily="34" charset="0"/>
                <a:ea typeface="Calibri" pitchFamily="34" charset="-122"/>
                <a:cs typeface="Calibri" pitchFamily="34" charset="-120"/>
              </a:rPr>
              <a:t>This single fact is what makes the exact engine in Section II possible.</a:t>
            </a:r>
            <a:endParaRPr lang="en-US" sz="1250" dirty="0"/>
          </a:p>
        </p:txBody>
      </p:sp>
      <p:sp>
        <p:nvSpPr>
          <p:cNvPr id="26" name="Text 24"/>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27" name="Text 25"/>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Gate Set II — the NISQ Pool</a:t>
            </a:r>
            <a:endParaRPr lang="en-US" sz="2900" dirty="0"/>
          </a:p>
        </p:txBody>
      </p:sp>
      <p:sp>
        <p:nvSpPr>
          <p:cNvPr id="6" name="Text 4"/>
          <p:cNvSpPr/>
          <p:nvPr/>
        </p:nvSpPr>
        <p:spPr>
          <a:xfrm>
            <a:off x="548640" y="1572768"/>
            <a:ext cx="11094415" cy="365760"/>
          </a:xfrm>
          <a:prstGeom prst="rect">
            <a:avLst/>
          </a:prstGeom>
          <a:noFill/>
          <a:ln/>
        </p:spPr>
        <p:txBody>
          <a:bodyPr wrap="square" lIns="0" tIns="0" rIns="0" bIns="0" rtlCol="0" anchor="ctr"/>
          <a:lstStyle/>
          <a:p>
            <a:pPr indent="0" marL="0">
              <a:buNone/>
            </a:pPr>
            <a:r>
              <a:rPr lang="en-US" sz="1350" dirty="0">
                <a:solidFill>
                  <a:srgbClr val="2A3648"/>
                </a:solidFill>
                <a:latin typeface="Calibri" pitchFamily="34" charset="0"/>
                <a:ea typeface="Calibri" pitchFamily="34" charset="-122"/>
                <a:cs typeface="Calibri" pitchFamily="34" charset="-120"/>
              </a:rPr>
              <a:t>Matches an IBM-style native gate set. Two of its four single-qubit angles are non-Clifford:</a:t>
            </a:r>
            <a:endParaRPr lang="en-US" sz="1350" dirty="0"/>
          </a:p>
        </p:txBody>
      </p:sp>
      <p:sp>
        <p:nvSpPr>
          <p:cNvPr id="7" name="Shape 5"/>
          <p:cNvSpPr/>
          <p:nvPr/>
        </p:nvSpPr>
        <p:spPr>
          <a:xfrm>
            <a:off x="548640" y="2103120"/>
            <a:ext cx="3515258" cy="1417320"/>
          </a:xfrm>
          <a:prstGeom prst="roundRect">
            <a:avLst>
              <a:gd name="adj" fmla="val 5161"/>
            </a:avLst>
          </a:prstGeom>
          <a:solidFill>
            <a:srgbClr val="F4F7FB"/>
          </a:solidFill>
          <a:ln w="12700">
            <a:solidFill>
              <a:srgbClr val="D7E0EA"/>
            </a:solidFill>
            <a:prstDash val="solid"/>
          </a:ln>
        </p:spPr>
      </p:sp>
      <p:sp>
        <p:nvSpPr>
          <p:cNvPr id="8" name="Text 6"/>
          <p:cNvSpPr/>
          <p:nvPr/>
        </p:nvSpPr>
        <p:spPr>
          <a:xfrm>
            <a:off x="548640" y="2249424"/>
            <a:ext cx="3515258" cy="365760"/>
          </a:xfrm>
          <a:prstGeom prst="rect">
            <a:avLst/>
          </a:prstGeom>
          <a:noFill/>
          <a:ln/>
        </p:spPr>
        <p:txBody>
          <a:bodyPr wrap="square" lIns="0" tIns="0" rIns="0" bIns="0" rtlCol="0" anchor="ctr"/>
          <a:lstStyle/>
          <a:p>
            <a:pPr algn="ctr" indent="0" marL="0">
              <a:buNone/>
            </a:pPr>
            <a:r>
              <a:rPr lang="en-US" sz="1700" b="1" dirty="0">
                <a:solidFill>
                  <a:srgbClr val="0B1F3A"/>
                </a:solidFill>
                <a:latin typeface="Courier New" pitchFamily="34" charset="0"/>
                <a:ea typeface="Courier New" pitchFamily="34" charset="-122"/>
                <a:cs typeface="Courier New" pitchFamily="34" charset="-120"/>
              </a:rPr>
              <a:t>RX(θ)</a:t>
            </a:r>
            <a:endParaRPr lang="en-US" sz="1700" dirty="0"/>
          </a:p>
        </p:txBody>
      </p:sp>
      <p:sp>
        <p:nvSpPr>
          <p:cNvPr id="9" name="Text 7"/>
          <p:cNvSpPr/>
          <p:nvPr/>
        </p:nvSpPr>
        <p:spPr>
          <a:xfrm>
            <a:off x="548640" y="2724912"/>
            <a:ext cx="3515258" cy="365760"/>
          </a:xfrm>
          <a:prstGeom prst="rect">
            <a:avLst/>
          </a:prstGeom>
          <a:noFill/>
          <a:ln/>
        </p:spPr>
        <p:txBody>
          <a:bodyPr wrap="square" lIns="0" tIns="0" rIns="0" bIns="0" rtlCol="0" anchor="ctr"/>
          <a:lstStyle/>
          <a:p>
            <a:pPr algn="ctr" indent="0" marL="0">
              <a:buNone/>
            </a:pPr>
            <a:r>
              <a:rPr lang="en-US" sz="1250" dirty="0">
                <a:solidFill>
                  <a:srgbClr val="2A3648"/>
                </a:solidFill>
                <a:latin typeface="Courier New" pitchFamily="34" charset="0"/>
                <a:ea typeface="Courier New" pitchFamily="34" charset="-122"/>
                <a:cs typeface="Courier New" pitchFamily="34" charset="-120"/>
              </a:rPr>
              <a:t>θ ∈ {±π/2, ±π/4}</a:t>
            </a:r>
            <a:endParaRPr lang="en-US" sz="1250" dirty="0"/>
          </a:p>
        </p:txBody>
      </p:sp>
      <p:sp>
        <p:nvSpPr>
          <p:cNvPr id="10" name="Text 8"/>
          <p:cNvSpPr/>
          <p:nvPr/>
        </p:nvSpPr>
        <p:spPr>
          <a:xfrm>
            <a:off x="548640" y="3145536"/>
            <a:ext cx="3515258" cy="274320"/>
          </a:xfrm>
          <a:prstGeom prst="rect">
            <a:avLst/>
          </a:prstGeom>
          <a:noFill/>
          <a:ln/>
        </p:spPr>
        <p:txBody>
          <a:bodyPr wrap="square" lIns="0" tIns="0" rIns="0" bIns="0" rtlCol="0" anchor="ctr"/>
          <a:lstStyle/>
          <a:p>
            <a:pPr algn="ctr" indent="0" marL="0">
              <a:buNone/>
            </a:pPr>
            <a:r>
              <a:rPr lang="en-US" sz="950" i="1" dirty="0">
                <a:solidFill>
                  <a:srgbClr val="5B6B82"/>
                </a:solidFill>
                <a:latin typeface="Calibri" pitchFamily="34" charset="0"/>
                <a:ea typeface="Calibri" pitchFamily="34" charset="-122"/>
                <a:cs typeface="Calibri" pitchFamily="34" charset="-120"/>
              </a:rPr>
              <a:t>single-qubit</a:t>
            </a:r>
            <a:endParaRPr lang="en-US" sz="950" dirty="0"/>
          </a:p>
        </p:txBody>
      </p:sp>
      <p:sp>
        <p:nvSpPr>
          <p:cNvPr id="11" name="Shape 9"/>
          <p:cNvSpPr/>
          <p:nvPr/>
        </p:nvSpPr>
        <p:spPr>
          <a:xfrm>
            <a:off x="4338218" y="2103120"/>
            <a:ext cx="3515258" cy="1417320"/>
          </a:xfrm>
          <a:prstGeom prst="roundRect">
            <a:avLst>
              <a:gd name="adj" fmla="val 5161"/>
            </a:avLst>
          </a:prstGeom>
          <a:solidFill>
            <a:srgbClr val="F4F7FB"/>
          </a:solidFill>
          <a:ln w="12700">
            <a:solidFill>
              <a:srgbClr val="D7E0EA"/>
            </a:solidFill>
            <a:prstDash val="solid"/>
          </a:ln>
        </p:spPr>
      </p:sp>
      <p:sp>
        <p:nvSpPr>
          <p:cNvPr id="12" name="Text 10"/>
          <p:cNvSpPr/>
          <p:nvPr/>
        </p:nvSpPr>
        <p:spPr>
          <a:xfrm>
            <a:off x="4338218" y="2249424"/>
            <a:ext cx="3515258" cy="365760"/>
          </a:xfrm>
          <a:prstGeom prst="rect">
            <a:avLst/>
          </a:prstGeom>
          <a:noFill/>
          <a:ln/>
        </p:spPr>
        <p:txBody>
          <a:bodyPr wrap="square" lIns="0" tIns="0" rIns="0" bIns="0" rtlCol="0" anchor="ctr"/>
          <a:lstStyle/>
          <a:p>
            <a:pPr algn="ctr" indent="0" marL="0">
              <a:buNone/>
            </a:pPr>
            <a:r>
              <a:rPr lang="en-US" sz="1700" b="1" dirty="0">
                <a:solidFill>
                  <a:srgbClr val="0B1F3A"/>
                </a:solidFill>
                <a:latin typeface="Courier New" pitchFamily="34" charset="0"/>
                <a:ea typeface="Courier New" pitchFamily="34" charset="-122"/>
                <a:cs typeface="Courier New" pitchFamily="34" charset="-120"/>
              </a:rPr>
              <a:t>RZ(θ)</a:t>
            </a:r>
            <a:endParaRPr lang="en-US" sz="1700" dirty="0"/>
          </a:p>
        </p:txBody>
      </p:sp>
      <p:sp>
        <p:nvSpPr>
          <p:cNvPr id="13" name="Text 11"/>
          <p:cNvSpPr/>
          <p:nvPr/>
        </p:nvSpPr>
        <p:spPr>
          <a:xfrm>
            <a:off x="4338218" y="2724912"/>
            <a:ext cx="3515258" cy="365760"/>
          </a:xfrm>
          <a:prstGeom prst="rect">
            <a:avLst/>
          </a:prstGeom>
          <a:noFill/>
          <a:ln/>
        </p:spPr>
        <p:txBody>
          <a:bodyPr wrap="square" lIns="0" tIns="0" rIns="0" bIns="0" rtlCol="0" anchor="ctr"/>
          <a:lstStyle/>
          <a:p>
            <a:pPr algn="ctr" indent="0" marL="0">
              <a:buNone/>
            </a:pPr>
            <a:r>
              <a:rPr lang="en-US" sz="1250" dirty="0">
                <a:solidFill>
                  <a:srgbClr val="2A3648"/>
                </a:solidFill>
                <a:latin typeface="Courier New" pitchFamily="34" charset="0"/>
                <a:ea typeface="Courier New" pitchFamily="34" charset="-122"/>
                <a:cs typeface="Courier New" pitchFamily="34" charset="-120"/>
              </a:rPr>
              <a:t>θ ∈ {±π/2, ±π/4}</a:t>
            </a:r>
            <a:endParaRPr lang="en-US" sz="1250" dirty="0"/>
          </a:p>
        </p:txBody>
      </p:sp>
      <p:sp>
        <p:nvSpPr>
          <p:cNvPr id="14" name="Text 12"/>
          <p:cNvSpPr/>
          <p:nvPr/>
        </p:nvSpPr>
        <p:spPr>
          <a:xfrm>
            <a:off x="4338218" y="3145536"/>
            <a:ext cx="3515258" cy="274320"/>
          </a:xfrm>
          <a:prstGeom prst="rect">
            <a:avLst/>
          </a:prstGeom>
          <a:noFill/>
          <a:ln/>
        </p:spPr>
        <p:txBody>
          <a:bodyPr wrap="square" lIns="0" tIns="0" rIns="0" bIns="0" rtlCol="0" anchor="ctr"/>
          <a:lstStyle/>
          <a:p>
            <a:pPr algn="ctr" indent="0" marL="0">
              <a:buNone/>
            </a:pPr>
            <a:r>
              <a:rPr lang="en-US" sz="950" i="1" dirty="0">
                <a:solidFill>
                  <a:srgbClr val="5B6B82"/>
                </a:solidFill>
                <a:latin typeface="Calibri" pitchFamily="34" charset="0"/>
                <a:ea typeface="Calibri" pitchFamily="34" charset="-122"/>
                <a:cs typeface="Calibri" pitchFamily="34" charset="-120"/>
              </a:rPr>
              <a:t>single-qubit</a:t>
            </a:r>
            <a:endParaRPr lang="en-US" sz="950" dirty="0"/>
          </a:p>
        </p:txBody>
      </p:sp>
      <p:sp>
        <p:nvSpPr>
          <p:cNvPr id="15" name="Shape 13"/>
          <p:cNvSpPr/>
          <p:nvPr/>
        </p:nvSpPr>
        <p:spPr>
          <a:xfrm>
            <a:off x="8127797" y="2103120"/>
            <a:ext cx="3515258" cy="1417320"/>
          </a:xfrm>
          <a:prstGeom prst="roundRect">
            <a:avLst>
              <a:gd name="adj" fmla="val 5161"/>
            </a:avLst>
          </a:prstGeom>
          <a:solidFill>
            <a:srgbClr val="F4F7FB"/>
          </a:solidFill>
          <a:ln w="12700">
            <a:solidFill>
              <a:srgbClr val="D7E0EA"/>
            </a:solidFill>
            <a:prstDash val="solid"/>
          </a:ln>
        </p:spPr>
      </p:sp>
      <p:sp>
        <p:nvSpPr>
          <p:cNvPr id="16" name="Text 14"/>
          <p:cNvSpPr/>
          <p:nvPr/>
        </p:nvSpPr>
        <p:spPr>
          <a:xfrm>
            <a:off x="8127797" y="2249424"/>
            <a:ext cx="3515258" cy="365760"/>
          </a:xfrm>
          <a:prstGeom prst="rect">
            <a:avLst/>
          </a:prstGeom>
          <a:noFill/>
          <a:ln/>
        </p:spPr>
        <p:txBody>
          <a:bodyPr wrap="square" lIns="0" tIns="0" rIns="0" bIns="0" rtlCol="0" anchor="ctr"/>
          <a:lstStyle/>
          <a:p>
            <a:pPr algn="ctr" indent="0" marL="0">
              <a:buNone/>
            </a:pPr>
            <a:r>
              <a:rPr lang="en-US" sz="1700" b="1" dirty="0">
                <a:solidFill>
                  <a:srgbClr val="0B1F3A"/>
                </a:solidFill>
                <a:latin typeface="Courier New" pitchFamily="34" charset="0"/>
                <a:ea typeface="Courier New" pitchFamily="34" charset="-122"/>
                <a:cs typeface="Courier New" pitchFamily="34" charset="-120"/>
              </a:rPr>
              <a:t>CZ</a:t>
            </a:r>
            <a:endParaRPr lang="en-US" sz="1700" dirty="0"/>
          </a:p>
        </p:txBody>
      </p:sp>
      <p:sp>
        <p:nvSpPr>
          <p:cNvPr id="17" name="Text 15"/>
          <p:cNvSpPr/>
          <p:nvPr/>
        </p:nvSpPr>
        <p:spPr>
          <a:xfrm>
            <a:off x="8127797" y="2724912"/>
            <a:ext cx="3515258" cy="365760"/>
          </a:xfrm>
          <a:prstGeom prst="rect">
            <a:avLst/>
          </a:prstGeom>
          <a:noFill/>
          <a:ln/>
        </p:spPr>
        <p:txBody>
          <a:bodyPr wrap="square" lIns="0" tIns="0" rIns="0" bIns="0" rtlCol="0" anchor="ctr"/>
          <a:lstStyle/>
          <a:p>
            <a:pPr algn="ctr" indent="0" marL="0">
              <a:buNone/>
            </a:pPr>
            <a:r>
              <a:rPr lang="en-US" sz="1250" dirty="0">
                <a:solidFill>
                  <a:srgbClr val="2A3648"/>
                </a:solidFill>
                <a:latin typeface="Courier New" pitchFamily="34" charset="0"/>
                <a:ea typeface="Courier New" pitchFamily="34" charset="-122"/>
                <a:cs typeface="Courier New" pitchFamily="34" charset="-120"/>
              </a:rPr>
              <a:t>diag(1, 1, 1, −1)</a:t>
            </a:r>
            <a:endParaRPr lang="en-US" sz="1250" dirty="0"/>
          </a:p>
        </p:txBody>
      </p:sp>
      <p:sp>
        <p:nvSpPr>
          <p:cNvPr id="18" name="Text 16"/>
          <p:cNvSpPr/>
          <p:nvPr/>
        </p:nvSpPr>
        <p:spPr>
          <a:xfrm>
            <a:off x="8127797" y="3145536"/>
            <a:ext cx="3515258" cy="274320"/>
          </a:xfrm>
          <a:prstGeom prst="rect">
            <a:avLst/>
          </a:prstGeom>
          <a:noFill/>
          <a:ln/>
        </p:spPr>
        <p:txBody>
          <a:bodyPr wrap="square" lIns="0" tIns="0" rIns="0" bIns="0" rtlCol="0" anchor="ctr"/>
          <a:lstStyle/>
          <a:p>
            <a:pPr algn="ctr" indent="0" marL="0">
              <a:buNone/>
            </a:pPr>
            <a:r>
              <a:rPr lang="en-US" sz="950" i="1" dirty="0">
                <a:solidFill>
                  <a:srgbClr val="5B6B82"/>
                </a:solidFill>
                <a:latin typeface="Calibri" pitchFamily="34" charset="0"/>
                <a:ea typeface="Calibri" pitchFamily="34" charset="-122"/>
                <a:cs typeface="Calibri" pitchFamily="34" charset="-120"/>
              </a:rPr>
              <a:t>two-qubit, fixed</a:t>
            </a:r>
            <a:endParaRPr lang="en-US" sz="950" dirty="0"/>
          </a:p>
        </p:txBody>
      </p:sp>
      <p:sp>
        <p:nvSpPr>
          <p:cNvPr id="19" name="Shape 17"/>
          <p:cNvSpPr/>
          <p:nvPr/>
        </p:nvSpPr>
        <p:spPr>
          <a:xfrm>
            <a:off x="548640" y="3794760"/>
            <a:ext cx="11094415" cy="2286000"/>
          </a:xfrm>
          <a:prstGeom prst="roundRect">
            <a:avLst>
              <a:gd name="adj" fmla="val 3200"/>
            </a:avLst>
          </a:prstGeom>
          <a:solidFill>
            <a:srgbClr val="F3E7D2"/>
          </a:solidFill>
          <a:ln/>
        </p:spPr>
      </p:sp>
      <p:sp>
        <p:nvSpPr>
          <p:cNvPr id="20" name="Text 18"/>
          <p:cNvSpPr/>
          <p:nvPr/>
        </p:nvSpPr>
        <p:spPr>
          <a:xfrm>
            <a:off x="822960" y="3950208"/>
            <a:ext cx="10545775" cy="365760"/>
          </a:xfrm>
          <a:prstGeom prst="rect">
            <a:avLst/>
          </a:prstGeom>
          <a:noFill/>
          <a:ln/>
        </p:spPr>
        <p:txBody>
          <a:bodyPr wrap="square" lIns="0" tIns="0" rIns="0" bIns="0" rtlCol="0" anchor="ctr"/>
          <a:lstStyle/>
          <a:p>
            <a:pPr indent="0" marL="0">
              <a:buNone/>
            </a:pPr>
            <a:r>
              <a:rPr lang="en-US" sz="1600" b="1" dirty="0">
                <a:solidFill>
                  <a:srgbClr val="9C6510"/>
                </a:solidFill>
                <a:latin typeface="Cambria" pitchFamily="34" charset="0"/>
                <a:ea typeface="Cambria" pitchFamily="34" charset="-122"/>
                <a:cs typeface="Cambria" pitchFamily="34" charset="-120"/>
              </a:rPr>
              <a:t>±π/4 breaks the Clifford structure.</a:t>
            </a:r>
            <a:endParaRPr lang="en-US" sz="1600" dirty="0"/>
          </a:p>
        </p:txBody>
      </p:sp>
      <p:sp>
        <p:nvSpPr>
          <p:cNvPr id="21" name="Text 19"/>
          <p:cNvSpPr/>
          <p:nvPr/>
        </p:nvSpPr>
        <p:spPr>
          <a:xfrm>
            <a:off x="822960" y="4315968"/>
            <a:ext cx="10545775" cy="4389120"/>
          </a:xfrm>
          <a:prstGeom prst="rect">
            <a:avLst/>
          </a:prstGeom>
          <a:noFill/>
          <a:ln/>
        </p:spPr>
        <p:txBody>
          <a:bodyPr wrap="square" rtlCol="0" anchor="t"/>
          <a:lstStyle/>
          <a:p>
            <a:pPr marL="177800" indent="-177800">
              <a:lnSpc>
                <a:spcPct val="112000"/>
              </a:lnSpc>
              <a:spcAft>
                <a:spcPts val="600"/>
              </a:spcAft>
              <a:buSzPct val="100000"/>
              <a:buChar char="▪"/>
            </a:pPr>
            <a:r>
              <a:rPr lang="en-US" sz="1200" dirty="0">
                <a:solidFill>
                  <a:srgbClr val="2A3648"/>
                </a:solidFill>
                <a:latin typeface="Calibri" pitchFamily="34" charset="0"/>
                <a:ea typeface="Calibri" pitchFamily="34" charset="-122"/>
                <a:cs typeface="Calibri" pitchFamily="34" charset="-120"/>
              </a:rPr>
              <a:t>The ±π/4 rotations are T-like gates — they lie outside the Clifford group, so the pool as a whole is not efficiently trackable by a stabilizer tableau.</a:t>
            </a:r>
            <a:endParaRPr lang="en-US" sz="1200" dirty="0"/>
          </a:p>
          <a:p>
            <a:pPr marL="177800" indent="-177800">
              <a:lnSpc>
                <a:spcPct val="112000"/>
              </a:lnSpc>
              <a:spcAft>
                <a:spcPts val="600"/>
              </a:spcAft>
              <a:buSzPct val="100000"/>
              <a:buChar char="▪"/>
            </a:pPr>
            <a:r>
              <a:rPr lang="en-US" sz="1200" dirty="0">
                <a:solidFill>
                  <a:srgbClr val="2A3648"/>
                </a:solidFill>
                <a:latin typeface="Calibri" pitchFamily="34" charset="0"/>
                <a:ea typeface="Calibri" pitchFamily="34" charset="-122"/>
                <a:cs typeface="Calibri" pitchFamily="34" charset="-120"/>
              </a:rPr>
              <a:t>Consequently the exact symplectic engine (Section II) does not apply here at all; reduction must fall back to floating-point unitary comparison at a numerical tolerance.</a:t>
            </a:r>
            <a:endParaRPr lang="en-US" sz="1200" dirty="0"/>
          </a:p>
          <a:p>
            <a:pPr marL="177800" indent="-177800">
              <a:lnSpc>
                <a:spcPct val="112000"/>
              </a:lnSpc>
              <a:spcAft>
                <a:spcPts val="600"/>
              </a:spcAft>
              <a:buSzPct val="100000"/>
              <a:buChar char="▪"/>
            </a:pPr>
            <a:r>
              <a:rPr lang="en-US" sz="1200" b="1" dirty="0">
                <a:solidFill>
                  <a:srgbClr val="2A3648"/>
                </a:solidFill>
                <a:latin typeface="Calibri" pitchFamily="34" charset="0"/>
                <a:ea typeface="Calibri" pitchFamily="34" charset="-122"/>
                <a:cs typeface="Calibri" pitchFamily="34" charset="-120"/>
              </a:rPr>
              <a:t>The compute graph is intrinsically larger at every depth than the ion-trap pool's, for the same reason it is harder to search — more distinct reachable unitaries per node explored.</a:t>
            </a:r>
            <a:endParaRPr lang="en-US" sz="1200" dirty="0"/>
          </a:p>
        </p:txBody>
      </p:sp>
      <p:sp>
        <p:nvSpPr>
          <p:cNvPr id="22" name="Text 20"/>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23" name="Text 21"/>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The Paper's Evaluation Protocol</a:t>
            </a:r>
            <a:endParaRPr lang="en-US" sz="2900" dirty="0"/>
          </a:p>
        </p:txBody>
      </p:sp>
      <p:sp>
        <p:nvSpPr>
          <p:cNvPr id="4" name="Shape 2"/>
          <p:cNvSpPr/>
          <p:nvPr/>
        </p:nvSpPr>
        <p:spPr>
          <a:xfrm>
            <a:off x="548640" y="1572768"/>
            <a:ext cx="2567864" cy="1234440"/>
          </a:xfrm>
          <a:prstGeom prst="roundRect">
            <a:avLst>
              <a:gd name="adj" fmla="val 5926"/>
            </a:avLst>
          </a:prstGeom>
          <a:solidFill>
            <a:srgbClr val="EAF0F7"/>
          </a:solidFill>
          <a:ln w="12700">
            <a:solidFill>
              <a:srgbClr val="D7E0EA"/>
            </a:solidFill>
            <a:prstDash val="solid"/>
          </a:ln>
        </p:spPr>
      </p:sp>
      <p:sp>
        <p:nvSpPr>
          <p:cNvPr id="5" name="Text 3"/>
          <p:cNvSpPr/>
          <p:nvPr/>
        </p:nvSpPr>
        <p:spPr>
          <a:xfrm>
            <a:off x="621792" y="1664208"/>
            <a:ext cx="2421560" cy="715975"/>
          </a:xfrm>
          <a:prstGeom prst="rect">
            <a:avLst/>
          </a:prstGeom>
          <a:noFill/>
          <a:ln/>
        </p:spPr>
        <p:txBody>
          <a:bodyPr wrap="square" lIns="0" tIns="0" rIns="0" bIns="0" rtlCol="0" anchor="b"/>
          <a:lstStyle/>
          <a:p>
            <a:pPr algn="ctr" indent="0" marL="0">
              <a:buNone/>
            </a:pPr>
            <a:r>
              <a:rPr lang="en-US" sz="3000" b="1" dirty="0">
                <a:solidFill>
                  <a:srgbClr val="9C6510"/>
                </a:solidFill>
                <a:latin typeface="Cambria" pitchFamily="34" charset="0"/>
                <a:ea typeface="Cambria" pitchFamily="34" charset="-122"/>
                <a:cs typeface="Cambria" pitchFamily="34" charset="-120"/>
              </a:rPr>
              <a:t>4</a:t>
            </a:r>
            <a:endParaRPr lang="en-US" sz="3000" dirty="0"/>
          </a:p>
        </p:txBody>
      </p:sp>
      <p:sp>
        <p:nvSpPr>
          <p:cNvPr id="6" name="Text 4"/>
          <p:cNvSpPr/>
          <p:nvPr/>
        </p:nvSpPr>
        <p:spPr>
          <a:xfrm>
            <a:off x="621792" y="2343607"/>
            <a:ext cx="2421560" cy="469087"/>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qubits, fixed width</a:t>
            </a:r>
            <a:endParaRPr lang="en-US" sz="1050" dirty="0"/>
          </a:p>
        </p:txBody>
      </p:sp>
      <p:sp>
        <p:nvSpPr>
          <p:cNvPr id="7" name="Shape 5"/>
          <p:cNvSpPr/>
          <p:nvPr/>
        </p:nvSpPr>
        <p:spPr>
          <a:xfrm>
            <a:off x="3390824" y="1572768"/>
            <a:ext cx="2567864" cy="1234440"/>
          </a:xfrm>
          <a:prstGeom prst="roundRect">
            <a:avLst>
              <a:gd name="adj" fmla="val 5926"/>
            </a:avLst>
          </a:prstGeom>
          <a:solidFill>
            <a:srgbClr val="EAF0F7"/>
          </a:solidFill>
          <a:ln w="12700">
            <a:solidFill>
              <a:srgbClr val="D7E0EA"/>
            </a:solidFill>
            <a:prstDash val="solid"/>
          </a:ln>
        </p:spPr>
      </p:sp>
      <p:sp>
        <p:nvSpPr>
          <p:cNvPr id="8" name="Text 6"/>
          <p:cNvSpPr/>
          <p:nvPr/>
        </p:nvSpPr>
        <p:spPr>
          <a:xfrm>
            <a:off x="3463976" y="1664208"/>
            <a:ext cx="2421560" cy="715975"/>
          </a:xfrm>
          <a:prstGeom prst="rect">
            <a:avLst/>
          </a:prstGeom>
          <a:noFill/>
          <a:ln/>
        </p:spPr>
        <p:txBody>
          <a:bodyPr wrap="square" lIns="0" tIns="0" rIns="0" bIns="0" rtlCol="0" anchor="b"/>
          <a:lstStyle/>
          <a:p>
            <a:pPr algn="ctr" indent="0" marL="0">
              <a:buNone/>
            </a:pPr>
            <a:r>
              <a:rPr lang="en-US" sz="3000" b="1" dirty="0">
                <a:solidFill>
                  <a:srgbClr val="9C6510"/>
                </a:solidFill>
                <a:latin typeface="Cambria" pitchFamily="34" charset="0"/>
                <a:ea typeface="Cambria" pitchFamily="34" charset="-122"/>
                <a:cs typeface="Cambria" pitchFamily="34" charset="-120"/>
              </a:rPr>
              <a:t>100–300</a:t>
            </a:r>
            <a:endParaRPr lang="en-US" sz="3000" dirty="0"/>
          </a:p>
        </p:txBody>
      </p:sp>
      <p:sp>
        <p:nvSpPr>
          <p:cNvPr id="9" name="Text 7"/>
          <p:cNvSpPr/>
          <p:nvPr/>
        </p:nvSpPr>
        <p:spPr>
          <a:xfrm>
            <a:off x="3463976" y="2343607"/>
            <a:ext cx="2421560" cy="469087"/>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gates per random circuit</a:t>
            </a:r>
            <a:endParaRPr lang="en-US" sz="1050" dirty="0"/>
          </a:p>
        </p:txBody>
      </p:sp>
      <p:sp>
        <p:nvSpPr>
          <p:cNvPr id="10" name="Shape 8"/>
          <p:cNvSpPr/>
          <p:nvPr/>
        </p:nvSpPr>
        <p:spPr>
          <a:xfrm>
            <a:off x="6233008" y="1572768"/>
            <a:ext cx="2567864" cy="1234440"/>
          </a:xfrm>
          <a:prstGeom prst="roundRect">
            <a:avLst>
              <a:gd name="adj" fmla="val 5926"/>
            </a:avLst>
          </a:prstGeom>
          <a:solidFill>
            <a:srgbClr val="EAF0F7"/>
          </a:solidFill>
          <a:ln w="12700">
            <a:solidFill>
              <a:srgbClr val="D7E0EA"/>
            </a:solidFill>
            <a:prstDash val="solid"/>
          </a:ln>
        </p:spPr>
      </p:sp>
      <p:sp>
        <p:nvSpPr>
          <p:cNvPr id="11" name="Text 9"/>
          <p:cNvSpPr/>
          <p:nvPr/>
        </p:nvSpPr>
        <p:spPr>
          <a:xfrm>
            <a:off x="6306160" y="1664208"/>
            <a:ext cx="2421560" cy="715975"/>
          </a:xfrm>
          <a:prstGeom prst="rect">
            <a:avLst/>
          </a:prstGeom>
          <a:noFill/>
          <a:ln/>
        </p:spPr>
        <p:txBody>
          <a:bodyPr wrap="square" lIns="0" tIns="0" rIns="0" bIns="0" rtlCol="0" anchor="b"/>
          <a:lstStyle/>
          <a:p>
            <a:pPr algn="ctr" indent="0" marL="0">
              <a:buNone/>
            </a:pPr>
            <a:r>
              <a:rPr lang="en-US" sz="3000" b="1" dirty="0">
                <a:solidFill>
                  <a:srgbClr val="9C6510"/>
                </a:solidFill>
                <a:latin typeface="Cambria" pitchFamily="34" charset="0"/>
                <a:ea typeface="Cambria" pitchFamily="34" charset="-122"/>
                <a:cs typeface="Cambria" pitchFamily="34" charset="-120"/>
              </a:rPr>
              <a:t>100</a:t>
            </a:r>
            <a:endParaRPr lang="en-US" sz="3000" dirty="0"/>
          </a:p>
        </p:txBody>
      </p:sp>
      <p:sp>
        <p:nvSpPr>
          <p:cNvPr id="12" name="Text 10"/>
          <p:cNvSpPr/>
          <p:nvPr/>
        </p:nvSpPr>
        <p:spPr>
          <a:xfrm>
            <a:off x="6306160" y="2343607"/>
            <a:ext cx="2421560" cy="469087"/>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circuits per gate set, per method</a:t>
            </a:r>
            <a:endParaRPr lang="en-US" sz="1050" dirty="0"/>
          </a:p>
        </p:txBody>
      </p:sp>
      <p:sp>
        <p:nvSpPr>
          <p:cNvPr id="13" name="Shape 11"/>
          <p:cNvSpPr/>
          <p:nvPr/>
        </p:nvSpPr>
        <p:spPr>
          <a:xfrm>
            <a:off x="9075191" y="1572768"/>
            <a:ext cx="2567864" cy="1234440"/>
          </a:xfrm>
          <a:prstGeom prst="roundRect">
            <a:avLst>
              <a:gd name="adj" fmla="val 5926"/>
            </a:avLst>
          </a:prstGeom>
          <a:solidFill>
            <a:srgbClr val="EAF0F7"/>
          </a:solidFill>
          <a:ln w="12700">
            <a:solidFill>
              <a:srgbClr val="D7E0EA"/>
            </a:solidFill>
            <a:prstDash val="solid"/>
          </a:ln>
        </p:spPr>
      </p:sp>
      <p:sp>
        <p:nvSpPr>
          <p:cNvPr id="14" name="Text 12"/>
          <p:cNvSpPr/>
          <p:nvPr/>
        </p:nvSpPr>
        <p:spPr>
          <a:xfrm>
            <a:off x="9148343" y="1664208"/>
            <a:ext cx="2421560" cy="715975"/>
          </a:xfrm>
          <a:prstGeom prst="rect">
            <a:avLst/>
          </a:prstGeom>
          <a:noFill/>
          <a:ln/>
        </p:spPr>
        <p:txBody>
          <a:bodyPr wrap="square" lIns="0" tIns="0" rIns="0" bIns="0" rtlCol="0" anchor="b"/>
          <a:lstStyle/>
          <a:p>
            <a:pPr algn="ctr" indent="0" marL="0">
              <a:buNone/>
            </a:pPr>
            <a:r>
              <a:rPr lang="en-US" sz="3000" b="1" dirty="0">
                <a:solidFill>
                  <a:srgbClr val="9C6510"/>
                </a:solidFill>
                <a:latin typeface="Cambria" pitchFamily="34" charset="0"/>
                <a:ea typeface="Cambria" pitchFamily="34" charset="-122"/>
                <a:cs typeface="Cambria" pitchFamily="34" charset="-120"/>
              </a:rPr>
              <a:t>2</a:t>
            </a:r>
            <a:endParaRPr lang="en-US" sz="3000" dirty="0"/>
          </a:p>
        </p:txBody>
      </p:sp>
      <p:sp>
        <p:nvSpPr>
          <p:cNvPr id="15" name="Text 13"/>
          <p:cNvSpPr/>
          <p:nvPr/>
        </p:nvSpPr>
        <p:spPr>
          <a:xfrm>
            <a:off x="9148343" y="2343607"/>
            <a:ext cx="2421560" cy="469087"/>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IBM chips for hardware validation</a:t>
            </a:r>
            <a:endParaRPr lang="en-US" sz="1050" dirty="0"/>
          </a:p>
        </p:txBody>
      </p:sp>
      <p:sp>
        <p:nvSpPr>
          <p:cNvPr id="16" name="Text 14"/>
          <p:cNvSpPr/>
          <p:nvPr/>
        </p:nvSpPr>
        <p:spPr>
          <a:xfrm>
            <a:off x="548640" y="3127248"/>
            <a:ext cx="11094415" cy="4389120"/>
          </a:xfrm>
          <a:prstGeom prst="rect">
            <a:avLst/>
          </a:prstGeom>
          <a:noFill/>
          <a:ln/>
        </p:spPr>
        <p:txBody>
          <a:bodyPr wrap="square" rtlCol="0" anchor="t"/>
          <a:lstStyle/>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This thesis adopts the identical hundred-circuit, four-qubit, length-300 protocol — same gate sets, same input-composition targets, so every comparison in Section IV is apples to apples.</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Ion-trap circuits sample the gate pool uniformly; NISQ circuits weight CZ twice as heavily as RX or RZ, matching the published input composition.</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Two transpiler baselines are run on identical inputs throughout: Qiskit (optimization levels 1–3) and BQSKit (levels 2–4, where available).</a:t>
            </a:r>
            <a:endParaRPr lang="en-US" sz="1350" dirty="0"/>
          </a:p>
          <a:p>
            <a:pPr marL="177800" indent="-177800">
              <a:lnSpc>
                <a:spcPct val="112000"/>
              </a:lnSpc>
              <a:spcAft>
                <a:spcPts val="1000"/>
              </a:spcAft>
              <a:buSzPct val="100000"/>
              <a:buChar char="▪"/>
            </a:pPr>
            <a:r>
              <a:rPr lang="en-US" sz="1350" i="1" dirty="0">
                <a:solidFill>
                  <a:srgbClr val="5B6B82"/>
                </a:solidFill>
                <a:latin typeface="Calibri" pitchFamily="34" charset="0"/>
                <a:ea typeface="Calibri" pitchFamily="34" charset="-122"/>
                <a:cs typeface="Calibri" pitchFamily="34" charset="-120"/>
              </a:rPr>
              <a:t>Hardware validation on real IBM devices (Brisbane, Kyiv) is part of the source paper's own evaluation — and, as noted in the Limitations, is explicitly out of scope for this thesis, which is simulation-only throughout.</a:t>
            </a:r>
            <a:endParaRPr lang="en-US" sz="1350" dirty="0"/>
          </a:p>
        </p:txBody>
      </p:sp>
      <p:sp>
        <p:nvSpPr>
          <p:cNvPr id="17" name="Text 1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8" name="Text 1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Source Method — Token Chains &amp; Local Term Replacement</a:t>
            </a:r>
            <a:endParaRPr lang="en-US" sz="2900" dirty="0"/>
          </a:p>
        </p:txBody>
      </p:sp>
      <p:pic>
        <p:nvPicPr>
          <p:cNvPr id="4" name="Image 0" descr="C:/Users/kapoo/Downloads/QCR-Repro/figures/paper_figure3_variants.png">    </p:cNvPr>
          <p:cNvPicPr>
            <a:picLocks noChangeAspect="1"/>
          </p:cNvPicPr>
          <p:nvPr/>
        </p:nvPicPr>
        <p:blipFill>
          <a:blip r:embed="rId1"/>
          <a:stretch>
            <a:fillRect/>
          </a:stretch>
        </p:blipFill>
        <p:spPr>
          <a:xfrm>
            <a:off x="1975852" y="1572768"/>
            <a:ext cx="8239991" cy="2971800"/>
          </a:xfrm>
          <a:prstGeom prst="rect">
            <a:avLst/>
          </a:prstGeom>
        </p:spPr>
      </p:pic>
      <p:sp>
        <p:nvSpPr>
          <p:cNvPr id="5" name="Shape 2"/>
          <p:cNvSpPr/>
          <p:nvPr/>
        </p:nvSpPr>
        <p:spPr>
          <a:xfrm>
            <a:off x="1838692" y="1435608"/>
            <a:ext cx="8514311" cy="3246120"/>
          </a:xfrm>
          <a:prstGeom prst="roundRect">
            <a:avLst>
              <a:gd name="adj" fmla="val 2254"/>
            </a:avLst>
          </a:prstGeom>
          <a:solidFill>
            <a:srgbClr val="FFFFFF"/>
          </a:solidFill>
          <a:ln w="12700">
            <a:solidFill>
              <a:srgbClr val="D7E0EA"/>
            </a:solidFill>
            <a:prstDash val="solid"/>
          </a:ln>
        </p:spPr>
      </p:sp>
      <p:pic>
        <p:nvPicPr>
          <p:cNvPr id="6" name="Image 1" descr="C:/Users/kapoo/Downloads/QCR-Repro/figures/paper_figure3_variants.png">    </p:cNvPr>
          <p:cNvPicPr>
            <a:picLocks noChangeAspect="1"/>
          </p:cNvPicPr>
          <p:nvPr/>
        </p:nvPicPr>
        <p:blipFill>
          <a:blip r:embed="rId2"/>
          <a:stretch>
            <a:fillRect/>
          </a:stretch>
        </p:blipFill>
        <p:spPr>
          <a:xfrm>
            <a:off x="1975852" y="1572768"/>
            <a:ext cx="8239991" cy="2971800"/>
          </a:xfrm>
          <a:prstGeom prst="rect">
            <a:avLst/>
          </a:prstGeom>
        </p:spPr>
      </p:pic>
      <p:sp>
        <p:nvSpPr>
          <p:cNvPr id="7" name="Text 3"/>
          <p:cNvSpPr/>
          <p:nvPr/>
        </p:nvSpPr>
        <p:spPr>
          <a:xfrm>
            <a:off x="548640" y="4681728"/>
            <a:ext cx="11094415" cy="457200"/>
          </a:xfrm>
          <a:prstGeom prst="rect">
            <a:avLst/>
          </a:prstGeom>
          <a:noFill/>
          <a:ln/>
        </p:spPr>
        <p:txBody>
          <a:bodyPr wrap="square" lIns="0" tIns="0" rIns="0" bIns="0" rtlCol="0" anchor="t"/>
          <a:lstStyle/>
          <a:p>
            <a:pPr algn="ctr" indent="0" marL="0">
              <a:buNone/>
            </a:pPr>
            <a:r>
              <a:rPr lang="en-US" sz="1050" i="1" dirty="0">
                <a:solidFill>
                  <a:srgbClr val="5B6B82"/>
                </a:solidFill>
                <a:latin typeface="Calibri" pitchFamily="34" charset="0"/>
                <a:ea typeface="Calibri" pitchFamily="34" charset="-122"/>
                <a:cs typeface="Calibri" pitchFamily="34" charset="-120"/>
              </a:rPr>
              <a:t>Reproduced from Rosenhahn, Osborne &amp; Hirche (2025), Fig. 3.</a:t>
            </a:r>
            <a:endParaRPr lang="en-US" sz="1050" dirty="0"/>
          </a:p>
        </p:txBody>
      </p:sp>
      <p:sp>
        <p:nvSpPr>
          <p:cNvPr id="8" name="Text 4"/>
          <p:cNvSpPr/>
          <p:nvPr/>
        </p:nvSpPr>
        <p:spPr>
          <a:xfrm>
            <a:off x="548640" y="5047488"/>
            <a:ext cx="11094415" cy="4389120"/>
          </a:xfrm>
          <a:prstGeom prst="rect">
            <a:avLst/>
          </a:prstGeom>
          <a:noFill/>
          <a:ln/>
        </p:spPr>
        <p:txBody>
          <a:bodyPr wrap="square" rtlCol="0" anchor="t"/>
          <a:lstStyle/>
          <a:p>
            <a:pPr marL="177800" indent="-177800">
              <a:lnSpc>
                <a:spcPct val="112000"/>
              </a:lnSpc>
              <a:spcAft>
                <a:spcPts val="600"/>
              </a:spcAft>
              <a:buSzPct val="100000"/>
              <a:buChar char="▪"/>
            </a:pPr>
            <a:r>
              <a:rPr lang="en-US" sz="1200" dirty="0">
                <a:solidFill>
                  <a:srgbClr val="2A3648"/>
                </a:solidFill>
                <a:latin typeface="Calibri" pitchFamily="34" charset="0"/>
                <a:ea typeface="Calibri" pitchFamily="34" charset="-122"/>
                <a:cs typeface="Calibri" pitchFamily="34" charset="-120"/>
              </a:rPr>
              <a:t>A circuit is read as a 1D token chain: [RX(1), RX(1), RY(1), RZ(1), RXX(1,2), RY(1), RX(2), RXX(1,2)].  A sampled sub-block is replaced by a shorter chain realizing the identical unitary, whenever one is known.</a:t>
            </a:r>
            <a:endParaRPr lang="en-US" sz="1200" dirty="0"/>
          </a:p>
          <a:p>
            <a:pPr marL="177800" indent="-177800">
              <a:lnSpc>
                <a:spcPct val="112000"/>
              </a:lnSpc>
              <a:spcAft>
                <a:spcPts val="1000"/>
              </a:spcAft>
              <a:buSzPct val="100000"/>
              <a:buChar char="▪"/>
            </a:pPr>
            <a:r>
              <a:rPr lang="en-US" sz="1200" b="1" dirty="0">
                <a:solidFill>
                  <a:srgbClr val="2A3648"/>
                </a:solidFill>
                <a:latin typeface="Calibri" pitchFamily="34" charset="0"/>
                <a:ea typeface="Calibri" pitchFamily="34" charset="-122"/>
                <a:cs typeface="Calibri" pitchFamily="34" charset="-120"/>
              </a:rPr>
              <a:t>Where that shorter chain comes from is exactly what separates the three published variants — next slide.</a:t>
            </a:r>
            <a:endParaRPr lang="en-US" sz="1200" dirty="0"/>
          </a:p>
        </p:txBody>
      </p:sp>
      <p:sp>
        <p:nvSpPr>
          <p:cNvPr id="9" name="Text 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Source Method — Compute Graphs</a:t>
            </a:r>
            <a:endParaRPr lang="en-US" sz="2900" dirty="0"/>
          </a:p>
        </p:txBody>
      </p:sp>
      <p:sp>
        <p:nvSpPr>
          <p:cNvPr id="4" name="Text 2"/>
          <p:cNvSpPr/>
          <p:nvPr/>
        </p:nvSpPr>
        <p:spPr>
          <a:xfrm>
            <a:off x="548640" y="1572768"/>
            <a:ext cx="4572000" cy="4389120"/>
          </a:xfrm>
          <a:prstGeom prst="rect">
            <a:avLst/>
          </a:prstGeom>
          <a:noFill/>
          <a:ln/>
        </p:spPr>
        <p:txBody>
          <a:bodyPr wrap="square" rtlCol="0" anchor="t"/>
          <a:lstStyle/>
          <a:p>
            <a:pPr marL="177800" indent="-177800">
              <a:lnSpc>
                <a:spcPct val="112000"/>
              </a:lnSpc>
              <a:spcAft>
                <a:spcPts val="1200"/>
              </a:spcAft>
              <a:buSzPct val="100000"/>
              <a:buChar char="▪"/>
            </a:pPr>
            <a:r>
              <a:rPr lang="en-US" sz="1300" dirty="0">
                <a:solidFill>
                  <a:srgbClr val="2A3648"/>
                </a:solidFill>
                <a:latin typeface="Calibri" pitchFamily="34" charset="0"/>
                <a:ea typeface="Calibri" pitchFamily="34" charset="-122"/>
                <a:cs typeface="Calibri" pitchFamily="34" charset="-120"/>
              </a:rPr>
              <a:t>A compute graph is built once, offline, for a fixed gate pool and wire count: start from the identity, and explore every pool gate on every wire/pair, up to a fixed depth.</a:t>
            </a:r>
            <a:endParaRPr lang="en-US" sz="1300" dirty="0"/>
          </a:p>
          <a:p>
            <a:pPr marL="177800" indent="-177800">
              <a:lnSpc>
                <a:spcPct val="112000"/>
              </a:lnSpc>
              <a:spcAft>
                <a:spcPts val="1200"/>
              </a:spcAft>
              <a:buSzPct val="100000"/>
              <a:buChar char="▪"/>
            </a:pPr>
            <a:r>
              <a:rPr lang="en-US" sz="1300" dirty="0">
                <a:solidFill>
                  <a:srgbClr val="2A3648"/>
                </a:solidFill>
                <a:latin typeface="Calibri" pitchFamily="34" charset="0"/>
                <a:ea typeface="Calibri" pitchFamily="34" charset="-122"/>
                <a:cs typeface="Calibri" pitchFamily="34" charset="-120"/>
              </a:rPr>
              <a:t>Each node is a distinct reachable unitary; each edge is labeled by the elementary gate that produced it. A node stores the shortest token chain that reaches it.</a:t>
            </a:r>
            <a:endParaRPr lang="en-US" sz="1300" dirty="0"/>
          </a:p>
          <a:p>
            <a:pPr marL="177800" indent="-177800">
              <a:lnSpc>
                <a:spcPct val="112000"/>
              </a:lnSpc>
              <a:spcAft>
                <a:spcPts val="1200"/>
              </a:spcAft>
              <a:buSzPct val="100000"/>
              <a:buChar char="▪"/>
            </a:pPr>
            <a:r>
              <a:rPr lang="en-US" sz="1300" dirty="0">
                <a:solidFill>
                  <a:srgbClr val="2A3648"/>
                </a:solidFill>
                <a:latin typeface="Calibri" pitchFamily="34" charset="0"/>
                <a:ea typeface="Calibri" pitchFamily="34" charset="-122"/>
                <a:cs typeface="Calibri" pitchFamily="34" charset="-120"/>
              </a:rPr>
              <a:t>Growth is close to exponential in depth — node count roughly quadruples with each extra level for these pools, which is why every configuration in this thesis fixes a depth per wire count rather than searching to a uniform depth.</a:t>
            </a:r>
            <a:endParaRPr lang="en-US" sz="1300" dirty="0"/>
          </a:p>
          <a:p>
            <a:pPr marL="177800" indent="-177800">
              <a:lnSpc>
                <a:spcPct val="112000"/>
              </a:lnSpc>
              <a:spcAft>
                <a:spcPts val="1000"/>
              </a:spcAft>
              <a:buSzPct val="100000"/>
              <a:buChar char="▪"/>
            </a:pPr>
            <a:r>
              <a:rPr lang="en-US" sz="1300" b="1" dirty="0">
                <a:solidFill>
                  <a:srgbClr val="2A3648"/>
                </a:solidFill>
                <a:latin typeface="Calibri" pitchFamily="34" charset="0"/>
                <a:ea typeface="Calibri" pitchFamily="34" charset="-122"/>
                <a:cs typeface="Calibri" pitchFamily="34" charset="-120"/>
              </a:rPr>
              <a:t>A block spanning k wires only ever needs the k-wire graph, so graphs are built once per width and reused across every block of that width in every circuit.</a:t>
            </a:r>
            <a:endParaRPr lang="en-US" sz="1300" dirty="0"/>
          </a:p>
        </p:txBody>
      </p:sp>
      <p:pic>
        <p:nvPicPr>
          <p:cNvPr id="5" name="Image 0" descr="C:/Users/kapoo/Downloads/QCR-Repro/figures/paper_figure2_compute_graphs.png">    </p:cNvPr>
          <p:cNvPicPr>
            <a:picLocks noChangeAspect="1"/>
          </p:cNvPicPr>
          <p:nvPr/>
        </p:nvPicPr>
        <p:blipFill>
          <a:blip r:embed="rId1"/>
          <a:stretch>
            <a:fillRect/>
          </a:stretch>
        </p:blipFill>
        <p:spPr>
          <a:xfrm>
            <a:off x="5349240" y="1572768"/>
            <a:ext cx="6309360" cy="2723713"/>
          </a:xfrm>
          <a:prstGeom prst="rect">
            <a:avLst/>
          </a:prstGeom>
        </p:spPr>
      </p:pic>
      <p:sp>
        <p:nvSpPr>
          <p:cNvPr id="6" name="Shape 3"/>
          <p:cNvSpPr/>
          <p:nvPr/>
        </p:nvSpPr>
        <p:spPr>
          <a:xfrm>
            <a:off x="5212080" y="1435608"/>
            <a:ext cx="6583680" cy="2998033"/>
          </a:xfrm>
          <a:prstGeom prst="roundRect">
            <a:avLst>
              <a:gd name="adj" fmla="val 2440"/>
            </a:avLst>
          </a:prstGeom>
          <a:solidFill>
            <a:srgbClr val="FFFFFF"/>
          </a:solidFill>
          <a:ln w="12700">
            <a:solidFill>
              <a:srgbClr val="D7E0EA"/>
            </a:solidFill>
            <a:prstDash val="solid"/>
          </a:ln>
        </p:spPr>
      </p:sp>
      <p:pic>
        <p:nvPicPr>
          <p:cNvPr id="7" name="Image 1" descr="C:/Users/kapoo/Downloads/QCR-Repro/figures/paper_figure2_compute_graphs.png">    </p:cNvPr>
          <p:cNvPicPr>
            <a:picLocks noChangeAspect="1"/>
          </p:cNvPicPr>
          <p:nvPr/>
        </p:nvPicPr>
        <p:blipFill>
          <a:blip r:embed="rId2"/>
          <a:stretch>
            <a:fillRect/>
          </a:stretch>
        </p:blipFill>
        <p:spPr>
          <a:xfrm>
            <a:off x="5349240" y="1572768"/>
            <a:ext cx="6309360" cy="2723713"/>
          </a:xfrm>
          <a:prstGeom prst="rect">
            <a:avLst/>
          </a:prstGeom>
        </p:spPr>
      </p:pic>
      <p:sp>
        <p:nvSpPr>
          <p:cNvPr id="8" name="Text 4"/>
          <p:cNvSpPr/>
          <p:nvPr/>
        </p:nvSpPr>
        <p:spPr>
          <a:xfrm>
            <a:off x="5212080" y="4369633"/>
            <a:ext cx="6583680" cy="457200"/>
          </a:xfrm>
          <a:prstGeom prst="rect">
            <a:avLst/>
          </a:prstGeom>
          <a:noFill/>
          <a:ln/>
        </p:spPr>
        <p:txBody>
          <a:bodyPr wrap="square" lIns="0" tIns="0" rIns="0" bIns="0" rtlCol="0" anchor="t"/>
          <a:lstStyle/>
          <a:p>
            <a:pPr algn="ctr" indent="0" marL="0">
              <a:buNone/>
            </a:pPr>
            <a:r>
              <a:rPr lang="en-US" sz="950" i="1" dirty="0">
                <a:solidFill>
                  <a:srgbClr val="5B6B82"/>
                </a:solidFill>
                <a:latin typeface="Calibri" pitchFamily="34" charset="0"/>
                <a:ea typeface="Calibri" pitchFamily="34" charset="-122"/>
                <a:cs typeface="Calibri" pitchFamily="34" charset="-120"/>
              </a:rPr>
              <a:t>Reproduced from Rosenhahn, Osborne &amp; Hirche (2025), Fig. 2 — compute graphs of depth 1–4.</a:t>
            </a:r>
            <a:endParaRPr lang="en-US" sz="950" dirty="0"/>
          </a:p>
        </p:txBody>
      </p:sp>
      <p:sp>
        <p:nvSpPr>
          <p:cNvPr id="9" name="Text 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Source Method — Three Published Variants</a:t>
            </a:r>
            <a:endParaRPr lang="en-US" sz="2900" dirty="0"/>
          </a:p>
        </p:txBody>
      </p:sp>
      <p:sp>
        <p:nvSpPr>
          <p:cNvPr id="4" name="Shape 2"/>
          <p:cNvSpPr/>
          <p:nvPr/>
        </p:nvSpPr>
        <p:spPr>
          <a:xfrm>
            <a:off x="548640" y="1572768"/>
            <a:ext cx="3515258" cy="3246120"/>
          </a:xfrm>
          <a:prstGeom prst="roundRect">
            <a:avLst>
              <a:gd name="adj" fmla="val 2254"/>
            </a:avLst>
          </a:prstGeom>
          <a:solidFill>
            <a:srgbClr val="F4F7FB"/>
          </a:solidFill>
          <a:ln w="12700">
            <a:solidFill>
              <a:srgbClr val="D7E0EA"/>
            </a:solidFill>
            <a:prstDash val="solid"/>
          </a:ln>
          <a:effectLst>
            <a:outerShdw sx="100000" sy="100000" kx="0" ky="0" algn="bl" rotWithShape="0" blurRad="76200" dist="25400" dir="5400000">
              <a:srgbClr val="1B2A44">
                <a:alpha val="18000"/>
              </a:srgbClr>
            </a:outerShdw>
          </a:effectLst>
        </p:spPr>
      </p:sp>
      <p:sp>
        <p:nvSpPr>
          <p:cNvPr id="5" name="Shape 3"/>
          <p:cNvSpPr/>
          <p:nvPr/>
        </p:nvSpPr>
        <p:spPr>
          <a:xfrm>
            <a:off x="777240" y="1773936"/>
            <a:ext cx="457200" cy="457200"/>
          </a:xfrm>
          <a:prstGeom prst="ellipse">
            <a:avLst/>
          </a:prstGeom>
          <a:solidFill>
            <a:srgbClr val="9C6510"/>
          </a:solidFill>
          <a:ln/>
        </p:spPr>
      </p:sp>
      <p:sp>
        <p:nvSpPr>
          <p:cNvPr id="6" name="Text 4"/>
          <p:cNvSpPr/>
          <p:nvPr/>
        </p:nvSpPr>
        <p:spPr>
          <a:xfrm>
            <a:off x="777240"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V1</a:t>
            </a:r>
            <a:endParaRPr lang="en-US" sz="1200" dirty="0"/>
          </a:p>
        </p:txBody>
      </p:sp>
      <p:sp>
        <p:nvSpPr>
          <p:cNvPr id="7" name="Text 5"/>
          <p:cNvSpPr/>
          <p:nvPr/>
        </p:nvSpPr>
        <p:spPr>
          <a:xfrm>
            <a:off x="777240" y="2395728"/>
            <a:ext cx="3058058" cy="594360"/>
          </a:xfrm>
          <a:prstGeom prst="rect">
            <a:avLst/>
          </a:prstGeom>
          <a:noFill/>
          <a:ln/>
        </p:spPr>
        <p:txBody>
          <a:bodyPr wrap="square" lIns="0" tIns="0" rIns="0" bIns="0" rtlCol="0" anchor="ctr"/>
          <a:lstStyle/>
          <a:p>
            <a:pPr indent="0" marL="0">
              <a:buNone/>
            </a:pPr>
            <a:r>
              <a:rPr lang="en-US" sz="1550" b="1" dirty="0">
                <a:solidFill>
                  <a:srgbClr val="16233F"/>
                </a:solidFill>
                <a:latin typeface="Cambria" pitchFamily="34" charset="0"/>
                <a:ea typeface="Cambria" pitchFamily="34" charset="-122"/>
                <a:cs typeface="Cambria" pitchFamily="34" charset="-120"/>
              </a:rPr>
              <a:t>Random Search (RS)</a:t>
            </a:r>
            <a:endParaRPr lang="en-US" sz="1550" dirty="0"/>
          </a:p>
        </p:txBody>
      </p:sp>
      <p:sp>
        <p:nvSpPr>
          <p:cNvPr id="8" name="Text 6"/>
          <p:cNvSpPr/>
          <p:nvPr/>
        </p:nvSpPr>
        <p:spPr>
          <a:xfrm>
            <a:off x="777240" y="2990088"/>
            <a:ext cx="3058058" cy="1417320"/>
          </a:xfrm>
          <a:prstGeom prst="rect">
            <a:avLst/>
          </a:prstGeom>
          <a:noFill/>
          <a:ln/>
        </p:spPr>
        <p:txBody>
          <a:bodyPr wrap="square" lIns="0" tIns="0" rIns="0" bIns="0" rtlCol="0" anchor="ctr"/>
          <a:lstStyle/>
          <a:p>
            <a:pPr indent="0" marL="0">
              <a:lnSpc>
                <a:spcPct val="120000"/>
              </a:lnSpc>
              <a:buNone/>
            </a:pPr>
            <a:r>
              <a:rPr lang="en-US" sz="1150" dirty="0">
                <a:solidFill>
                  <a:srgbClr val="2A3648"/>
                </a:solidFill>
                <a:latin typeface="Calibri" pitchFamily="34" charset="0"/>
                <a:ea typeface="Calibri" pitchFamily="34" charset="-122"/>
                <a:cs typeface="Calibri" pitchFamily="34" charset="-120"/>
              </a:rPr>
              <a:t>Stochastically samples sub-block positions and randomly generates candidate replacement token sequences; accepts if shorter and equivalent.</a:t>
            </a:r>
            <a:endParaRPr lang="en-US" sz="1150" dirty="0"/>
          </a:p>
        </p:txBody>
      </p:sp>
      <p:sp>
        <p:nvSpPr>
          <p:cNvPr id="9" name="Shape 7"/>
          <p:cNvSpPr/>
          <p:nvPr/>
        </p:nvSpPr>
        <p:spPr>
          <a:xfrm>
            <a:off x="777240" y="4315968"/>
            <a:ext cx="3058058" cy="384048"/>
          </a:xfrm>
          <a:prstGeom prst="roundRect">
            <a:avLst>
              <a:gd name="adj" fmla="val 19048"/>
            </a:avLst>
          </a:prstGeom>
          <a:solidFill>
            <a:srgbClr val="0B1F3A"/>
          </a:solidFill>
          <a:ln/>
        </p:spPr>
      </p:sp>
      <p:sp>
        <p:nvSpPr>
          <p:cNvPr id="10" name="Text 8"/>
          <p:cNvSpPr/>
          <p:nvPr/>
        </p:nvSpPr>
        <p:spPr>
          <a:xfrm>
            <a:off x="777240" y="4315968"/>
            <a:ext cx="3058058" cy="384048"/>
          </a:xfrm>
          <a:prstGeom prst="rect">
            <a:avLst/>
          </a:prstGeom>
          <a:noFill/>
          <a:ln/>
        </p:spPr>
        <p:txBody>
          <a:bodyPr wrap="square" lIns="0" tIns="0" rIns="0" bIns="0" rtlCol="0" anchor="ctr"/>
          <a:lstStyle/>
          <a:p>
            <a:pPr algn="ctr" indent="0" marL="0">
              <a:buNone/>
            </a:pPr>
            <a:r>
              <a:rPr lang="en-US" sz="1150" b="1" dirty="0">
                <a:solidFill>
                  <a:srgbClr val="E8B94B"/>
                </a:solidFill>
                <a:latin typeface="Courier New" pitchFamily="34" charset="0"/>
                <a:ea typeface="Courier New" pitchFamily="34" charset="-122"/>
                <a:cs typeface="Courier New" pitchFamily="34" charset="-120"/>
              </a:rPr>
              <a:t>199 s / 100 gates</a:t>
            </a:r>
            <a:endParaRPr lang="en-US" sz="1150" dirty="0"/>
          </a:p>
        </p:txBody>
      </p:sp>
      <p:sp>
        <p:nvSpPr>
          <p:cNvPr id="11" name="Shape 9"/>
          <p:cNvSpPr/>
          <p:nvPr/>
        </p:nvSpPr>
        <p:spPr>
          <a:xfrm>
            <a:off x="4338218" y="1572768"/>
            <a:ext cx="3515258" cy="3246120"/>
          </a:xfrm>
          <a:prstGeom prst="roundRect">
            <a:avLst>
              <a:gd name="adj" fmla="val 2254"/>
            </a:avLst>
          </a:prstGeom>
          <a:solidFill>
            <a:srgbClr val="F4F7FB"/>
          </a:solidFill>
          <a:ln w="12700">
            <a:solidFill>
              <a:srgbClr val="D7E0EA"/>
            </a:solidFill>
            <a:prstDash val="solid"/>
          </a:ln>
          <a:effectLst>
            <a:outerShdw sx="100000" sy="100000" kx="0" ky="0" algn="bl" rotWithShape="0" blurRad="76200" dist="25400" dir="5400000">
              <a:srgbClr val="1B2A44">
                <a:alpha val="18000"/>
              </a:srgbClr>
            </a:outerShdw>
          </a:effectLst>
        </p:spPr>
      </p:sp>
      <p:sp>
        <p:nvSpPr>
          <p:cNvPr id="12" name="Shape 10"/>
          <p:cNvSpPr/>
          <p:nvPr/>
        </p:nvSpPr>
        <p:spPr>
          <a:xfrm>
            <a:off x="4566818" y="1773936"/>
            <a:ext cx="457200" cy="457200"/>
          </a:xfrm>
          <a:prstGeom prst="ellipse">
            <a:avLst/>
          </a:prstGeom>
          <a:solidFill>
            <a:srgbClr val="9C6510"/>
          </a:solidFill>
          <a:ln/>
        </p:spPr>
      </p:sp>
      <p:sp>
        <p:nvSpPr>
          <p:cNvPr id="13" name="Text 11"/>
          <p:cNvSpPr/>
          <p:nvPr/>
        </p:nvSpPr>
        <p:spPr>
          <a:xfrm>
            <a:off x="4566818"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V2</a:t>
            </a:r>
            <a:endParaRPr lang="en-US" sz="1200" dirty="0"/>
          </a:p>
        </p:txBody>
      </p:sp>
      <p:sp>
        <p:nvSpPr>
          <p:cNvPr id="14" name="Text 12"/>
          <p:cNvSpPr/>
          <p:nvPr/>
        </p:nvSpPr>
        <p:spPr>
          <a:xfrm>
            <a:off x="4566818" y="2395728"/>
            <a:ext cx="3058058" cy="594360"/>
          </a:xfrm>
          <a:prstGeom prst="rect">
            <a:avLst/>
          </a:prstGeom>
          <a:noFill/>
          <a:ln/>
        </p:spPr>
        <p:txBody>
          <a:bodyPr wrap="square" lIns="0" tIns="0" rIns="0" bIns="0" rtlCol="0" anchor="ctr"/>
          <a:lstStyle/>
          <a:p>
            <a:pPr indent="0" marL="0">
              <a:buNone/>
            </a:pPr>
            <a:r>
              <a:rPr lang="en-US" sz="1550" b="1" dirty="0">
                <a:solidFill>
                  <a:srgbClr val="16233F"/>
                </a:solidFill>
                <a:latin typeface="Cambria" pitchFamily="34" charset="0"/>
                <a:ea typeface="Cambria" pitchFamily="34" charset="-122"/>
                <a:cs typeface="Cambria" pitchFamily="34" charset="-120"/>
              </a:rPr>
              <a:t>Database Retrieval (DR)</a:t>
            </a:r>
            <a:endParaRPr lang="en-US" sz="1550" dirty="0"/>
          </a:p>
        </p:txBody>
      </p:sp>
      <p:sp>
        <p:nvSpPr>
          <p:cNvPr id="15" name="Text 13"/>
          <p:cNvSpPr/>
          <p:nvPr/>
        </p:nvSpPr>
        <p:spPr>
          <a:xfrm>
            <a:off x="4566818" y="2990088"/>
            <a:ext cx="3058058" cy="1417320"/>
          </a:xfrm>
          <a:prstGeom prst="rect">
            <a:avLst/>
          </a:prstGeom>
          <a:noFill/>
          <a:ln/>
        </p:spPr>
        <p:txBody>
          <a:bodyPr wrap="square" lIns="0" tIns="0" rIns="0" bIns="0" rtlCol="0" anchor="ctr"/>
          <a:lstStyle/>
          <a:p>
            <a:pPr indent="0" marL="0">
              <a:lnSpc>
                <a:spcPct val="120000"/>
              </a:lnSpc>
              <a:buNone/>
            </a:pPr>
            <a:r>
              <a:rPr lang="en-US" sz="1150" dirty="0">
                <a:solidFill>
                  <a:srgbClr val="2A3648"/>
                </a:solidFill>
                <a:latin typeface="Calibri" pitchFamily="34" charset="0"/>
                <a:ea typeface="Calibri" pitchFamily="34" charset="-122"/>
                <a:cs typeface="Calibri" pitchFamily="34" charset="-120"/>
              </a:rPr>
              <a:t>Precomputes the compute graph to depth 4–6 and looks up the block's unitary directly — an O(1) table lookup instead of search.</a:t>
            </a:r>
            <a:endParaRPr lang="en-US" sz="1150" dirty="0"/>
          </a:p>
        </p:txBody>
      </p:sp>
      <p:sp>
        <p:nvSpPr>
          <p:cNvPr id="16" name="Shape 14"/>
          <p:cNvSpPr/>
          <p:nvPr/>
        </p:nvSpPr>
        <p:spPr>
          <a:xfrm>
            <a:off x="4566818" y="4315968"/>
            <a:ext cx="3058058" cy="384048"/>
          </a:xfrm>
          <a:prstGeom prst="roundRect">
            <a:avLst>
              <a:gd name="adj" fmla="val 19048"/>
            </a:avLst>
          </a:prstGeom>
          <a:solidFill>
            <a:srgbClr val="0B1F3A"/>
          </a:solidFill>
          <a:ln/>
        </p:spPr>
      </p:sp>
      <p:sp>
        <p:nvSpPr>
          <p:cNvPr id="17" name="Text 15"/>
          <p:cNvSpPr/>
          <p:nvPr/>
        </p:nvSpPr>
        <p:spPr>
          <a:xfrm>
            <a:off x="4566818" y="4315968"/>
            <a:ext cx="3058058" cy="384048"/>
          </a:xfrm>
          <a:prstGeom prst="rect">
            <a:avLst/>
          </a:prstGeom>
          <a:noFill/>
          <a:ln/>
        </p:spPr>
        <p:txBody>
          <a:bodyPr wrap="square" lIns="0" tIns="0" rIns="0" bIns="0" rtlCol="0" anchor="ctr"/>
          <a:lstStyle/>
          <a:p>
            <a:pPr algn="ctr" indent="0" marL="0">
              <a:buNone/>
            </a:pPr>
            <a:r>
              <a:rPr lang="en-US" sz="1150" b="1" dirty="0">
                <a:solidFill>
                  <a:srgbClr val="E8B94B"/>
                </a:solidFill>
                <a:latin typeface="Courier New" pitchFamily="34" charset="0"/>
                <a:ea typeface="Courier New" pitchFamily="34" charset="-122"/>
                <a:cs typeface="Courier New" pitchFamily="34" charset="-120"/>
              </a:rPr>
              <a:t>55 s / 100 gates</a:t>
            </a:r>
            <a:endParaRPr lang="en-US" sz="1150" dirty="0"/>
          </a:p>
        </p:txBody>
      </p:sp>
      <p:sp>
        <p:nvSpPr>
          <p:cNvPr id="18" name="Shape 16"/>
          <p:cNvSpPr/>
          <p:nvPr/>
        </p:nvSpPr>
        <p:spPr>
          <a:xfrm>
            <a:off x="8127797" y="1572768"/>
            <a:ext cx="3515258" cy="3246120"/>
          </a:xfrm>
          <a:prstGeom prst="roundRect">
            <a:avLst>
              <a:gd name="adj" fmla="val 2254"/>
            </a:avLst>
          </a:prstGeom>
          <a:solidFill>
            <a:srgbClr val="F4F7FB"/>
          </a:solidFill>
          <a:ln w="12700">
            <a:solidFill>
              <a:srgbClr val="D7E0EA"/>
            </a:solidFill>
            <a:prstDash val="solid"/>
          </a:ln>
          <a:effectLst>
            <a:outerShdw sx="100000" sy="100000" kx="0" ky="0" algn="bl" rotWithShape="0" blurRad="76200" dist="25400" dir="5400000">
              <a:srgbClr val="1B2A44">
                <a:alpha val="18000"/>
              </a:srgbClr>
            </a:outerShdw>
          </a:effectLst>
        </p:spPr>
      </p:sp>
      <p:sp>
        <p:nvSpPr>
          <p:cNvPr id="19" name="Shape 17"/>
          <p:cNvSpPr/>
          <p:nvPr/>
        </p:nvSpPr>
        <p:spPr>
          <a:xfrm>
            <a:off x="8356397" y="1773936"/>
            <a:ext cx="457200" cy="457200"/>
          </a:xfrm>
          <a:prstGeom prst="ellipse">
            <a:avLst/>
          </a:prstGeom>
          <a:solidFill>
            <a:srgbClr val="9C6510"/>
          </a:solidFill>
          <a:ln/>
        </p:spPr>
      </p:sp>
      <p:sp>
        <p:nvSpPr>
          <p:cNvPr id="20" name="Text 18"/>
          <p:cNvSpPr/>
          <p:nvPr/>
        </p:nvSpPr>
        <p:spPr>
          <a:xfrm>
            <a:off x="8356397"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V3</a:t>
            </a:r>
            <a:endParaRPr lang="en-US" sz="1200" dirty="0"/>
          </a:p>
        </p:txBody>
      </p:sp>
      <p:sp>
        <p:nvSpPr>
          <p:cNvPr id="21" name="Text 19"/>
          <p:cNvSpPr/>
          <p:nvPr/>
        </p:nvSpPr>
        <p:spPr>
          <a:xfrm>
            <a:off x="8356397" y="2395728"/>
            <a:ext cx="3058058" cy="594360"/>
          </a:xfrm>
          <a:prstGeom prst="rect">
            <a:avLst/>
          </a:prstGeom>
          <a:noFill/>
          <a:ln/>
        </p:spPr>
        <p:txBody>
          <a:bodyPr wrap="square" lIns="0" tIns="0" rIns="0" bIns="0" rtlCol="0" anchor="ctr"/>
          <a:lstStyle/>
          <a:p>
            <a:pPr indent="0" marL="0">
              <a:buNone/>
            </a:pPr>
            <a:r>
              <a:rPr lang="en-US" sz="1550" b="1" dirty="0">
                <a:solidFill>
                  <a:srgbClr val="16233F"/>
                </a:solidFill>
                <a:latin typeface="Cambria" pitchFamily="34" charset="0"/>
                <a:ea typeface="Cambria" pitchFamily="34" charset="-122"/>
                <a:cs typeface="Cambria" pitchFamily="34" charset="-120"/>
              </a:rPr>
              <a:t>RF-Gated Lookup (RF)</a:t>
            </a:r>
            <a:endParaRPr lang="en-US" sz="1550" dirty="0"/>
          </a:p>
        </p:txBody>
      </p:sp>
      <p:sp>
        <p:nvSpPr>
          <p:cNvPr id="22" name="Text 20"/>
          <p:cNvSpPr/>
          <p:nvPr/>
        </p:nvSpPr>
        <p:spPr>
          <a:xfrm>
            <a:off x="8356397" y="2990088"/>
            <a:ext cx="3058058" cy="1417320"/>
          </a:xfrm>
          <a:prstGeom prst="rect">
            <a:avLst/>
          </a:prstGeom>
          <a:noFill/>
          <a:ln/>
        </p:spPr>
        <p:txBody>
          <a:bodyPr wrap="square" lIns="0" tIns="0" rIns="0" bIns="0" rtlCol="0" anchor="ctr"/>
          <a:lstStyle/>
          <a:p>
            <a:pPr indent="0" marL="0">
              <a:lnSpc>
                <a:spcPct val="120000"/>
              </a:lnSpc>
              <a:buNone/>
            </a:pPr>
            <a:r>
              <a:rPr lang="en-US" sz="1150" dirty="0">
                <a:solidFill>
                  <a:srgbClr val="2A3648"/>
                </a:solidFill>
                <a:latin typeface="Calibri" pitchFamily="34" charset="0"/>
                <a:ea typeface="Calibri" pitchFamily="34" charset="-122"/>
                <a:cs typeface="Calibri" pitchFamily="34" charset="-120"/>
              </a:rPr>
              <a:t>Trains a random-forest classifier to predict whether a database lookup is worth attempting, skipping ones predicted to fail.</a:t>
            </a:r>
            <a:endParaRPr lang="en-US" sz="1150" dirty="0"/>
          </a:p>
        </p:txBody>
      </p:sp>
      <p:sp>
        <p:nvSpPr>
          <p:cNvPr id="23" name="Shape 21"/>
          <p:cNvSpPr/>
          <p:nvPr/>
        </p:nvSpPr>
        <p:spPr>
          <a:xfrm>
            <a:off x="8356397" y="4315968"/>
            <a:ext cx="3058058" cy="384048"/>
          </a:xfrm>
          <a:prstGeom prst="roundRect">
            <a:avLst>
              <a:gd name="adj" fmla="val 19048"/>
            </a:avLst>
          </a:prstGeom>
          <a:solidFill>
            <a:srgbClr val="0B1F3A"/>
          </a:solidFill>
          <a:ln/>
        </p:spPr>
      </p:sp>
      <p:sp>
        <p:nvSpPr>
          <p:cNvPr id="24" name="Text 22"/>
          <p:cNvSpPr/>
          <p:nvPr/>
        </p:nvSpPr>
        <p:spPr>
          <a:xfrm>
            <a:off x="8356397" y="4315968"/>
            <a:ext cx="3058058" cy="384048"/>
          </a:xfrm>
          <a:prstGeom prst="rect">
            <a:avLst/>
          </a:prstGeom>
          <a:noFill/>
          <a:ln/>
        </p:spPr>
        <p:txBody>
          <a:bodyPr wrap="square" lIns="0" tIns="0" rIns="0" bIns="0" rtlCol="0" anchor="ctr"/>
          <a:lstStyle/>
          <a:p>
            <a:pPr algn="ctr" indent="0" marL="0">
              <a:buNone/>
            </a:pPr>
            <a:r>
              <a:rPr lang="en-US" sz="1150" b="1" dirty="0">
                <a:solidFill>
                  <a:srgbClr val="E8B94B"/>
                </a:solidFill>
                <a:latin typeface="Courier New" pitchFamily="34" charset="0"/>
                <a:ea typeface="Courier New" pitchFamily="34" charset="-122"/>
                <a:cs typeface="Courier New" pitchFamily="34" charset="-120"/>
              </a:rPr>
              <a:t>38 s / 100 gates</a:t>
            </a:r>
            <a:endParaRPr lang="en-US" sz="1150" dirty="0"/>
          </a:p>
        </p:txBody>
      </p:sp>
      <p:sp>
        <p:nvSpPr>
          <p:cNvPr id="25" name="Text 23"/>
          <p:cNvSpPr/>
          <p:nvPr/>
        </p:nvSpPr>
        <p:spPr>
          <a:xfrm>
            <a:off x="548640" y="4882896"/>
            <a:ext cx="11094415" cy="457200"/>
          </a:xfrm>
          <a:prstGeom prst="rect">
            <a:avLst/>
          </a:prstGeom>
          <a:noFill/>
          <a:ln/>
        </p:spPr>
        <p:txBody>
          <a:bodyPr wrap="square" lIns="0" tIns="0" rIns="0" bIns="0" rtlCol="0" anchor="t"/>
          <a:lstStyle/>
          <a:p>
            <a:pPr algn="l" indent="0" marL="0">
              <a:buNone/>
            </a:pPr>
            <a:r>
              <a:rPr lang="en-US" sz="1050" i="1" dirty="0">
                <a:solidFill>
                  <a:srgbClr val="5B6B82"/>
                </a:solidFill>
                <a:latin typeface="Calibri" pitchFamily="34" charset="0"/>
                <a:ea typeface="Calibri" pitchFamily="34" charset="-122"/>
                <a:cs typeface="Calibri" pitchFamily="34" charset="-120"/>
              </a:rPr>
              <a:t>Timings from the source paper's own reported benchmark, reducing 100-gate circuits to roughly 50 gates. This thesis reimplements all three (Section V) to test whether search-loop structure explains a later result.</a:t>
            </a:r>
            <a:endParaRPr lang="en-US" sz="1050" dirty="0"/>
          </a:p>
        </p:txBody>
      </p:sp>
      <p:sp>
        <p:nvSpPr>
          <p:cNvPr id="26" name="Text 24"/>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27" name="Text 25"/>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 · FOUNDATIONS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The Published Baseline — What Must Be Beaten</a:t>
            </a:r>
            <a:endParaRPr lang="en-US" sz="2900" dirty="0"/>
          </a:p>
        </p:txBody>
      </p:sp>
      <p:sp>
        <p:nvSpPr>
          <p:cNvPr id="4" name="Text 2"/>
          <p:cNvSpPr/>
          <p:nvPr/>
        </p:nvSpPr>
        <p:spPr>
          <a:xfrm>
            <a:off x="548640" y="1572768"/>
            <a:ext cx="11094415" cy="320040"/>
          </a:xfrm>
          <a:prstGeom prst="rect">
            <a:avLst/>
          </a:prstGeom>
          <a:noFill/>
          <a:ln/>
        </p:spPr>
        <p:txBody>
          <a:bodyPr wrap="square" lIns="0" tIns="0" rIns="0" bIns="0" rtlCol="0" anchor="ctr"/>
          <a:lstStyle/>
          <a:p>
            <a:pPr indent="0" marL="0">
              <a:buNone/>
            </a:pPr>
            <a:r>
              <a:rPr lang="en-US" sz="1250" i="1" dirty="0">
                <a:solidFill>
                  <a:srgbClr val="5B6B82"/>
                </a:solidFill>
                <a:latin typeface="Calibri" pitchFamily="34" charset="0"/>
                <a:ea typeface="Calibri" pitchFamily="34" charset="-122"/>
                <a:cs typeface="Calibri" pitchFamily="34" charset="-120"/>
              </a:rPr>
              <a:t>Mean gate counts, 100 circuits, 4 qubits, length 300 (source paper, Tables 6–7).</a:t>
            </a:r>
            <a:endParaRPr lang="en-US" sz="1250" dirty="0"/>
          </a:p>
        </p:txBody>
      </p:sp>
      <p:sp>
        <p:nvSpPr>
          <p:cNvPr id="5" name="Text 3"/>
          <p:cNvSpPr/>
          <p:nvPr/>
        </p:nvSpPr>
        <p:spPr>
          <a:xfrm>
            <a:off x="548640" y="1984248"/>
            <a:ext cx="5394960" cy="292608"/>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Ion trap (RX / RY / RZ / RXX)</a:t>
            </a:r>
            <a:endParaRPr lang="en-US" sz="14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5394960" cy="914400"/>
        </p:xfrm>
        <a:graphic>
          <a:graphicData uri="http://schemas.openxmlformats.org/drawingml/2006/table">
            <a:tbl>
              <a:tblPr/>
              <a:tblGrid>
                <a:gridCol w="899160"/>
                <a:gridCol w="899160"/>
                <a:gridCol w="899160"/>
                <a:gridCol w="899160"/>
                <a:gridCol w="899160"/>
                <a:gridCol w="899160"/>
              </a:tblGrid>
              <a:tr h="310896">
                <a:tc>
                  <a:txBody>
                    <a:bodyPr/>
                    <a:lstStyle/>
                    <a:p>
                      <a:pPr algn="ctr" indent="0" marL="0">
                        <a:buNone/>
                      </a:pP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RX</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RY</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RZ</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RXX</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total</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310896">
                <a:tc>
                  <a:txBody>
                    <a:bodyPr/>
                    <a:lstStyle/>
                    <a:p>
                      <a:pPr algn="l" indent="0" marL="0">
                        <a:buNone/>
                      </a:pPr>
                      <a:r>
                        <a:rPr lang="en-US" sz="1100" dirty="0">
                          <a:solidFill>
                            <a:srgbClr val="2A3648"/>
                          </a:solidFill>
                        </a:rPr>
                        <a:t>input</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78</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83</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78</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59</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298</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9C6510"/>
                          </a:solidFill>
                        </a:rPr>
                        <a:t>published “Ours”</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10</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29</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29</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43</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111</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bl>
          </a:graphicData>
        </a:graphic>
      </p:graphicFrame>
      <p:sp>
        <p:nvSpPr>
          <p:cNvPr id="7" name="Text 4"/>
          <p:cNvSpPr/>
          <p:nvPr/>
        </p:nvSpPr>
        <p:spPr>
          <a:xfrm>
            <a:off x="6263640" y="1984248"/>
            <a:ext cx="5120640" cy="292608"/>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NISQ (RX / RZ / CZ)</a:t>
            </a:r>
            <a:endParaRPr lang="en-US" sz="14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263640" y="2331720"/>
          <a:ext cx="5120640" cy="914400"/>
        </p:xfrm>
        <a:graphic>
          <a:graphicData uri="http://schemas.openxmlformats.org/drawingml/2006/table">
            <a:tbl>
              <a:tblPr/>
              <a:tblGrid>
                <a:gridCol w="853440"/>
                <a:gridCol w="853440"/>
                <a:gridCol w="853440"/>
                <a:gridCol w="853440"/>
                <a:gridCol w="853440"/>
                <a:gridCol w="853440"/>
              </a:tblGrid>
              <a:tr h="310896">
                <a:tc>
                  <a:txBody>
                    <a:bodyPr/>
                    <a:lstStyle/>
                    <a:p>
                      <a:pPr algn="ctr" indent="0" marL="0">
                        <a:buNone/>
                      </a:pP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RX</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RZ</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CZ</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total</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310896">
                <a:tc>
                  <a:txBody>
                    <a:bodyPr/>
                    <a:lstStyle/>
                    <a:p>
                      <a:pPr algn="l" indent="0" marL="0">
                        <a:buNone/>
                      </a:pPr>
                      <a:r>
                        <a:rPr lang="en-US" sz="1100" dirty="0">
                          <a:solidFill>
                            <a:srgbClr val="2A3648"/>
                          </a:solidFill>
                        </a:rPr>
                        <a:t>input</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109</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109</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82</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300</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9C6510"/>
                          </a:solidFill>
                        </a:rPr>
                        <a:t>published “Ours”</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45</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19</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43</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b="1" dirty="0">
                          <a:solidFill>
                            <a:srgbClr val="9C6510"/>
                          </a:solidFill>
                        </a:rPr>
                        <a:t>107</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bl>
          </a:graphicData>
        </a:graphic>
      </p:graphicFrame>
      <p:sp>
        <p:nvSpPr>
          <p:cNvPr id="9" name="Shape 5"/>
          <p:cNvSpPr/>
          <p:nvPr/>
        </p:nvSpPr>
        <p:spPr>
          <a:xfrm>
            <a:off x="548640" y="4160520"/>
            <a:ext cx="11094415" cy="1874520"/>
          </a:xfrm>
          <a:prstGeom prst="roundRect">
            <a:avLst>
              <a:gd name="adj" fmla="val 3902"/>
            </a:avLst>
          </a:prstGeom>
          <a:solidFill>
            <a:srgbClr val="0B1F3A"/>
          </a:solidFill>
          <a:ln/>
        </p:spPr>
      </p:sp>
      <p:sp>
        <p:nvSpPr>
          <p:cNvPr id="10" name="Text 6"/>
          <p:cNvSpPr/>
          <p:nvPr/>
        </p:nvSpPr>
        <p:spPr>
          <a:xfrm>
            <a:off x="822960" y="4315968"/>
            <a:ext cx="10545775" cy="320040"/>
          </a:xfrm>
          <a:prstGeom prst="rect">
            <a:avLst/>
          </a:prstGeom>
          <a:noFill/>
          <a:ln/>
        </p:spPr>
        <p:txBody>
          <a:bodyPr wrap="square" lIns="0" tIns="0" rIns="0" bIns="0" rtlCol="0" anchor="ctr"/>
          <a:lstStyle/>
          <a:p>
            <a:pPr indent="0" marL="0">
              <a:buNone/>
            </a:pPr>
            <a:r>
              <a:rPr lang="en-US" sz="1500" b="1" dirty="0">
                <a:solidFill>
                  <a:srgbClr val="E8B94B"/>
                </a:solidFill>
                <a:latin typeface="Cambria" pitchFamily="34" charset="0"/>
                <a:ea typeface="Cambria" pitchFamily="34" charset="-122"/>
                <a:cs typeface="Cambria" pitchFamily="34" charset="-120"/>
              </a:rPr>
              <a:t>The question this thesis answers:</a:t>
            </a:r>
            <a:endParaRPr lang="en-US" sz="1500" dirty="0"/>
          </a:p>
        </p:txBody>
      </p:sp>
      <p:sp>
        <p:nvSpPr>
          <p:cNvPr id="11" name="Text 7"/>
          <p:cNvSpPr/>
          <p:nvPr/>
        </p:nvSpPr>
        <p:spPr>
          <a:xfrm>
            <a:off x="822960" y="4645152"/>
            <a:ext cx="10545775" cy="4389120"/>
          </a:xfrm>
          <a:prstGeom prst="rect">
            <a:avLst/>
          </a:prstGeom>
          <a:noFill/>
          <a:ln/>
        </p:spPr>
        <p:txBody>
          <a:bodyPr wrap="square" rtlCol="0" anchor="t"/>
          <a:lstStyle/>
          <a:p>
            <a:pPr marL="177800" indent="-177800">
              <a:lnSpc>
                <a:spcPct val="112000"/>
              </a:lnSpc>
              <a:spcAft>
                <a:spcPts val="600"/>
              </a:spcAft>
              <a:buSzPct val="100000"/>
              <a:buChar char="▪"/>
            </a:pPr>
            <a:r>
              <a:rPr lang="en-US" sz="1300" dirty="0">
                <a:solidFill>
                  <a:srgbClr val="DCE6F3"/>
                </a:solidFill>
                <a:latin typeface="Calibri" pitchFamily="34" charset="0"/>
                <a:ea typeface="Calibri" pitchFamily="34" charset="-122"/>
                <a:cs typeface="Calibri" pitchFamily="34" charset="-120"/>
              </a:rPr>
              <a:t>Can an exact, tolerance-free engine beat 111 gates on ion trap without sacrificing correctness?</a:t>
            </a:r>
            <a:endParaRPr lang="en-US" sz="1300" dirty="0"/>
          </a:p>
          <a:p>
            <a:pPr marL="177800" indent="-177800">
              <a:lnSpc>
                <a:spcPct val="112000"/>
              </a:lnSpc>
              <a:spcAft>
                <a:spcPts val="1000"/>
              </a:spcAft>
              <a:buSzPct val="100000"/>
              <a:buChar char="▪"/>
            </a:pPr>
            <a:r>
              <a:rPr lang="en-US" sz="1300" dirty="0">
                <a:solidFill>
                  <a:srgbClr val="DCE6F3"/>
                </a:solidFill>
                <a:latin typeface="Calibri" pitchFamily="34" charset="0"/>
                <a:ea typeface="Calibri" pitchFamily="34" charset="-122"/>
                <a:cs typeface="Calibri" pitchFamily="34" charset="-120"/>
              </a:rPr>
              <a:t>Can the same infrastructure reach 107 gates on NISQ — and if not, why not?</a:t>
            </a:r>
            <a:endParaRPr lang="en-US" sz="1300" dirty="0"/>
          </a:p>
        </p:txBody>
      </p:sp>
      <p:sp>
        <p:nvSpPr>
          <p:cNvPr id="12" name="Text 8"/>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3" name="Text 9"/>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194560" y="3840480"/>
            <a:ext cx="5669280" cy="5669280"/>
          </a:xfrm>
          <a:prstGeom prst="ellipse">
            <a:avLst/>
          </a:prstGeom>
          <a:solidFill>
            <a:srgbClr val="13294C"/>
          </a:solidFill>
          <a:ln/>
        </p:spPr>
      </p:sp>
      <p:sp>
        <p:nvSpPr>
          <p:cNvPr id="3" name="Shape 1"/>
          <p:cNvSpPr/>
          <p:nvPr/>
        </p:nvSpPr>
        <p:spPr>
          <a:xfrm>
            <a:off x="548640" y="640080"/>
            <a:ext cx="457200" cy="457200"/>
          </a:xfrm>
          <a:prstGeom prst="ellipse">
            <a:avLst/>
          </a:prstGeom>
          <a:solidFill>
            <a:srgbClr val="9C6510"/>
          </a:solidFill>
          <a:ln/>
        </p:spPr>
      </p:sp>
      <p:sp>
        <p:nvSpPr>
          <p:cNvPr id="4" name="Text 2"/>
          <p:cNvSpPr/>
          <p:nvPr/>
        </p:nvSpPr>
        <p:spPr>
          <a:xfrm>
            <a:off x="548640" y="6400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5" name="Text 3"/>
          <p:cNvSpPr/>
          <p:nvPr/>
        </p:nvSpPr>
        <p:spPr>
          <a:xfrm>
            <a:off x="1170432" y="640080"/>
            <a:ext cx="5486400" cy="457200"/>
          </a:xfrm>
          <a:prstGeom prst="rect">
            <a:avLst/>
          </a:prstGeom>
          <a:noFill/>
          <a:ln/>
        </p:spPr>
        <p:txBody>
          <a:bodyPr wrap="square" lIns="0" tIns="0" rIns="0" bIns="0" rtlCol="0" anchor="ctr"/>
          <a:lstStyle/>
          <a:p>
            <a:pPr indent="0" marL="0">
              <a:buNone/>
            </a:pPr>
            <a:r>
              <a:rPr lang="en-US" sz="1400" b="1" spc="300" kern="0" dirty="0">
                <a:solidFill>
                  <a:srgbClr val="E8B94B"/>
                </a:solidFill>
                <a:latin typeface="Calibri" pitchFamily="34" charset="0"/>
                <a:ea typeface="Calibri" pitchFamily="34" charset="-122"/>
                <a:cs typeface="Calibri" pitchFamily="34" charset="-120"/>
              </a:rPr>
              <a:t>SECTION II</a:t>
            </a:r>
            <a:endParaRPr lang="en-US" sz="1400" dirty="0"/>
          </a:p>
        </p:txBody>
      </p:sp>
      <p:sp>
        <p:nvSpPr>
          <p:cNvPr id="6" name="Text 4"/>
          <p:cNvSpPr/>
          <p:nvPr/>
        </p:nvSpPr>
        <p:spPr>
          <a:xfrm>
            <a:off x="548640" y="2286000"/>
            <a:ext cx="987552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Contributions</a:t>
            </a:r>
            <a:endParaRPr lang="en-US" sz="4000" dirty="0"/>
          </a:p>
        </p:txBody>
      </p:sp>
      <p:sp>
        <p:nvSpPr>
          <p:cNvPr id="7" name="Text 5"/>
          <p:cNvSpPr/>
          <p:nvPr/>
        </p:nvSpPr>
        <p:spPr>
          <a:xfrm>
            <a:off x="548640" y="3611880"/>
            <a:ext cx="8778240" cy="822960"/>
          </a:xfrm>
          <a:prstGeom prst="rect">
            <a:avLst/>
          </a:prstGeom>
          <a:noFill/>
          <a:ln/>
        </p:spPr>
        <p:txBody>
          <a:bodyPr wrap="square" lIns="0" tIns="0" rIns="0" bIns="0" rtlCol="0" anchor="ctr"/>
          <a:lstStyle/>
          <a:p>
            <a:pPr indent="0" marL="0">
              <a:lnSpc>
                <a:spcPct val="120000"/>
              </a:lnSpc>
              <a:buNone/>
            </a:pPr>
            <a:r>
              <a:rPr lang="en-US" sz="1600" i="1" dirty="0">
                <a:solidFill>
                  <a:srgbClr val="C7D6EA"/>
                </a:solidFill>
                <a:latin typeface="Cambria" pitchFamily="34" charset="0"/>
                <a:ea typeface="Cambria" pitchFamily="34" charset="-122"/>
                <a:cs typeface="Cambria" pitchFamily="34" charset="-120"/>
              </a:rPr>
              <a:t>Five additions to the published method, introduced in the order the pipeline actually needs them.</a:t>
            </a:r>
            <a:endParaRPr lang="en-US" sz="1600" dirty="0"/>
          </a:p>
        </p:txBody>
      </p:sp>
      <p:sp>
        <p:nvSpPr>
          <p:cNvPr id="8" name="Shape 6"/>
          <p:cNvSpPr/>
          <p:nvPr/>
        </p:nvSpPr>
        <p:spPr>
          <a:xfrm>
            <a:off x="548640" y="4700016"/>
            <a:ext cx="82296" cy="82296"/>
          </a:xfrm>
          <a:prstGeom prst="ellipse">
            <a:avLst/>
          </a:prstGeom>
          <a:solidFill>
            <a:srgbClr val="E8B94B"/>
          </a:solidFill>
          <a:ln/>
        </p:spPr>
      </p:sp>
      <p:sp>
        <p:nvSpPr>
          <p:cNvPr id="9" name="Text 7"/>
          <p:cNvSpPr/>
          <p:nvPr/>
        </p:nvSpPr>
        <p:spPr>
          <a:xfrm>
            <a:off x="804672" y="456285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An exact, tolerance-free engine for the Clifford ion-trap pool</a:t>
            </a:r>
            <a:endParaRPr lang="en-US" sz="1300" dirty="0"/>
          </a:p>
        </p:txBody>
      </p:sp>
      <p:sp>
        <p:nvSpPr>
          <p:cNvPr id="10" name="Shape 8"/>
          <p:cNvSpPr/>
          <p:nvPr/>
        </p:nvSpPr>
        <p:spPr>
          <a:xfrm>
            <a:off x="548640" y="5065776"/>
            <a:ext cx="82296" cy="82296"/>
          </a:xfrm>
          <a:prstGeom prst="ellipse">
            <a:avLst/>
          </a:prstGeom>
          <a:solidFill>
            <a:srgbClr val="E8B94B"/>
          </a:solidFill>
          <a:ln/>
        </p:spPr>
      </p:sp>
      <p:sp>
        <p:nvSpPr>
          <p:cNvPr id="11" name="Text 9"/>
          <p:cNvSpPr/>
          <p:nvPr/>
        </p:nvSpPr>
        <p:spPr>
          <a:xfrm>
            <a:off x="804672" y="492861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A cost-aware search objective and deterministic block reordering</a:t>
            </a:r>
            <a:endParaRPr lang="en-US" sz="1300" dirty="0"/>
          </a:p>
        </p:txBody>
      </p:sp>
      <p:sp>
        <p:nvSpPr>
          <p:cNvPr id="12" name="Shape 10"/>
          <p:cNvSpPr/>
          <p:nvPr/>
        </p:nvSpPr>
        <p:spPr>
          <a:xfrm>
            <a:off x="548640" y="5431536"/>
            <a:ext cx="82296" cy="82296"/>
          </a:xfrm>
          <a:prstGeom prst="ellipse">
            <a:avLst/>
          </a:prstGeom>
          <a:solidFill>
            <a:srgbClr val="E8B94B"/>
          </a:solidFill>
          <a:ln/>
        </p:spPr>
      </p:sp>
      <p:sp>
        <p:nvSpPr>
          <p:cNvPr id="13" name="Text 11"/>
          <p:cNvSpPr/>
          <p:nvPr/>
        </p:nvSpPr>
        <p:spPr>
          <a:xfrm>
            <a:off x="804672" y="529437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Incremental window construction and a disk-backed database</a:t>
            </a:r>
            <a:endParaRPr lang="en-US" sz="1300" dirty="0"/>
          </a:p>
        </p:txBody>
      </p:sp>
      <p:sp>
        <p:nvSpPr>
          <p:cNvPr id="14" name="Text 1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A749A"/>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A749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What This Thesis Adds — at a Glance</a:t>
            </a:r>
            <a:endParaRPr lang="en-US" sz="2900" dirty="0"/>
          </a:p>
        </p:txBody>
      </p:sp>
      <p:sp>
        <p:nvSpPr>
          <p:cNvPr id="4" name="Shape 2"/>
          <p:cNvSpPr/>
          <p:nvPr/>
        </p:nvSpPr>
        <p:spPr>
          <a:xfrm>
            <a:off x="548640" y="1572768"/>
            <a:ext cx="11094415" cy="786384"/>
          </a:xfrm>
          <a:prstGeom prst="roundRect">
            <a:avLst>
              <a:gd name="adj" fmla="val 9302"/>
            </a:avLst>
          </a:prstGeom>
          <a:solidFill>
            <a:srgbClr val="F4F7FB"/>
          </a:solidFill>
          <a:ln w="12700">
            <a:solidFill>
              <a:srgbClr val="D7E0EA"/>
            </a:solidFill>
            <a:prstDash val="solid"/>
          </a:ln>
        </p:spPr>
      </p:sp>
      <p:sp>
        <p:nvSpPr>
          <p:cNvPr id="5" name="Shape 3"/>
          <p:cNvSpPr/>
          <p:nvPr/>
        </p:nvSpPr>
        <p:spPr>
          <a:xfrm>
            <a:off x="749808" y="1737360"/>
            <a:ext cx="457200" cy="457200"/>
          </a:xfrm>
          <a:prstGeom prst="ellipse">
            <a:avLst/>
          </a:prstGeom>
          <a:solidFill>
            <a:srgbClr val="9C6510"/>
          </a:solidFill>
          <a:ln/>
        </p:spPr>
      </p:sp>
      <p:sp>
        <p:nvSpPr>
          <p:cNvPr id="6" name="Text 4"/>
          <p:cNvSpPr/>
          <p:nvPr/>
        </p:nvSpPr>
        <p:spPr>
          <a:xfrm>
            <a:off x="749808" y="17373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417320" y="1655064"/>
            <a:ext cx="3246120" cy="621792"/>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Exact symplectic engine</a:t>
            </a:r>
            <a:endParaRPr lang="en-US" sz="1450" dirty="0"/>
          </a:p>
        </p:txBody>
      </p:sp>
      <p:sp>
        <p:nvSpPr>
          <p:cNvPr id="8" name="Text 6"/>
          <p:cNvSpPr/>
          <p:nvPr/>
        </p:nvSpPr>
        <p:spPr>
          <a:xfrm>
            <a:off x="4800600" y="1655064"/>
            <a:ext cx="6613855" cy="621792"/>
          </a:xfrm>
          <a:prstGeom prst="rect">
            <a:avLst/>
          </a:prstGeom>
          <a:noFill/>
          <a:ln/>
        </p:spPr>
        <p:txBody>
          <a:bodyPr wrap="square" lIns="0" tIns="0" rIns="0" bIns="0" rtlCol="0" anchor="ctr"/>
          <a:lstStyle/>
          <a:p>
            <a:pPr indent="0" marL="0">
              <a:buNone/>
            </a:pPr>
            <a:r>
              <a:rPr lang="en-US" sz="1200" dirty="0">
                <a:solidFill>
                  <a:srgbClr val="2A3648"/>
                </a:solidFill>
                <a:latin typeface="Calibri" pitchFamily="34" charset="0"/>
                <a:ea typeface="Calibri" pitchFamily="34" charset="-122"/>
                <a:cs typeface="Calibri" pitchFamily="34" charset="-120"/>
              </a:rPr>
              <a:t>Replaces 1e-5 numerical tolerance with a bit-exact signed-tableau key for the Clifford pool.</a:t>
            </a:r>
            <a:endParaRPr lang="en-US" sz="1200" dirty="0"/>
          </a:p>
        </p:txBody>
      </p:sp>
      <p:sp>
        <p:nvSpPr>
          <p:cNvPr id="9" name="Shape 7"/>
          <p:cNvSpPr/>
          <p:nvPr/>
        </p:nvSpPr>
        <p:spPr>
          <a:xfrm>
            <a:off x="548640" y="2487168"/>
            <a:ext cx="11094415" cy="786384"/>
          </a:xfrm>
          <a:prstGeom prst="roundRect">
            <a:avLst>
              <a:gd name="adj" fmla="val 9302"/>
            </a:avLst>
          </a:prstGeom>
          <a:solidFill>
            <a:srgbClr val="F4F7FB"/>
          </a:solidFill>
          <a:ln w="12700">
            <a:solidFill>
              <a:srgbClr val="D7E0EA"/>
            </a:solidFill>
            <a:prstDash val="solid"/>
          </a:ln>
        </p:spPr>
      </p:sp>
      <p:sp>
        <p:nvSpPr>
          <p:cNvPr id="10" name="Shape 8"/>
          <p:cNvSpPr/>
          <p:nvPr/>
        </p:nvSpPr>
        <p:spPr>
          <a:xfrm>
            <a:off x="749808" y="2651760"/>
            <a:ext cx="457200" cy="457200"/>
          </a:xfrm>
          <a:prstGeom prst="ellipse">
            <a:avLst/>
          </a:prstGeom>
          <a:solidFill>
            <a:srgbClr val="9C6510"/>
          </a:solidFill>
          <a:ln/>
        </p:spPr>
      </p:sp>
      <p:sp>
        <p:nvSpPr>
          <p:cNvPr id="11" name="Text 9"/>
          <p:cNvSpPr/>
          <p:nvPr/>
        </p:nvSpPr>
        <p:spPr>
          <a:xfrm>
            <a:off x="749808" y="26517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417320" y="2569464"/>
            <a:ext cx="3246120" cy="621792"/>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Cost-aware objective</a:t>
            </a:r>
            <a:endParaRPr lang="en-US" sz="1450" dirty="0"/>
          </a:p>
        </p:txBody>
      </p:sp>
      <p:sp>
        <p:nvSpPr>
          <p:cNvPr id="13" name="Text 11"/>
          <p:cNvSpPr/>
          <p:nvPr/>
        </p:nvSpPr>
        <p:spPr>
          <a:xfrm>
            <a:off x="4800600" y="2569464"/>
            <a:ext cx="6613855" cy="621792"/>
          </a:xfrm>
          <a:prstGeom prst="rect">
            <a:avLst/>
          </a:prstGeom>
          <a:noFill/>
          <a:ln/>
        </p:spPr>
        <p:txBody>
          <a:bodyPr wrap="square" lIns="0" tIns="0" rIns="0" bIns="0" rtlCol="0" anchor="ctr"/>
          <a:lstStyle/>
          <a:p>
            <a:pPr indent="0" marL="0">
              <a:buNone/>
            </a:pPr>
            <a:r>
              <a:rPr lang="en-US" sz="1200" dirty="0">
                <a:solidFill>
                  <a:srgbClr val="2A3648"/>
                </a:solidFill>
                <a:latin typeface="Calibri" pitchFamily="34" charset="0"/>
                <a:ea typeface="Calibri" pitchFamily="34" charset="-122"/>
                <a:cs typeface="Calibri" pitchFamily="34" charset="-120"/>
              </a:rPr>
              <a:t>Orders candidates by (two-qubit count, length) instead of length alone.</a:t>
            </a:r>
            <a:endParaRPr lang="en-US" sz="1200" dirty="0"/>
          </a:p>
        </p:txBody>
      </p:sp>
      <p:sp>
        <p:nvSpPr>
          <p:cNvPr id="14" name="Shape 12"/>
          <p:cNvSpPr/>
          <p:nvPr/>
        </p:nvSpPr>
        <p:spPr>
          <a:xfrm>
            <a:off x="548640" y="3401568"/>
            <a:ext cx="11094415" cy="786384"/>
          </a:xfrm>
          <a:prstGeom prst="roundRect">
            <a:avLst>
              <a:gd name="adj" fmla="val 9302"/>
            </a:avLst>
          </a:prstGeom>
          <a:solidFill>
            <a:srgbClr val="F4F7FB"/>
          </a:solidFill>
          <a:ln w="12700">
            <a:solidFill>
              <a:srgbClr val="D7E0EA"/>
            </a:solidFill>
            <a:prstDash val="solid"/>
          </a:ln>
        </p:spPr>
      </p:sp>
      <p:sp>
        <p:nvSpPr>
          <p:cNvPr id="15" name="Shape 13"/>
          <p:cNvSpPr/>
          <p:nvPr/>
        </p:nvSpPr>
        <p:spPr>
          <a:xfrm>
            <a:off x="749808" y="3566160"/>
            <a:ext cx="457200" cy="457200"/>
          </a:xfrm>
          <a:prstGeom prst="ellipse">
            <a:avLst/>
          </a:prstGeom>
          <a:solidFill>
            <a:srgbClr val="9C6510"/>
          </a:solidFill>
          <a:ln/>
        </p:spPr>
      </p:sp>
      <p:sp>
        <p:nvSpPr>
          <p:cNvPr id="16" name="Text 14"/>
          <p:cNvSpPr/>
          <p:nvPr/>
        </p:nvSpPr>
        <p:spPr>
          <a:xfrm>
            <a:off x="749808" y="35661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1417320" y="3483864"/>
            <a:ext cx="3246120" cy="621792"/>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Deterministic block reordering</a:t>
            </a:r>
            <a:endParaRPr lang="en-US" sz="1450" dirty="0"/>
          </a:p>
        </p:txBody>
      </p:sp>
      <p:sp>
        <p:nvSpPr>
          <p:cNvPr id="18" name="Text 16"/>
          <p:cNvSpPr/>
          <p:nvPr/>
        </p:nvSpPr>
        <p:spPr>
          <a:xfrm>
            <a:off x="4800600" y="3483864"/>
            <a:ext cx="6613855" cy="621792"/>
          </a:xfrm>
          <a:prstGeom prst="rect">
            <a:avLst/>
          </a:prstGeom>
          <a:noFill/>
          <a:ln/>
        </p:spPr>
        <p:txBody>
          <a:bodyPr wrap="square" lIns="0" tIns="0" rIns="0" bIns="0" rtlCol="0" anchor="ctr"/>
          <a:lstStyle/>
          <a:p>
            <a:pPr indent="0" marL="0">
              <a:buNone/>
            </a:pPr>
            <a:r>
              <a:rPr lang="en-US" sz="1200" dirty="0">
                <a:solidFill>
                  <a:srgbClr val="2A3648"/>
                </a:solidFill>
                <a:latin typeface="Calibri" pitchFamily="34" charset="0"/>
                <a:ea typeface="Calibri" pitchFamily="34" charset="-122"/>
                <a:cs typeface="Calibri" pitchFamily="34" charset="-120"/>
              </a:rPr>
              <a:t>A dependency-graph pass that exposes reducible windows without displacing randomized search.</a:t>
            </a:r>
            <a:endParaRPr lang="en-US" sz="1200" dirty="0"/>
          </a:p>
        </p:txBody>
      </p:sp>
      <p:sp>
        <p:nvSpPr>
          <p:cNvPr id="19" name="Shape 17"/>
          <p:cNvSpPr/>
          <p:nvPr/>
        </p:nvSpPr>
        <p:spPr>
          <a:xfrm>
            <a:off x="548640" y="4315968"/>
            <a:ext cx="11094415" cy="786384"/>
          </a:xfrm>
          <a:prstGeom prst="roundRect">
            <a:avLst>
              <a:gd name="adj" fmla="val 9302"/>
            </a:avLst>
          </a:prstGeom>
          <a:solidFill>
            <a:srgbClr val="F4F7FB"/>
          </a:solidFill>
          <a:ln w="12700">
            <a:solidFill>
              <a:srgbClr val="D7E0EA"/>
            </a:solidFill>
            <a:prstDash val="solid"/>
          </a:ln>
        </p:spPr>
      </p:sp>
      <p:sp>
        <p:nvSpPr>
          <p:cNvPr id="20" name="Shape 18"/>
          <p:cNvSpPr/>
          <p:nvPr/>
        </p:nvSpPr>
        <p:spPr>
          <a:xfrm>
            <a:off x="749808" y="4480560"/>
            <a:ext cx="457200" cy="457200"/>
          </a:xfrm>
          <a:prstGeom prst="ellipse">
            <a:avLst/>
          </a:prstGeom>
          <a:solidFill>
            <a:srgbClr val="9C6510"/>
          </a:solidFill>
          <a:ln/>
        </p:spPr>
      </p:sp>
      <p:sp>
        <p:nvSpPr>
          <p:cNvPr id="21" name="Text 19"/>
          <p:cNvSpPr/>
          <p:nvPr/>
        </p:nvSpPr>
        <p:spPr>
          <a:xfrm>
            <a:off x="749808" y="44805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1417320" y="4398264"/>
            <a:ext cx="3246120" cy="621792"/>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Incremental window construction</a:t>
            </a:r>
            <a:endParaRPr lang="en-US" sz="1450" dirty="0"/>
          </a:p>
        </p:txBody>
      </p:sp>
      <p:sp>
        <p:nvSpPr>
          <p:cNvPr id="23" name="Text 21"/>
          <p:cNvSpPr/>
          <p:nvPr/>
        </p:nvSpPr>
        <p:spPr>
          <a:xfrm>
            <a:off x="4800600" y="4398264"/>
            <a:ext cx="6613855" cy="621792"/>
          </a:xfrm>
          <a:prstGeom prst="rect">
            <a:avLst/>
          </a:prstGeom>
          <a:noFill/>
          <a:ln/>
        </p:spPr>
        <p:txBody>
          <a:bodyPr wrap="square" lIns="0" tIns="0" rIns="0" bIns="0" rtlCol="0" anchor="ctr"/>
          <a:lstStyle/>
          <a:p>
            <a:pPr indent="0" marL="0">
              <a:buNone/>
            </a:pPr>
            <a:r>
              <a:rPr lang="en-US" sz="1200" dirty="0">
                <a:solidFill>
                  <a:srgbClr val="2A3648"/>
                </a:solidFill>
                <a:latin typeface="Calibri" pitchFamily="34" charset="0"/>
                <a:ea typeface="Calibri" pitchFamily="34" charset="-122"/>
                <a:cs typeface="Calibri" pitchFamily="34" charset="-120"/>
              </a:rPr>
              <a:t>Reuses partially-built representations across sweep lengths instead of rebuilding from scratch.</a:t>
            </a:r>
            <a:endParaRPr lang="en-US" sz="1200" dirty="0"/>
          </a:p>
        </p:txBody>
      </p:sp>
      <p:sp>
        <p:nvSpPr>
          <p:cNvPr id="24" name="Shape 22"/>
          <p:cNvSpPr/>
          <p:nvPr/>
        </p:nvSpPr>
        <p:spPr>
          <a:xfrm>
            <a:off x="548640" y="5230368"/>
            <a:ext cx="11094415" cy="786384"/>
          </a:xfrm>
          <a:prstGeom prst="roundRect">
            <a:avLst>
              <a:gd name="adj" fmla="val 9302"/>
            </a:avLst>
          </a:prstGeom>
          <a:solidFill>
            <a:srgbClr val="F4F7FB"/>
          </a:solidFill>
          <a:ln w="12700">
            <a:solidFill>
              <a:srgbClr val="D7E0EA"/>
            </a:solidFill>
            <a:prstDash val="solid"/>
          </a:ln>
        </p:spPr>
      </p:sp>
      <p:sp>
        <p:nvSpPr>
          <p:cNvPr id="25" name="Shape 23"/>
          <p:cNvSpPr/>
          <p:nvPr/>
        </p:nvSpPr>
        <p:spPr>
          <a:xfrm>
            <a:off x="749808" y="5394960"/>
            <a:ext cx="457200" cy="457200"/>
          </a:xfrm>
          <a:prstGeom prst="ellipse">
            <a:avLst/>
          </a:prstGeom>
          <a:solidFill>
            <a:srgbClr val="9C6510"/>
          </a:solidFill>
          <a:ln/>
        </p:spPr>
      </p:sp>
      <p:sp>
        <p:nvSpPr>
          <p:cNvPr id="26" name="Text 24"/>
          <p:cNvSpPr/>
          <p:nvPr/>
        </p:nvSpPr>
        <p:spPr>
          <a:xfrm>
            <a:off x="749808" y="539496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1417320" y="5312664"/>
            <a:ext cx="3246120" cy="621792"/>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Disk-backed compute graph</a:t>
            </a:r>
            <a:endParaRPr lang="en-US" sz="1450" dirty="0"/>
          </a:p>
        </p:txBody>
      </p:sp>
      <p:sp>
        <p:nvSpPr>
          <p:cNvPr id="28" name="Text 26"/>
          <p:cNvSpPr/>
          <p:nvPr/>
        </p:nvSpPr>
        <p:spPr>
          <a:xfrm>
            <a:off x="4800600" y="5312664"/>
            <a:ext cx="6613855" cy="621792"/>
          </a:xfrm>
          <a:prstGeom prst="rect">
            <a:avLst/>
          </a:prstGeom>
          <a:noFill/>
          <a:ln/>
        </p:spPr>
        <p:txBody>
          <a:bodyPr wrap="square" lIns="0" tIns="0" rIns="0" bIns="0" rtlCol="0" anchor="ctr"/>
          <a:lstStyle/>
          <a:p>
            <a:pPr indent="0" marL="0">
              <a:buNone/>
            </a:pPr>
            <a:r>
              <a:rPr lang="en-US" sz="1200" dirty="0">
                <a:solidFill>
                  <a:srgbClr val="2A3648"/>
                </a:solidFill>
                <a:latin typeface="Calibri" pitchFamily="34" charset="0"/>
                <a:ea typeface="Calibri" pitchFamily="34" charset="-122"/>
                <a:cs typeface="Calibri" pitchFamily="34" charset="-120"/>
              </a:rPr>
              <a:t>Extends the database past RAM limits for graphs exceeding 11 million nodes.</a:t>
            </a:r>
            <a:endParaRPr lang="en-US" sz="1200" dirty="0"/>
          </a:p>
        </p:txBody>
      </p:sp>
      <p:sp>
        <p:nvSpPr>
          <p:cNvPr id="29" name="Text 27"/>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30" name="Text 28"/>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Addition 1 — An Exact Engine: Motivation</a:t>
            </a:r>
            <a:endParaRPr lang="en-US" sz="2900" dirty="0"/>
          </a:p>
        </p:txBody>
      </p:sp>
      <p:sp>
        <p:nvSpPr>
          <p:cNvPr id="6" name="Text 4"/>
          <p:cNvSpPr/>
          <p:nvPr/>
        </p:nvSpPr>
        <p:spPr>
          <a:xfrm>
            <a:off x="548640" y="1572768"/>
            <a:ext cx="11094415" cy="4389120"/>
          </a:xfrm>
          <a:prstGeom prst="rect">
            <a:avLst/>
          </a:prstGeom>
          <a:noFill/>
          <a:ln/>
        </p:spPr>
        <p:txBody>
          <a:bodyPr wrap="square" rtlCol="0" anchor="t"/>
          <a:lstStyle/>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The published method merges duplicate compute-graph nodes by comparing unitaries to a 1×10⁻⁵ numerical tolerance.</a:t>
            </a:r>
            <a:endParaRPr lang="en-US" sz="1350" dirty="0"/>
          </a:p>
          <a:p>
            <a:pPr marL="177800" indent="-177800">
              <a:lnSpc>
                <a:spcPct val="112000"/>
              </a:lnSpc>
              <a:spcAft>
                <a:spcPts val="600"/>
              </a:spcAft>
              <a:buSzPct val="100000"/>
              <a:buChar char="▪"/>
            </a:pPr>
            <a:r>
              <a:rPr lang="en-US" sz="1350" dirty="0">
                <a:solidFill>
                  <a:srgbClr val="2A3648"/>
                </a:solidFill>
                <a:latin typeface="Calibri" pitchFamily="34" charset="0"/>
                <a:ea typeface="Calibri" pitchFamily="34" charset="-122"/>
                <a:cs typeface="Calibri" pitchFamily="34" charset="-120"/>
              </a:rPr>
              <a:t>A tolerance is a design choice with two failure directions:</a:t>
            </a:r>
            <a:endParaRPr lang="en-US" sz="1350" dirty="0"/>
          </a:p>
          <a:p>
            <a:pPr lvl="1" marL="355600" indent="-177800">
              <a:lnSpc>
                <a:spcPct val="112000"/>
              </a:lnSpc>
              <a:spcAft>
                <a:spcPts val="600"/>
              </a:spcAft>
              <a:buSzPct val="100000"/>
              <a:buChar char="–"/>
            </a:pPr>
            <a:r>
              <a:rPr lang="en-US" sz="1350" dirty="0">
                <a:solidFill>
                  <a:srgbClr val="2A3648"/>
                </a:solidFill>
                <a:latin typeface="Calibri" pitchFamily="34" charset="0"/>
                <a:ea typeface="Calibri" pitchFamily="34" charset="-122"/>
                <a:cs typeface="Calibri" pitchFamily="34" charset="-120"/>
              </a:rPr>
              <a:t>Too loose — two genuinely distinct unitaries collide, and a “reduction” silently changes the circuit's meaning.</a:t>
            </a:r>
            <a:endParaRPr lang="en-US" sz="1350" dirty="0"/>
          </a:p>
          <a:p>
            <a:pPr lvl="1" marL="3556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Too tight — floating-point drift on deep chains pushes two genuinely equal unitaries to compare as different, undercounting the graph's real coverage.</a:t>
            </a:r>
            <a:endParaRPr lang="en-US" sz="1350" dirty="0"/>
          </a:p>
          <a:p>
            <a:pPr marL="177800" indent="-177800">
              <a:lnSpc>
                <a:spcPct val="112000"/>
              </a:lnSpc>
              <a:spcAft>
                <a:spcPts val="1000"/>
              </a:spcAft>
              <a:buSzPct val="100000"/>
              <a:buChar char="▪"/>
            </a:pPr>
            <a:r>
              <a:rPr lang="en-US" sz="1350" b="1" dirty="0">
                <a:solidFill>
                  <a:srgbClr val="2A3648"/>
                </a:solidFill>
                <a:latin typeface="Calibri" pitchFamily="34" charset="0"/>
                <a:ea typeface="Calibri" pitchFamily="34" charset="-122"/>
                <a:cs typeface="Calibri" pitchFamily="34" charset="-120"/>
              </a:rPr>
              <a:t>For the ion-trap pool this dilemma is avoidable entirely: the pool is Clifford, and Clifford elements admit an exact, integer, classically-tractable representation (Section I, Slide 6).</a:t>
            </a:r>
            <a:endParaRPr lang="en-US" sz="1350" dirty="0"/>
          </a:p>
          <a:p>
            <a:pPr marL="177800" indent="-177800">
              <a:lnSpc>
                <a:spcPct val="112000"/>
              </a:lnSpc>
              <a:spcAft>
                <a:spcPts val="1000"/>
              </a:spcAft>
              <a:buSzPct val="100000"/>
              <a:buChar char="▪"/>
            </a:pPr>
            <a:r>
              <a:rPr lang="en-US" sz="1350" b="1" dirty="0">
                <a:solidFill>
                  <a:srgbClr val="9C6510"/>
                </a:solidFill>
                <a:latin typeface="Calibri" pitchFamily="34" charset="0"/>
                <a:ea typeface="Calibri" pitchFamily="34" charset="-122"/>
                <a:cs typeface="Calibri" pitchFamily="34" charset="-120"/>
              </a:rPr>
              <a:t>This thesis replaces floating-point matrix comparison with a bit-exact signed symplectic tableau for that pool — no rounding, no tolerance parameter, anywhere in the comparison.</a:t>
            </a:r>
            <a:endParaRPr lang="en-US" sz="1350" dirty="0"/>
          </a:p>
        </p:txBody>
      </p:sp>
      <p:sp>
        <p:nvSpPr>
          <p:cNvPr id="7" name="Text 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8" name="Text 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Addition 1 — Mechanism: the Signed Tableau</a:t>
            </a:r>
            <a:endParaRPr lang="en-US" sz="2900" dirty="0"/>
          </a:p>
        </p:txBody>
      </p:sp>
      <p:sp>
        <p:nvSpPr>
          <p:cNvPr id="6" name="Text 4"/>
          <p:cNvSpPr/>
          <p:nvPr/>
        </p:nvSpPr>
        <p:spPr>
          <a:xfrm>
            <a:off x="548640" y="1572768"/>
            <a:ext cx="6035040" cy="4389120"/>
          </a:xfrm>
          <a:prstGeom prst="rect">
            <a:avLst/>
          </a:prstGeom>
          <a:noFill/>
          <a:ln/>
        </p:spPr>
        <p:txBody>
          <a:bodyPr wrap="square" rtlCol="0" anchor="t"/>
          <a:lstStyle/>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Every Clifford element is fully determined, up to global phase, by how it conjugates the Pauli generators Xᵢ, Zᵢ.</a:t>
            </a:r>
            <a:endParaRPr lang="en-US" sz="1300" dirty="0"/>
          </a:p>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That conjugation action is representable exactly as a binary symplectic matrix plus an integer phase vector — the Aaronson–Gottesman stabilizer-tableau formalism.</a:t>
            </a:r>
            <a:endParaRPr lang="en-US" sz="1300" dirty="0"/>
          </a:p>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Two circuits collide in the compute graph if and only if they induce the same tableau. Table lookups become integer operations, not floating-point matrix comparisons.</a:t>
            </a:r>
            <a:endParaRPr lang="en-US" sz="1300" dirty="0"/>
          </a:p>
          <a:p>
            <a:pPr marL="177800" indent="-177800">
              <a:lnSpc>
                <a:spcPct val="112000"/>
              </a:lnSpc>
              <a:spcAft>
                <a:spcPts val="1000"/>
              </a:spcAft>
              <a:buSzPct val="100000"/>
              <a:buChar char="▪"/>
            </a:pPr>
            <a:r>
              <a:rPr lang="en-US" sz="1300" b="1" dirty="0">
                <a:solidFill>
                  <a:srgbClr val="2A3648"/>
                </a:solidFill>
                <a:latin typeface="Calibri" pitchFamily="34" charset="0"/>
                <a:ea typeface="Calibri" pitchFamily="34" charset="-122"/>
                <a:cs typeface="Calibri" pitchFamily="34" charset="-120"/>
              </a:rPr>
              <a:t>This buys more than correctness: the same hardware builds noticeably deeper graphs in the same time, and equal-length rewrites can be explored freely without accumulating floating-point error — exactly what the cost-aware objective (Addition 2) needs.</a:t>
            </a:r>
            <a:endParaRPr lang="en-US" sz="1300" dirty="0"/>
          </a:p>
        </p:txBody>
      </p:sp>
      <p:sp>
        <p:nvSpPr>
          <p:cNvPr id="7" name="Shape 5"/>
          <p:cNvSpPr/>
          <p:nvPr/>
        </p:nvSpPr>
        <p:spPr>
          <a:xfrm>
            <a:off x="6858000" y="1572768"/>
            <a:ext cx="4785055" cy="4297680"/>
          </a:xfrm>
          <a:prstGeom prst="roundRect">
            <a:avLst>
              <a:gd name="adj" fmla="val 1702"/>
            </a:avLst>
          </a:prstGeom>
          <a:solidFill>
            <a:srgbClr val="0B1F3A"/>
          </a:solidFill>
          <a:ln/>
        </p:spPr>
      </p:sp>
      <p:sp>
        <p:nvSpPr>
          <p:cNvPr id="8" name="Text 6"/>
          <p:cNvSpPr/>
          <p:nvPr/>
        </p:nvSpPr>
        <p:spPr>
          <a:xfrm>
            <a:off x="7132320" y="1847088"/>
            <a:ext cx="4236415" cy="1005840"/>
          </a:xfrm>
          <a:prstGeom prst="rect">
            <a:avLst/>
          </a:prstGeom>
          <a:noFill/>
          <a:ln/>
        </p:spPr>
        <p:txBody>
          <a:bodyPr wrap="square" lIns="0" tIns="0" rIns="0" bIns="0" rtlCol="0" anchor="ctr"/>
          <a:lstStyle/>
          <a:p>
            <a:pPr indent="0" marL="0">
              <a:lnSpc>
                <a:spcPct val="120000"/>
              </a:lnSpc>
              <a:buNone/>
            </a:pPr>
            <a:r>
              <a:rPr lang="en-US" sz="1450" b="1" i="1" dirty="0">
                <a:solidFill>
                  <a:srgbClr val="E8B94B"/>
                </a:solidFill>
                <a:latin typeface="Cambria" pitchFamily="34" charset="0"/>
                <a:ea typeface="Cambria" pitchFamily="34" charset="-122"/>
                <a:cs typeface="Cambria" pitchFamily="34" charset="-120"/>
              </a:rPr>
              <a:t>A replacement found this way is equivalent to the block it replaces by construction — not by having passed a numerical check.</a:t>
            </a:r>
            <a:endParaRPr lang="en-US" sz="1450" dirty="0"/>
          </a:p>
        </p:txBody>
      </p:sp>
      <p:sp>
        <p:nvSpPr>
          <p:cNvPr id="9" name="Shape 7"/>
          <p:cNvSpPr/>
          <p:nvPr/>
        </p:nvSpPr>
        <p:spPr>
          <a:xfrm>
            <a:off x="7132320" y="2990088"/>
            <a:ext cx="4236415" cy="0"/>
          </a:xfrm>
          <a:prstGeom prst="line">
            <a:avLst/>
          </a:prstGeom>
          <a:noFill/>
          <a:ln w="12700">
            <a:solidFill>
              <a:srgbClr val="2E4568"/>
            </a:solidFill>
            <a:prstDash val="solid"/>
          </a:ln>
        </p:spPr>
      </p:sp>
      <p:sp>
        <p:nvSpPr>
          <p:cNvPr id="10" name="Text 8"/>
          <p:cNvSpPr/>
          <p:nvPr/>
        </p:nvSpPr>
        <p:spPr>
          <a:xfrm>
            <a:off x="7132320" y="3172968"/>
            <a:ext cx="4236415" cy="4389120"/>
          </a:xfrm>
          <a:prstGeom prst="rect">
            <a:avLst/>
          </a:prstGeom>
          <a:noFill/>
          <a:ln/>
        </p:spPr>
        <p:txBody>
          <a:bodyPr wrap="square" rtlCol="0" anchor="t"/>
          <a:lstStyle/>
          <a:p>
            <a:pPr marL="177800" indent="-177800">
              <a:lnSpc>
                <a:spcPct val="112000"/>
              </a:lnSpc>
              <a:spcAft>
                <a:spcPts val="800"/>
              </a:spcAft>
              <a:buSzPct val="100000"/>
              <a:buChar char="▪"/>
            </a:pPr>
            <a:r>
              <a:rPr lang="en-US" sz="1150" dirty="0">
                <a:solidFill>
                  <a:srgbClr val="DCE6F3"/>
                </a:solidFill>
                <a:latin typeface="Calibri" pitchFamily="34" charset="0"/>
                <a:ea typeface="Calibri" pitchFamily="34" charset="-122"/>
                <a:cs typeface="Calibri" pitchFamily="34" charset="-120"/>
              </a:rPr>
              <a:t>Not simulation — the formalism is used purely for indexing, to make compute-graph membership an exact question.</a:t>
            </a:r>
            <a:endParaRPr lang="en-US" sz="1150" dirty="0"/>
          </a:p>
          <a:p>
            <a:pPr marL="177800" indent="-177800">
              <a:lnSpc>
                <a:spcPct val="112000"/>
              </a:lnSpc>
              <a:spcAft>
                <a:spcPts val="1000"/>
              </a:spcAft>
              <a:buSzPct val="100000"/>
              <a:buChar char="▪"/>
            </a:pPr>
            <a:r>
              <a:rPr lang="en-US" sz="1150" dirty="0">
                <a:solidFill>
                  <a:srgbClr val="DCE6F3"/>
                </a:solidFill>
                <a:latin typeface="Calibri" pitchFamily="34" charset="0"/>
                <a:ea typeface="Calibri" pitchFamily="34" charset="-122"/>
                <a:cs typeface="Calibri" pitchFamily="34" charset="-120"/>
              </a:rPr>
              <a:t>Ties directly to a canonical Clifford decomposition (Bravyi &amp; Maslov 2021) that separates any element into Hadamard-free layers around one Hadamard layer.</a:t>
            </a:r>
            <a:endParaRPr lang="en-US" sz="1150" dirty="0"/>
          </a:p>
        </p:txBody>
      </p:sp>
      <p:sp>
        <p:nvSpPr>
          <p:cNvPr id="11" name="Text 9"/>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2" name="Text 10"/>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Addition 2 — A Cost-Aware Search Objective</a:t>
            </a:r>
            <a:endParaRPr lang="en-US" sz="2900" dirty="0"/>
          </a:p>
        </p:txBody>
      </p:sp>
      <p:sp>
        <p:nvSpPr>
          <p:cNvPr id="6" name="Text 4"/>
          <p:cNvSpPr/>
          <p:nvPr/>
        </p:nvSpPr>
        <p:spPr>
          <a:xfrm>
            <a:off x="548640" y="1572768"/>
            <a:ext cx="11094415" cy="1828800"/>
          </a:xfrm>
          <a:prstGeom prst="rect">
            <a:avLst/>
          </a:prstGeom>
          <a:noFill/>
          <a:ln/>
        </p:spPr>
        <p:txBody>
          <a:bodyPr wrap="square" rtlCol="0" anchor="t"/>
          <a:lstStyle/>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Local term replacement, as originally specified, minimizes total gate count only — it treats a single-qubit and a two-qubit gate as equally worth removing.</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On real hardware they are not equivalent: two-qubit gates dominate both error rate and duration (Slide 4).</a:t>
            </a:r>
            <a:endParaRPr lang="en-US" sz="1350" dirty="0"/>
          </a:p>
        </p:txBody>
      </p:sp>
      <p:sp>
        <p:nvSpPr>
          <p:cNvPr id="7" name="Shape 5"/>
          <p:cNvSpPr/>
          <p:nvPr/>
        </p:nvSpPr>
        <p:spPr>
          <a:xfrm>
            <a:off x="548640" y="3200400"/>
            <a:ext cx="11094415" cy="1005840"/>
          </a:xfrm>
          <a:prstGeom prst="roundRect">
            <a:avLst>
              <a:gd name="adj" fmla="val 7273"/>
            </a:avLst>
          </a:prstGeom>
          <a:solidFill>
            <a:srgbClr val="F4F7FB"/>
          </a:solidFill>
          <a:ln w="12700">
            <a:solidFill>
              <a:srgbClr val="D7E0EA"/>
            </a:solidFill>
            <a:prstDash val="solid"/>
          </a:ln>
        </p:spPr>
      </p:sp>
      <p:sp>
        <p:nvSpPr>
          <p:cNvPr id="8" name="Text 6"/>
          <p:cNvSpPr/>
          <p:nvPr/>
        </p:nvSpPr>
        <p:spPr>
          <a:xfrm>
            <a:off x="822960" y="3337560"/>
            <a:ext cx="10545775" cy="320040"/>
          </a:xfrm>
          <a:prstGeom prst="rect">
            <a:avLst/>
          </a:prstGeom>
          <a:noFill/>
          <a:ln/>
        </p:spPr>
        <p:txBody>
          <a:bodyPr wrap="square" lIns="0" tIns="0" rIns="0" bIns="0" rtlCol="0" anchor="ctr"/>
          <a:lstStyle/>
          <a:p>
            <a:pPr indent="0" marL="0">
              <a:buNone/>
            </a:pPr>
            <a:r>
              <a:rPr lang="en-US" sz="1300" b="1" dirty="0">
                <a:solidFill>
                  <a:srgbClr val="16233F"/>
                </a:solidFill>
              </a:rPr>
              <a:t>Length-only objective:  </a:t>
            </a:r>
            <a:pPr indent="0" marL="0">
              <a:buNone/>
            </a:pPr>
            <a:r>
              <a:rPr lang="en-US" sz="1300" dirty="0">
                <a:solidFill>
                  <a:srgbClr val="2C5578"/>
                </a:solidFill>
                <a:latin typeface="Courier New" pitchFamily="34" charset="0"/>
                <a:ea typeface="Courier New" pitchFamily="34" charset="-122"/>
                <a:cs typeface="Courier New" pitchFamily="34" charset="-120"/>
              </a:rPr>
              <a:t>minimize  len(chain)</a:t>
            </a:r>
            <a:endParaRPr lang="en-US" sz="1300" dirty="0"/>
          </a:p>
        </p:txBody>
      </p:sp>
      <p:sp>
        <p:nvSpPr>
          <p:cNvPr id="9" name="Text 7"/>
          <p:cNvSpPr/>
          <p:nvPr/>
        </p:nvSpPr>
        <p:spPr>
          <a:xfrm>
            <a:off x="822960" y="3703320"/>
            <a:ext cx="10545775" cy="320040"/>
          </a:xfrm>
          <a:prstGeom prst="rect">
            <a:avLst/>
          </a:prstGeom>
          <a:noFill/>
          <a:ln/>
        </p:spPr>
        <p:txBody>
          <a:bodyPr wrap="square" lIns="0" tIns="0" rIns="0" bIns="0" rtlCol="0" anchor="ctr"/>
          <a:lstStyle/>
          <a:p>
            <a:pPr indent="0" marL="0">
              <a:buNone/>
            </a:pPr>
            <a:r>
              <a:rPr lang="en-US" sz="1300" b="1" dirty="0">
                <a:solidFill>
                  <a:srgbClr val="9C6510"/>
                </a:solidFill>
              </a:rPr>
              <a:t>This thesis's objective:  </a:t>
            </a:r>
            <a:pPr indent="0" marL="0">
              <a:buNone/>
            </a:pPr>
            <a:r>
              <a:rPr lang="en-US" sz="1300" dirty="0">
                <a:solidFill>
                  <a:srgbClr val="0B1F3A"/>
                </a:solidFill>
                <a:latin typeface="Courier New" pitchFamily="34" charset="0"/>
                <a:ea typeface="Courier New" pitchFamily="34" charset="-122"/>
                <a:cs typeface="Courier New" pitchFamily="34" charset="-120"/>
              </a:rPr>
              <a:t>minimize  (two_qubit_count(chain),  len(chain))   — lexicographic</a:t>
            </a:r>
            <a:endParaRPr lang="en-US" sz="1300" dirty="0"/>
          </a:p>
        </p:txBody>
      </p:sp>
      <p:sp>
        <p:nvSpPr>
          <p:cNvPr id="10" name="Text 8"/>
          <p:cNvSpPr/>
          <p:nvPr/>
        </p:nvSpPr>
        <p:spPr>
          <a:xfrm>
            <a:off x="548640" y="4434840"/>
            <a:ext cx="11094415" cy="4389120"/>
          </a:xfrm>
          <a:prstGeom prst="rect">
            <a:avLst/>
          </a:prstGeom>
          <a:noFill/>
          <a:ln/>
        </p:spPr>
        <p:txBody>
          <a:bodyPr wrap="square" rtlCol="0" anchor="t"/>
          <a:lstStyle/>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Because the exact engine (Addition 1) makes equal-length rewrites free to explore without error accumulation, this objective can trade one single-qubit gate for another purely to remove a two-qubit gate elsewhere in the chain — an improvement completely invisible to a length-only search.</a:t>
            </a:r>
            <a:endParaRPr lang="en-US" sz="1300" dirty="0"/>
          </a:p>
          <a:p>
            <a:pPr marL="177800" indent="-177800">
              <a:lnSpc>
                <a:spcPct val="112000"/>
              </a:lnSpc>
              <a:spcAft>
                <a:spcPts val="1000"/>
              </a:spcAft>
              <a:buSzPct val="100000"/>
              <a:buChar char="▪"/>
            </a:pPr>
            <a:r>
              <a:rPr lang="en-US" sz="1300" i="1" dirty="0">
                <a:solidFill>
                  <a:srgbClr val="5B6B82"/>
                </a:solidFill>
                <a:latin typeface="Calibri" pitchFamily="34" charset="0"/>
                <a:ea typeface="Calibri" pitchFamily="34" charset="-122"/>
                <a:cs typeface="Calibri" pitchFamily="34" charset="-120"/>
              </a:rPr>
              <a:t>Result preview: on ion trap this removes roughly 2 further two-qubit gates at a comparable total length (Section IV). On NISQ it barely moves the two-qubit count at all — and Section V explains exactly why.</a:t>
            </a:r>
            <a:endParaRPr lang="en-US" sz="1300" dirty="0"/>
          </a:p>
        </p:txBody>
      </p:sp>
      <p:sp>
        <p:nvSpPr>
          <p:cNvPr id="11" name="Text 9"/>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2" name="Text 10"/>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Addition 3 — Deterministic Block Reordering</a:t>
            </a:r>
            <a:endParaRPr lang="en-US" sz="2900" dirty="0"/>
          </a:p>
        </p:txBody>
      </p:sp>
      <p:sp>
        <p:nvSpPr>
          <p:cNvPr id="6" name="Text 4"/>
          <p:cNvSpPr/>
          <p:nvPr/>
        </p:nvSpPr>
        <p:spPr>
          <a:xfrm>
            <a:off x="548640" y="1572768"/>
            <a:ext cx="11094415" cy="4389120"/>
          </a:xfrm>
          <a:prstGeom prst="rect">
            <a:avLst/>
          </a:prstGeom>
          <a:noFill/>
          <a:ln/>
        </p:spPr>
        <p:txBody>
          <a:bodyPr wrap="square" rtlCol="0" anchor="t"/>
          <a:lstStyle/>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The exhaustive sweep only finds a reduction if the gates it needs are already adjacent in the flat gate list — otherwise it depends on a randomized shuffle bringing them together by chance.</a:t>
            </a:r>
            <a:endParaRPr lang="en-US" sz="1300" dirty="0"/>
          </a:p>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Observation: a gate depends only on the most recent gate touching each of its wires. This per-wire dependency structure gives a partial order on the gate list — any two gates on disjoint wires can be freely swapped without changing the circuit's unitary.</a:t>
            </a:r>
            <a:endParaRPr lang="en-US" sz="1300" dirty="0"/>
          </a:p>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Mechanism: reorder the gate list so every maximal block touching at most three wires becomes contiguous. This is always a valid reordering — it exposes windows to the sweep that a randomized shuffle would otherwise only find by chance — generalizing two-qubit block collection already used in production compilers to k-wire blocks.</a:t>
            </a:r>
            <a:endParaRPr lang="en-US" sz="1300" dirty="0"/>
          </a:p>
        </p:txBody>
      </p:sp>
      <p:sp>
        <p:nvSpPr>
          <p:cNvPr id="7" name="Shape 5"/>
          <p:cNvSpPr/>
          <p:nvPr/>
        </p:nvSpPr>
        <p:spPr>
          <a:xfrm>
            <a:off x="548640" y="4892040"/>
            <a:ext cx="11094415" cy="1188720"/>
          </a:xfrm>
          <a:prstGeom prst="roundRect">
            <a:avLst>
              <a:gd name="adj" fmla="val 6154"/>
            </a:avLst>
          </a:prstGeom>
          <a:solidFill>
            <a:srgbClr val="0B1F3A"/>
          </a:solidFill>
          <a:ln/>
        </p:spPr>
      </p:sp>
      <p:sp>
        <p:nvSpPr>
          <p:cNvPr id="8" name="Text 6"/>
          <p:cNvSpPr/>
          <p:nvPr/>
        </p:nvSpPr>
        <p:spPr>
          <a:xfrm>
            <a:off x="822960" y="5029200"/>
            <a:ext cx="10545775" cy="914400"/>
          </a:xfrm>
          <a:prstGeom prst="rect">
            <a:avLst/>
          </a:prstGeom>
          <a:noFill/>
          <a:ln/>
        </p:spPr>
        <p:txBody>
          <a:bodyPr wrap="square" lIns="0" tIns="0" rIns="0" bIns="0" rtlCol="0" anchor="ctr"/>
          <a:lstStyle/>
          <a:p>
            <a:pPr indent="0" marL="0">
              <a:lnSpc>
                <a:spcPct val="125000"/>
              </a:lnSpc>
              <a:buNone/>
            </a:pPr>
            <a:r>
              <a:rPr lang="en-US" sz="1300" b="1" dirty="0">
                <a:solidFill>
                  <a:srgbClr val="E8B94B"/>
                </a:solidFill>
                <a:latin typeface="Calibri" pitchFamily="34" charset="0"/>
                <a:ea typeface="Calibri" pitchFamily="34" charset="-122"/>
                <a:cs typeface="Calibri" pitchFamily="34" charset="-120"/>
              </a:rPr>
              <a:t>Where it sits in the pipeline:  </a:t>
            </a:r>
            <a:pPr indent="0" marL="0">
              <a:lnSpc>
                <a:spcPct val="125000"/>
              </a:lnSpc>
              <a:buNone/>
            </a:pPr>
            <a:r>
              <a:rPr lang="en-US" sz="1300" dirty="0">
                <a:solidFill>
                  <a:srgbClr val="DCE6F3"/>
                </a:solidFill>
                <a:latin typeface="Calibri" pitchFamily="34" charset="0"/>
                <a:ea typeface="Calibri" pitchFamily="34" charset="-122"/>
                <a:cs typeface="Calibri" pitchFamily="34" charset="-120"/>
              </a:rPr>
              <a:t>run once, as a deterministic pre-pass, before the stochastic loop begins — not repeated inside it. Why that matters is the next slide.</a:t>
            </a:r>
            <a:endParaRPr lang="en-US" sz="1300" dirty="0"/>
          </a:p>
        </p:txBody>
      </p:sp>
      <p:sp>
        <p:nvSpPr>
          <p:cNvPr id="9" name="Text 7"/>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8"/>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Addition 3 — A Negative Result Worth Keeping</a:t>
            </a:r>
            <a:endParaRPr lang="en-US" sz="2900" dirty="0"/>
          </a:p>
        </p:txBody>
      </p:sp>
      <p:sp>
        <p:nvSpPr>
          <p:cNvPr id="6" name="Text 4"/>
          <p:cNvSpPr/>
          <p:nvPr/>
        </p:nvSpPr>
        <p:spPr>
          <a:xfrm>
            <a:off x="548640" y="1572768"/>
            <a:ext cx="11094415" cy="777240"/>
          </a:xfrm>
          <a:prstGeom prst="rect">
            <a:avLst/>
          </a:prstGeom>
          <a:noFill/>
          <a:ln/>
        </p:spPr>
        <p:txBody>
          <a:bodyPr wrap="square" lIns="0" tIns="0" rIns="0" bIns="0" rtlCol="0" anchor="ctr"/>
          <a:lstStyle/>
          <a:p>
            <a:pPr indent="0" marL="0">
              <a:lnSpc>
                <a:spcPct val="125000"/>
              </a:lnSpc>
              <a:buNone/>
            </a:pPr>
            <a:r>
              <a:rPr lang="en-US" sz="1400" dirty="0">
                <a:solidFill>
                  <a:srgbClr val="2A3648"/>
                </a:solidFill>
                <a:latin typeface="Calibri" pitchFamily="34" charset="0"/>
                <a:ea typeface="Calibri" pitchFamily="34" charset="-122"/>
                <a:cs typeface="Calibri" pitchFamily="34" charset="-120"/>
              </a:rPr>
              <a:t>An earlier version of this pipeline re-ran the reordering pass on every iteration of the stochastic loop, alongside the randomized shuffle. It made results measurably worse, not better.</a:t>
            </a:r>
            <a:endParaRPr lang="en-US" sz="1400" dirty="0"/>
          </a:p>
        </p:txBody>
      </p:sp>
      <p:sp>
        <p:nvSpPr>
          <p:cNvPr id="7" name="Shape 5"/>
          <p:cNvSpPr/>
          <p:nvPr/>
        </p:nvSpPr>
        <p:spPr>
          <a:xfrm>
            <a:off x="548640" y="2514600"/>
            <a:ext cx="5364328" cy="1371600"/>
          </a:xfrm>
          <a:prstGeom prst="roundRect">
            <a:avLst>
              <a:gd name="adj" fmla="val 5333"/>
            </a:avLst>
          </a:prstGeom>
          <a:solidFill>
            <a:srgbClr val="EAF0F7"/>
          </a:solidFill>
          <a:ln w="12700">
            <a:solidFill>
              <a:srgbClr val="D7E0EA"/>
            </a:solidFill>
            <a:prstDash val="solid"/>
          </a:ln>
        </p:spPr>
      </p:sp>
      <p:sp>
        <p:nvSpPr>
          <p:cNvPr id="8" name="Text 6"/>
          <p:cNvSpPr/>
          <p:nvPr/>
        </p:nvSpPr>
        <p:spPr>
          <a:xfrm>
            <a:off x="621792" y="2606040"/>
            <a:ext cx="5218024" cy="795528"/>
          </a:xfrm>
          <a:prstGeom prst="rect">
            <a:avLst/>
          </a:prstGeom>
          <a:noFill/>
          <a:ln/>
        </p:spPr>
        <p:txBody>
          <a:bodyPr wrap="square" lIns="0" tIns="0" rIns="0" bIns="0" rtlCol="0" anchor="b"/>
          <a:lstStyle/>
          <a:p>
            <a:pPr algn="ctr" indent="0" marL="0">
              <a:buNone/>
            </a:pPr>
            <a:r>
              <a:rPr lang="en-US" sz="4000" b="1" dirty="0">
                <a:solidFill>
                  <a:srgbClr val="9C4A34"/>
                </a:solidFill>
                <a:latin typeface="Cambria" pitchFamily="34" charset="0"/>
                <a:ea typeface="Cambria" pitchFamily="34" charset="-122"/>
                <a:cs typeface="Cambria" pitchFamily="34" charset="-120"/>
              </a:rPr>
              <a:t>87.4</a:t>
            </a:r>
            <a:endParaRPr lang="en-US" sz="4000" dirty="0"/>
          </a:p>
        </p:txBody>
      </p:sp>
      <p:sp>
        <p:nvSpPr>
          <p:cNvPr id="9" name="Text 7"/>
          <p:cNvSpPr/>
          <p:nvPr/>
        </p:nvSpPr>
        <p:spPr>
          <a:xfrm>
            <a:off x="621792" y="3364992"/>
            <a:ext cx="5218024" cy="521208"/>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mean gates — reordering interleaved every iteration</a:t>
            </a:r>
            <a:endParaRPr lang="en-US" sz="1050" dirty="0"/>
          </a:p>
        </p:txBody>
      </p:sp>
      <p:sp>
        <p:nvSpPr>
          <p:cNvPr id="10" name="Shape 8"/>
          <p:cNvSpPr/>
          <p:nvPr/>
        </p:nvSpPr>
        <p:spPr>
          <a:xfrm>
            <a:off x="6278728" y="2514600"/>
            <a:ext cx="5364328" cy="1371600"/>
          </a:xfrm>
          <a:prstGeom prst="roundRect">
            <a:avLst>
              <a:gd name="adj" fmla="val 5333"/>
            </a:avLst>
          </a:prstGeom>
          <a:solidFill>
            <a:srgbClr val="EAF0F7"/>
          </a:solidFill>
          <a:ln w="12700">
            <a:solidFill>
              <a:srgbClr val="D7E0EA"/>
            </a:solidFill>
            <a:prstDash val="solid"/>
          </a:ln>
        </p:spPr>
      </p:sp>
      <p:sp>
        <p:nvSpPr>
          <p:cNvPr id="11" name="Text 9"/>
          <p:cNvSpPr/>
          <p:nvPr/>
        </p:nvSpPr>
        <p:spPr>
          <a:xfrm>
            <a:off x="6351880" y="2606040"/>
            <a:ext cx="5218024" cy="795528"/>
          </a:xfrm>
          <a:prstGeom prst="rect">
            <a:avLst/>
          </a:prstGeom>
          <a:noFill/>
          <a:ln/>
        </p:spPr>
        <p:txBody>
          <a:bodyPr wrap="square" lIns="0" tIns="0" rIns="0" bIns="0" rtlCol="0" anchor="b"/>
          <a:lstStyle/>
          <a:p>
            <a:pPr algn="ctr" indent="0" marL="0">
              <a:buNone/>
            </a:pPr>
            <a:r>
              <a:rPr lang="en-US" sz="4000" b="1" dirty="0">
                <a:solidFill>
                  <a:srgbClr val="3E7455"/>
                </a:solidFill>
                <a:latin typeface="Cambria" pitchFamily="34" charset="0"/>
                <a:ea typeface="Cambria" pitchFamily="34" charset="-122"/>
                <a:cs typeface="Cambria" pitchFamily="34" charset="-120"/>
              </a:rPr>
              <a:t>83.3</a:t>
            </a:r>
            <a:endParaRPr lang="en-US" sz="4000" dirty="0"/>
          </a:p>
        </p:txBody>
      </p:sp>
      <p:sp>
        <p:nvSpPr>
          <p:cNvPr id="12" name="Text 10"/>
          <p:cNvSpPr/>
          <p:nvPr/>
        </p:nvSpPr>
        <p:spPr>
          <a:xfrm>
            <a:off x="6351880" y="3364992"/>
            <a:ext cx="5218024" cy="521208"/>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mean gates — reordering run once, as a pre-pass</a:t>
            </a:r>
            <a:endParaRPr lang="en-US" sz="1050" dirty="0"/>
          </a:p>
        </p:txBody>
      </p:sp>
      <p:sp>
        <p:nvSpPr>
          <p:cNvPr id="13" name="Text 11"/>
          <p:cNvSpPr/>
          <p:nvPr/>
        </p:nvSpPr>
        <p:spPr>
          <a:xfrm>
            <a:off x="548640" y="3977640"/>
            <a:ext cx="11094415" cy="457200"/>
          </a:xfrm>
          <a:prstGeom prst="rect">
            <a:avLst/>
          </a:prstGeom>
          <a:noFill/>
          <a:ln/>
        </p:spPr>
        <p:txBody>
          <a:bodyPr wrap="square" lIns="0" tIns="0" rIns="0" bIns="0" rtlCol="0" anchor="t"/>
          <a:lstStyle/>
          <a:p>
            <a:pPr algn="ctr" indent="0" marL="0">
              <a:buNone/>
            </a:pPr>
            <a:r>
              <a:rPr lang="en-US" sz="1050" i="1" dirty="0">
                <a:solidFill>
                  <a:srgbClr val="5B6B82"/>
                </a:solidFill>
                <a:latin typeface="Calibri" pitchFamily="34" charset="0"/>
                <a:ea typeface="Calibri" pitchFamily="34" charset="-122"/>
                <a:cs typeface="Calibri" pitchFamily="34" charset="-120"/>
              </a:rPr>
              <a:t>Ion trap, 7 seeds, 10-second budget. Lower is better — interleaving costs roughly 5% relative to running once.</a:t>
            </a:r>
            <a:endParaRPr lang="en-US" sz="1050" dirty="0"/>
          </a:p>
        </p:txBody>
      </p:sp>
      <p:sp>
        <p:nvSpPr>
          <p:cNvPr id="14" name="Shape 12"/>
          <p:cNvSpPr/>
          <p:nvPr/>
        </p:nvSpPr>
        <p:spPr>
          <a:xfrm>
            <a:off x="548640" y="4434840"/>
            <a:ext cx="11094415" cy="1691640"/>
          </a:xfrm>
          <a:prstGeom prst="roundRect">
            <a:avLst>
              <a:gd name="adj" fmla="val 4324"/>
            </a:avLst>
          </a:prstGeom>
          <a:solidFill>
            <a:srgbClr val="F4F7FB"/>
          </a:solidFill>
          <a:ln w="12700">
            <a:solidFill>
              <a:srgbClr val="D7E0EA"/>
            </a:solidFill>
            <a:prstDash val="solid"/>
          </a:ln>
        </p:spPr>
      </p:sp>
      <p:sp>
        <p:nvSpPr>
          <p:cNvPr id="15" name="Text 13"/>
          <p:cNvSpPr/>
          <p:nvPr/>
        </p:nvSpPr>
        <p:spPr>
          <a:xfrm>
            <a:off x="822960" y="4572000"/>
            <a:ext cx="10545775" cy="32004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Why this happens</a:t>
            </a:r>
            <a:endParaRPr lang="en-US" sz="1450" dirty="0"/>
          </a:p>
        </p:txBody>
      </p:sp>
      <p:sp>
        <p:nvSpPr>
          <p:cNvPr id="16" name="Text 14"/>
          <p:cNvSpPr/>
          <p:nvPr/>
        </p:nvSpPr>
        <p:spPr>
          <a:xfrm>
            <a:off x="822960" y="4919472"/>
            <a:ext cx="10545775" cy="4389120"/>
          </a:xfrm>
          <a:prstGeom prst="rect">
            <a:avLst/>
          </a:prstGeom>
          <a:noFill/>
          <a:ln/>
        </p:spPr>
        <p:txBody>
          <a:bodyPr wrap="square" rtlCol="0" anchor="t"/>
          <a:lstStyle/>
          <a:p>
            <a:pPr marL="177800" indent="-177800">
              <a:lnSpc>
                <a:spcPct val="112000"/>
              </a:lnSpc>
              <a:spcAft>
                <a:spcPts val="500"/>
              </a:spcAft>
              <a:buSzPct val="100000"/>
              <a:buChar char="▪"/>
            </a:pPr>
            <a:r>
              <a:rPr lang="en-US" sz="1150" dirty="0">
                <a:solidFill>
                  <a:srgbClr val="2A3648"/>
                </a:solidFill>
                <a:latin typeface="Calibri" pitchFamily="34" charset="0"/>
                <a:ea typeface="Calibri" pitchFamily="34" charset="-122"/>
                <a:cs typeface="Calibri" pitchFamily="34" charset="-120"/>
              </a:rPr>
              <a:t>The reordering pass is a pure function of the gate list — reapplying it to an already-reordered, otherwise-unchanged list is a no-op.</a:t>
            </a:r>
            <a:endParaRPr lang="en-US" sz="1150" dirty="0"/>
          </a:p>
          <a:p>
            <a:pPr marL="177800" indent="-177800">
              <a:lnSpc>
                <a:spcPct val="112000"/>
              </a:lnSpc>
              <a:spcAft>
                <a:spcPts val="500"/>
              </a:spcAft>
              <a:buSzPct val="100000"/>
              <a:buChar char="▪"/>
            </a:pPr>
            <a:r>
              <a:rPr lang="en-US" sz="1150" dirty="0">
                <a:solidFill>
                  <a:srgbClr val="2A3648"/>
                </a:solidFill>
                <a:latin typeface="Calibri" pitchFamily="34" charset="0"/>
                <a:ea typeface="Calibri" pitchFamily="34" charset="-122"/>
                <a:cs typeface="Calibri" pitchFamily="34" charset="-120"/>
              </a:rPr>
              <a:t>Interleaved inside the loop, it displaced roughly half of the loop's diversity-generating passes on the common case where nothing had changed, contributing nothing in return for that cost.</a:t>
            </a:r>
            <a:endParaRPr lang="en-US" sz="1150" dirty="0"/>
          </a:p>
        </p:txBody>
      </p:sp>
      <p:sp>
        <p:nvSpPr>
          <p:cNvPr id="17" name="Text 1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8" name="Text 1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Addition 4 — Incremental Window Construction</a:t>
            </a:r>
            <a:endParaRPr lang="en-US" sz="2900" dirty="0"/>
          </a:p>
        </p:txBody>
      </p:sp>
      <p:sp>
        <p:nvSpPr>
          <p:cNvPr id="6" name="Text 4"/>
          <p:cNvSpPr/>
          <p:nvPr/>
        </p:nvSpPr>
        <p:spPr>
          <a:xfrm>
            <a:off x="548640" y="1572768"/>
            <a:ext cx="11094415" cy="1554480"/>
          </a:xfrm>
          <a:prstGeom prst="rect">
            <a:avLst/>
          </a:prstGeom>
          <a:noFill/>
          <a:ln/>
        </p:spPr>
        <p:txBody>
          <a:bodyPr wrap="square" rtlCol="0" anchor="t"/>
          <a:lstStyle/>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The exhaustive sweep tries every window length from the block-length cap down to two, at every position in the circuit.</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Both engines originally rebuilt each tried length's local representation — the embedded unitary, or the signed tableau — from scratch, independently, for every length.</a:t>
            </a:r>
            <a:endParaRPr lang="en-US" sz="1350" dirty="0"/>
          </a:p>
        </p:txBody>
      </p:sp>
      <p:sp>
        <p:nvSpPr>
          <p:cNvPr id="7" name="Shape 5"/>
          <p:cNvSpPr/>
          <p:nvPr/>
        </p:nvSpPr>
        <p:spPr>
          <a:xfrm>
            <a:off x="548640" y="3063240"/>
            <a:ext cx="5364328" cy="1234440"/>
          </a:xfrm>
          <a:prstGeom prst="roundRect">
            <a:avLst>
              <a:gd name="adj" fmla="val 5926"/>
            </a:avLst>
          </a:prstGeom>
          <a:solidFill>
            <a:srgbClr val="EAF0F7"/>
          </a:solidFill>
          <a:ln w="12700">
            <a:solidFill>
              <a:srgbClr val="D7E0EA"/>
            </a:solidFill>
            <a:prstDash val="solid"/>
          </a:ln>
        </p:spPr>
      </p:sp>
      <p:sp>
        <p:nvSpPr>
          <p:cNvPr id="8" name="Text 6"/>
          <p:cNvSpPr/>
          <p:nvPr/>
        </p:nvSpPr>
        <p:spPr>
          <a:xfrm>
            <a:off x="621792" y="3154680"/>
            <a:ext cx="5218024" cy="715975"/>
          </a:xfrm>
          <a:prstGeom prst="rect">
            <a:avLst/>
          </a:prstGeom>
          <a:noFill/>
          <a:ln/>
        </p:spPr>
        <p:txBody>
          <a:bodyPr wrap="square" lIns="0" tIns="0" rIns="0" bIns="0" rtlCol="0" anchor="b"/>
          <a:lstStyle/>
          <a:p>
            <a:pPr algn="ctr" indent="0" marL="0">
              <a:buNone/>
            </a:pPr>
            <a:r>
              <a:rPr lang="en-US" sz="3400" b="1" dirty="0">
                <a:solidFill>
                  <a:srgbClr val="9C4A34"/>
                </a:solidFill>
                <a:latin typeface="Cambria" pitchFamily="34" charset="0"/>
                <a:ea typeface="Cambria" pitchFamily="34" charset="-122"/>
                <a:cs typeface="Cambria" pitchFamily="34" charset="-120"/>
              </a:rPr>
              <a:t>35</a:t>
            </a:r>
            <a:endParaRPr lang="en-US" sz="3400" dirty="0"/>
          </a:p>
        </p:txBody>
      </p:sp>
      <p:sp>
        <p:nvSpPr>
          <p:cNvPr id="9" name="Text 7"/>
          <p:cNvSpPr/>
          <p:nvPr/>
        </p:nvSpPr>
        <p:spPr>
          <a:xfrm>
            <a:off x="621792" y="3834079"/>
            <a:ext cx="5218024" cy="469087"/>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gate applications — rebuild from scratch each length (2+3+…+8, cap 8)</a:t>
            </a:r>
            <a:endParaRPr lang="en-US" sz="1050" dirty="0"/>
          </a:p>
        </p:txBody>
      </p:sp>
      <p:sp>
        <p:nvSpPr>
          <p:cNvPr id="10" name="Shape 8"/>
          <p:cNvSpPr/>
          <p:nvPr/>
        </p:nvSpPr>
        <p:spPr>
          <a:xfrm>
            <a:off x="6278728" y="3063240"/>
            <a:ext cx="5364328" cy="1234440"/>
          </a:xfrm>
          <a:prstGeom prst="roundRect">
            <a:avLst>
              <a:gd name="adj" fmla="val 5926"/>
            </a:avLst>
          </a:prstGeom>
          <a:solidFill>
            <a:srgbClr val="EAF0F7"/>
          </a:solidFill>
          <a:ln w="12700">
            <a:solidFill>
              <a:srgbClr val="D7E0EA"/>
            </a:solidFill>
            <a:prstDash val="solid"/>
          </a:ln>
        </p:spPr>
      </p:sp>
      <p:sp>
        <p:nvSpPr>
          <p:cNvPr id="11" name="Text 9"/>
          <p:cNvSpPr/>
          <p:nvPr/>
        </p:nvSpPr>
        <p:spPr>
          <a:xfrm>
            <a:off x="6351880" y="3154680"/>
            <a:ext cx="5218024" cy="715975"/>
          </a:xfrm>
          <a:prstGeom prst="rect">
            <a:avLst/>
          </a:prstGeom>
          <a:noFill/>
          <a:ln/>
        </p:spPr>
        <p:txBody>
          <a:bodyPr wrap="square" lIns="0" tIns="0" rIns="0" bIns="0" rtlCol="0" anchor="b"/>
          <a:lstStyle/>
          <a:p>
            <a:pPr algn="ctr" indent="0" marL="0">
              <a:buNone/>
            </a:pPr>
            <a:r>
              <a:rPr lang="en-US" sz="3400" b="1" dirty="0">
                <a:solidFill>
                  <a:srgbClr val="3E7455"/>
                </a:solidFill>
                <a:latin typeface="Cambria" pitchFamily="34" charset="0"/>
                <a:ea typeface="Cambria" pitchFamily="34" charset="-122"/>
                <a:cs typeface="Cambria" pitchFamily="34" charset="-120"/>
              </a:rPr>
              <a:t>8</a:t>
            </a:r>
            <a:endParaRPr lang="en-US" sz="3400" dirty="0"/>
          </a:p>
        </p:txBody>
      </p:sp>
      <p:sp>
        <p:nvSpPr>
          <p:cNvPr id="12" name="Text 10"/>
          <p:cNvSpPr/>
          <p:nvPr/>
        </p:nvSpPr>
        <p:spPr>
          <a:xfrm>
            <a:off x="6351880" y="3834079"/>
            <a:ext cx="5218024" cy="469087"/>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gate applications — extend one gate at a time, reusing prior length</a:t>
            </a:r>
            <a:endParaRPr lang="en-US" sz="1050" dirty="0"/>
          </a:p>
        </p:txBody>
      </p:sp>
      <p:sp>
        <p:nvSpPr>
          <p:cNvPr id="13" name="Text 11"/>
          <p:cNvSpPr/>
          <p:nvPr/>
        </p:nvSpPr>
        <p:spPr>
          <a:xfrm>
            <a:off x="548640" y="4526280"/>
            <a:ext cx="11094415" cy="4389120"/>
          </a:xfrm>
          <a:prstGeom prst="rect">
            <a:avLst/>
          </a:prstGeom>
          <a:noFill/>
          <a:ln/>
        </p:spPr>
        <p:txBody>
          <a:bodyPr wrap="square" rtlCol="0" anchor="t"/>
          <a:lstStyle/>
          <a:p>
            <a:pPr marL="177800" indent="-177800">
              <a:lnSpc>
                <a:spcPct val="112000"/>
              </a:lnSpc>
              <a:spcAft>
                <a:spcPts val="800"/>
              </a:spcAft>
              <a:buSzPct val="100000"/>
              <a:buChar char="▪"/>
            </a:pPr>
            <a:r>
              <a:rPr lang="en-US" sz="1200" dirty="0">
                <a:solidFill>
                  <a:srgbClr val="2A3648"/>
                </a:solidFill>
                <a:latin typeface="Calibri" pitchFamily="34" charset="0"/>
                <a:ea typeface="Calibri" pitchFamily="34" charset="-122"/>
                <a:cs typeface="Calibri" pitchFamily="34" charset="-120"/>
              </a:rPr>
              <a:t>Widening only happens when a gate introduces a wire the window has not yet touched — a Kronecker product with identity for the numeric engine, two new tableau rows inserted where the constructor would place them for the exact engine.</a:t>
            </a:r>
            <a:endParaRPr lang="en-US" sz="1200" dirty="0"/>
          </a:p>
          <a:p>
            <a:pPr marL="177800" indent="-177800">
              <a:lnSpc>
                <a:spcPct val="112000"/>
              </a:lnSpc>
              <a:spcAft>
                <a:spcPts val="800"/>
              </a:spcAft>
              <a:buSzPct val="100000"/>
              <a:buChar char="▪"/>
            </a:pPr>
            <a:r>
              <a:rPr lang="en-US" sz="1200" dirty="0">
                <a:solidFill>
                  <a:srgbClr val="2A3648"/>
                </a:solidFill>
                <a:latin typeface="Calibri" pitchFamily="34" charset="0"/>
                <a:ea typeface="Calibri" pitchFamily="34" charset="-122"/>
                <a:cs typeface="Calibri" pitchFamily="34" charset="-120"/>
              </a:rPr>
              <a:t>An exhaustive per-window comparison against the original construction confirms the two never disagree on achievable length (or, for the exact engine's Pareto-alternatives cache, on length and two-qubit count together).</a:t>
            </a:r>
            <a:endParaRPr lang="en-US" sz="1200" dirty="0"/>
          </a:p>
          <a:p>
            <a:pPr marL="177800" indent="-177800">
              <a:lnSpc>
                <a:spcPct val="112000"/>
              </a:lnSpc>
              <a:spcAft>
                <a:spcPts val="1000"/>
              </a:spcAft>
              <a:buSzPct val="100000"/>
              <a:buChar char="▪"/>
            </a:pPr>
            <a:r>
              <a:rPr lang="en-US" sz="1200" b="1" dirty="0">
                <a:solidFill>
                  <a:srgbClr val="2A3648"/>
                </a:solidFill>
                <a:latin typeface="Calibri" pitchFamily="34" charset="0"/>
                <a:ea typeface="Calibri" pitchFamily="34" charset="-122"/>
                <a:cs typeface="Calibri" pitchFamily="34" charset="-120"/>
              </a:rPr>
              <a:t>Under the same wall-clock budget this raises search throughput substantially — mean completed passes per circuit rise several-fold on the cost-aware ion-trap protocol.</a:t>
            </a:r>
            <a:endParaRPr lang="en-US" sz="1200" dirty="0"/>
          </a:p>
        </p:txBody>
      </p:sp>
      <p:sp>
        <p:nvSpPr>
          <p:cNvPr id="14" name="Text 1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 · CONTRIBUTIONS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Addition 5 — a Disk-Backed Compute Graph</a:t>
            </a:r>
            <a:endParaRPr lang="en-US" sz="2900" dirty="0"/>
          </a:p>
        </p:txBody>
      </p:sp>
      <p:sp>
        <p:nvSpPr>
          <p:cNvPr id="6" name="Text 4"/>
          <p:cNvSpPr/>
          <p:nvPr/>
        </p:nvSpPr>
        <p:spPr>
          <a:xfrm>
            <a:off x="548640" y="1572768"/>
            <a:ext cx="11094415" cy="4389120"/>
          </a:xfrm>
          <a:prstGeom prst="rect">
            <a:avLst/>
          </a:prstGeom>
          <a:noFill/>
          <a:ln/>
        </p:spPr>
        <p:txBody>
          <a:bodyPr wrap="square" rtlCol="0" anchor="t"/>
          <a:lstStyle/>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Compute-graph size is the practical ceiling on search depth. Building the four-wire NISQ graph one level deeper — depth 4 to depth 5 — takes it from 167,449 to 1,912,349 nodes.</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Combined across wire counts, the resulting database exceeds 11 million nodes — too large for a laptop's RAM (this thesis's hardware: 8 cores, 16 GB).</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Mechanism: an on-disk, SQLite-backed store replaces the in-memory dictionary for graphs above a size threshold, at the cost of slower builds and a per-worker-process caching discipline — the subject of the diagnostic-study finding in Section V.</a:t>
            </a:r>
            <a:endParaRPr lang="en-US" sz="1350" dirty="0"/>
          </a:p>
        </p:txBody>
      </p:sp>
      <p:sp>
        <p:nvSpPr>
          <p:cNvPr id="7" name="Shape 5"/>
          <p:cNvSpPr/>
          <p:nvPr/>
        </p:nvSpPr>
        <p:spPr>
          <a:xfrm>
            <a:off x="548640" y="4434840"/>
            <a:ext cx="11094415" cy="1691640"/>
          </a:xfrm>
          <a:prstGeom prst="roundRect">
            <a:avLst>
              <a:gd name="adj" fmla="val 4324"/>
            </a:avLst>
          </a:prstGeom>
          <a:solidFill>
            <a:srgbClr val="0B1F3A"/>
          </a:solidFill>
          <a:ln/>
        </p:spPr>
      </p:sp>
      <p:sp>
        <p:nvSpPr>
          <p:cNvPr id="8" name="Text 6"/>
          <p:cNvSpPr/>
          <p:nvPr/>
        </p:nvSpPr>
        <p:spPr>
          <a:xfrm>
            <a:off x="822960" y="4709160"/>
            <a:ext cx="10545775" cy="1097280"/>
          </a:xfrm>
          <a:prstGeom prst="rect">
            <a:avLst/>
          </a:prstGeom>
          <a:noFill/>
          <a:ln/>
        </p:spPr>
        <p:txBody>
          <a:bodyPr wrap="square" lIns="0" tIns="0" rIns="0" bIns="0" rtlCol="0" anchor="ctr"/>
          <a:lstStyle/>
          <a:p>
            <a:pPr indent="0" marL="0">
              <a:lnSpc>
                <a:spcPct val="130000"/>
              </a:lnSpc>
              <a:buNone/>
            </a:pPr>
            <a:r>
              <a:rPr lang="en-US" sz="1500" i="1" dirty="0">
                <a:solidFill>
                  <a:srgbClr val="E8B94B"/>
                </a:solidFill>
                <a:latin typeface="Cambria" pitchFamily="34" charset="0"/>
                <a:ea typeface="Cambria" pitchFamily="34" charset="-122"/>
                <a:cs typeface="Cambria" pitchFamily="34" charset="-120"/>
              </a:rPr>
              <a:t>This addition exists purely to make the depth-hypothesis test in Section V possible — it is instrumentation for the diagnosis, not a headline result on its own.</a:t>
            </a:r>
            <a:endParaRPr lang="en-US" sz="1500" dirty="0"/>
          </a:p>
        </p:txBody>
      </p:sp>
      <p:sp>
        <p:nvSpPr>
          <p:cNvPr id="9" name="Text 7"/>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8"/>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194560" y="3840480"/>
            <a:ext cx="5669280" cy="5669280"/>
          </a:xfrm>
          <a:prstGeom prst="ellipse">
            <a:avLst/>
          </a:prstGeom>
          <a:solidFill>
            <a:srgbClr val="13294C"/>
          </a:solidFill>
          <a:ln/>
        </p:spPr>
      </p:sp>
      <p:sp>
        <p:nvSpPr>
          <p:cNvPr id="3" name="Shape 1"/>
          <p:cNvSpPr/>
          <p:nvPr/>
        </p:nvSpPr>
        <p:spPr>
          <a:xfrm>
            <a:off x="548640" y="640080"/>
            <a:ext cx="457200" cy="457200"/>
          </a:xfrm>
          <a:prstGeom prst="ellipse">
            <a:avLst/>
          </a:prstGeom>
          <a:solidFill>
            <a:srgbClr val="9C6510"/>
          </a:solidFill>
          <a:ln/>
        </p:spPr>
      </p:sp>
      <p:sp>
        <p:nvSpPr>
          <p:cNvPr id="4" name="Text 2"/>
          <p:cNvSpPr/>
          <p:nvPr/>
        </p:nvSpPr>
        <p:spPr>
          <a:xfrm>
            <a:off x="548640" y="6400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 name="Text 3"/>
          <p:cNvSpPr/>
          <p:nvPr/>
        </p:nvSpPr>
        <p:spPr>
          <a:xfrm>
            <a:off x="1170432" y="640080"/>
            <a:ext cx="5486400" cy="457200"/>
          </a:xfrm>
          <a:prstGeom prst="rect">
            <a:avLst/>
          </a:prstGeom>
          <a:noFill/>
          <a:ln/>
        </p:spPr>
        <p:txBody>
          <a:bodyPr wrap="square" lIns="0" tIns="0" rIns="0" bIns="0" rtlCol="0" anchor="ctr"/>
          <a:lstStyle/>
          <a:p>
            <a:pPr indent="0" marL="0">
              <a:buNone/>
            </a:pPr>
            <a:r>
              <a:rPr lang="en-US" sz="1400" b="1" spc="300" kern="0" dirty="0">
                <a:solidFill>
                  <a:srgbClr val="E8B94B"/>
                </a:solidFill>
                <a:latin typeface="Calibri" pitchFamily="34" charset="0"/>
                <a:ea typeface="Calibri" pitchFamily="34" charset="-122"/>
                <a:cs typeface="Calibri" pitchFamily="34" charset="-120"/>
              </a:rPr>
              <a:t>SECTION III</a:t>
            </a:r>
            <a:endParaRPr lang="en-US" sz="1400" dirty="0"/>
          </a:p>
        </p:txBody>
      </p:sp>
      <p:sp>
        <p:nvSpPr>
          <p:cNvPr id="6" name="Text 4"/>
          <p:cNvSpPr/>
          <p:nvPr/>
        </p:nvSpPr>
        <p:spPr>
          <a:xfrm>
            <a:off x="548640" y="2286000"/>
            <a:ext cx="987552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Mechanism &amp; Examples</a:t>
            </a:r>
            <a:endParaRPr lang="en-US" sz="4000" dirty="0"/>
          </a:p>
        </p:txBody>
      </p:sp>
      <p:sp>
        <p:nvSpPr>
          <p:cNvPr id="7" name="Text 5"/>
          <p:cNvSpPr/>
          <p:nvPr/>
        </p:nvSpPr>
        <p:spPr>
          <a:xfrm>
            <a:off x="548640" y="3611880"/>
            <a:ext cx="8778240" cy="822960"/>
          </a:xfrm>
          <a:prstGeom prst="rect">
            <a:avLst/>
          </a:prstGeom>
          <a:noFill/>
          <a:ln/>
        </p:spPr>
        <p:txBody>
          <a:bodyPr wrap="square" lIns="0" tIns="0" rIns="0" bIns="0" rtlCol="0" anchor="ctr"/>
          <a:lstStyle/>
          <a:p>
            <a:pPr indent="0" marL="0">
              <a:lnSpc>
                <a:spcPct val="120000"/>
              </a:lnSpc>
              <a:buNone/>
            </a:pPr>
            <a:r>
              <a:rPr lang="en-US" sz="1600" i="1" dirty="0">
                <a:solidFill>
                  <a:srgbClr val="C7D6EA"/>
                </a:solidFill>
                <a:latin typeface="Cambria" pitchFamily="34" charset="0"/>
                <a:ea typeface="Cambria" pitchFamily="34" charset="-122"/>
                <a:cs typeface="Cambria" pitchFamily="34" charset="-120"/>
              </a:rPr>
              <a:t>How the five additions compose into one pipeline — traced through an actual circuit.</a:t>
            </a:r>
            <a:endParaRPr lang="en-US" sz="1600" dirty="0"/>
          </a:p>
        </p:txBody>
      </p:sp>
      <p:sp>
        <p:nvSpPr>
          <p:cNvPr id="8" name="Shape 6"/>
          <p:cNvSpPr/>
          <p:nvPr/>
        </p:nvSpPr>
        <p:spPr>
          <a:xfrm>
            <a:off x="548640" y="4700016"/>
            <a:ext cx="82296" cy="82296"/>
          </a:xfrm>
          <a:prstGeom prst="ellipse">
            <a:avLst/>
          </a:prstGeom>
          <a:solidFill>
            <a:srgbClr val="E8B94B"/>
          </a:solidFill>
          <a:ln/>
        </p:spPr>
      </p:sp>
      <p:sp>
        <p:nvSpPr>
          <p:cNvPr id="9" name="Text 7"/>
          <p:cNvSpPr/>
          <p:nvPr/>
        </p:nvSpPr>
        <p:spPr>
          <a:xfrm>
            <a:off x="804672" y="456285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The full reduction pipeline, structural pass through fixpoint</a:t>
            </a:r>
            <a:endParaRPr lang="en-US" sz="1300" dirty="0"/>
          </a:p>
        </p:txBody>
      </p:sp>
      <p:sp>
        <p:nvSpPr>
          <p:cNvPr id="10" name="Shape 8"/>
          <p:cNvSpPr/>
          <p:nvPr/>
        </p:nvSpPr>
        <p:spPr>
          <a:xfrm>
            <a:off x="548640" y="5065776"/>
            <a:ext cx="82296" cy="82296"/>
          </a:xfrm>
          <a:prstGeom prst="ellipse">
            <a:avLst/>
          </a:prstGeom>
          <a:solidFill>
            <a:srgbClr val="E8B94B"/>
          </a:solidFill>
          <a:ln/>
        </p:spPr>
      </p:sp>
      <p:sp>
        <p:nvSpPr>
          <p:cNvPr id="11" name="Text 9"/>
          <p:cNvSpPr/>
          <p:nvPr/>
        </p:nvSpPr>
        <p:spPr>
          <a:xfrm>
            <a:off x="804672" y="492861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A worked 16-gate example, and the wire-remapping step in detail</a:t>
            </a:r>
            <a:endParaRPr lang="en-US" sz="1300" dirty="0"/>
          </a:p>
        </p:txBody>
      </p:sp>
      <p:sp>
        <p:nvSpPr>
          <p:cNvPr id="12" name="Shape 10"/>
          <p:cNvSpPr/>
          <p:nvPr/>
        </p:nvSpPr>
        <p:spPr>
          <a:xfrm>
            <a:off x="548640" y="5431536"/>
            <a:ext cx="82296" cy="82296"/>
          </a:xfrm>
          <a:prstGeom prst="ellipse">
            <a:avLst/>
          </a:prstGeom>
          <a:solidFill>
            <a:srgbClr val="E8B94B"/>
          </a:solidFill>
          <a:ln/>
        </p:spPr>
      </p:sp>
      <p:sp>
        <p:nvSpPr>
          <p:cNvPr id="13" name="Text 11"/>
          <p:cNvSpPr/>
          <p:nvPr/>
        </p:nvSpPr>
        <p:spPr>
          <a:xfrm>
            <a:off x="804672" y="529437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Measured compute-graph growth for both gate sets</a:t>
            </a:r>
            <a:endParaRPr lang="en-US" sz="1300" dirty="0"/>
          </a:p>
        </p:txBody>
      </p:sp>
      <p:sp>
        <p:nvSpPr>
          <p:cNvPr id="14" name="Text 1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A749A"/>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A749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III · MECHANISM</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The Full Reduction Pipeline</a:t>
            </a:r>
            <a:endParaRPr lang="en-US" sz="2900" dirty="0"/>
          </a:p>
        </p:txBody>
      </p:sp>
      <p:pic>
        <p:nvPicPr>
          <p:cNvPr id="4" name="Image 0" descr="C:/Users/kapoo/Downloads/QCR-Repro/figures/paper/our_figure3_pipeline.png">    </p:cNvPr>
          <p:cNvPicPr>
            <a:picLocks noChangeAspect="1"/>
          </p:cNvPicPr>
          <p:nvPr/>
        </p:nvPicPr>
        <p:blipFill>
          <a:blip r:embed="rId1"/>
          <a:stretch>
            <a:fillRect/>
          </a:stretch>
        </p:blipFill>
        <p:spPr>
          <a:xfrm>
            <a:off x="1901612" y="1755648"/>
            <a:ext cx="8388471" cy="2377440"/>
          </a:xfrm>
          <a:prstGeom prst="rect">
            <a:avLst/>
          </a:prstGeom>
        </p:spPr>
      </p:pic>
      <p:pic>
        <p:nvPicPr>
          <p:cNvPr id="5" name="Image 1" descr="C:/Users/kapoo/Downloads/QCR-Repro/figures/paper/our_figure3_pipeline.png">    </p:cNvPr>
          <p:cNvPicPr>
            <a:picLocks noChangeAspect="1"/>
          </p:cNvPicPr>
          <p:nvPr/>
        </p:nvPicPr>
        <p:blipFill>
          <a:blip r:embed="rId2"/>
          <a:stretch>
            <a:fillRect/>
          </a:stretch>
        </p:blipFill>
        <p:spPr>
          <a:xfrm>
            <a:off x="1901612" y="1755648"/>
            <a:ext cx="8388471" cy="2377440"/>
          </a:xfrm>
          <a:prstGeom prst="rect">
            <a:avLst/>
          </a:prstGeom>
        </p:spPr>
      </p:pic>
      <p:sp>
        <p:nvSpPr>
          <p:cNvPr id="6" name="Text 2"/>
          <p:cNvSpPr/>
          <p:nvPr/>
        </p:nvSpPr>
        <p:spPr>
          <a:xfrm>
            <a:off x="548640" y="4224528"/>
            <a:ext cx="11094415" cy="457200"/>
          </a:xfrm>
          <a:prstGeom prst="rect">
            <a:avLst/>
          </a:prstGeom>
          <a:noFill/>
          <a:ln/>
        </p:spPr>
        <p:txBody>
          <a:bodyPr wrap="square" lIns="0" tIns="0" rIns="0" bIns="0" rtlCol="0" anchor="t"/>
          <a:lstStyle/>
          <a:p>
            <a:pPr algn="ctr" indent="0" marL="0">
              <a:buNone/>
            </a:pPr>
            <a:r>
              <a:rPr lang="en-US" sz="1050" i="1" dirty="0">
                <a:solidFill>
                  <a:srgbClr val="5B6B82"/>
                </a:solidFill>
                <a:latin typeface="Calibri" pitchFamily="34" charset="0"/>
                <a:ea typeface="Calibri" pitchFamily="34" charset="-122"/>
                <a:cs typeface="Calibri" pitchFamily="34" charset="-120"/>
              </a:rPr>
              <a:t>Structural passes (grey) run once; the sweep, reordering, and escape steps (color) repeat to a fixpoint or until the time budget expires.</a:t>
            </a:r>
            <a:endParaRPr lang="en-US" sz="1050" dirty="0"/>
          </a:p>
        </p:txBody>
      </p:sp>
      <p:sp>
        <p:nvSpPr>
          <p:cNvPr id="7" name="Text 3"/>
          <p:cNvSpPr/>
          <p:nvPr/>
        </p:nvSpPr>
        <p:spPr>
          <a:xfrm>
            <a:off x="548640" y="4544568"/>
            <a:ext cx="3545738" cy="914400"/>
          </a:xfrm>
          <a:prstGeom prst="rect">
            <a:avLst/>
          </a:prstGeom>
          <a:noFill/>
          <a:ln/>
        </p:spPr>
        <p:txBody>
          <a:bodyPr wrap="square" lIns="0" tIns="0" rIns="0" bIns="0" rtlCol="0" anchor="t"/>
          <a:lstStyle/>
          <a:p>
            <a:pPr indent="0" marL="0">
              <a:lnSpc>
                <a:spcPct val="110000"/>
              </a:lnSpc>
              <a:buNone/>
            </a:pPr>
            <a:r>
              <a:rPr lang="en-US" sz="1150" b="1" dirty="0">
                <a:solidFill>
                  <a:srgbClr val="9C6510"/>
                </a:solidFill>
                <a:latin typeface="Calibri" pitchFamily="34" charset="0"/>
                <a:ea typeface="Calibri" pitchFamily="34" charset="-122"/>
                <a:cs typeface="Calibri" pitchFamily="34" charset="-120"/>
              </a:rPr>
              <a:t>Pre-pass  </a:t>
            </a:r>
            <a:pPr indent="0" marL="0">
              <a:lnSpc>
                <a:spcPct val="110000"/>
              </a:lnSpc>
              <a:buNone/>
            </a:pPr>
            <a:r>
              <a:rPr lang="en-US" sz="1000" dirty="0">
                <a:solidFill>
                  <a:srgbClr val="5B6B82"/>
                </a:solidFill>
                <a:latin typeface="Calibri" pitchFamily="34" charset="0"/>
                <a:ea typeface="Calibri" pitchFamily="34" charset="-122"/>
                <a:cs typeface="Calibri" pitchFamily="34" charset="-120"/>
              </a:rPr>
              <a:t>Algebraic fusion of same-axis rotations, cancellation of back-to-back two-qubit gates, exact angle arithmetic.</a:t>
            </a:r>
            <a:endParaRPr lang="en-US" sz="1150" dirty="0"/>
          </a:p>
        </p:txBody>
      </p:sp>
      <p:sp>
        <p:nvSpPr>
          <p:cNvPr id="8" name="Text 4"/>
          <p:cNvSpPr/>
          <p:nvPr/>
        </p:nvSpPr>
        <p:spPr>
          <a:xfrm>
            <a:off x="4322978" y="4544568"/>
            <a:ext cx="3545738" cy="914400"/>
          </a:xfrm>
          <a:prstGeom prst="rect">
            <a:avLst/>
          </a:prstGeom>
          <a:noFill/>
          <a:ln/>
        </p:spPr>
        <p:txBody>
          <a:bodyPr wrap="square" lIns="0" tIns="0" rIns="0" bIns="0" rtlCol="0" anchor="t"/>
          <a:lstStyle/>
          <a:p>
            <a:pPr indent="0" marL="0">
              <a:lnSpc>
                <a:spcPct val="110000"/>
              </a:lnSpc>
              <a:buNone/>
            </a:pPr>
            <a:r>
              <a:rPr lang="en-US" sz="1150" b="1" dirty="0">
                <a:solidFill>
                  <a:srgbClr val="9C6510"/>
                </a:solidFill>
                <a:latin typeface="Calibri" pitchFamily="34" charset="0"/>
                <a:ea typeface="Calibri" pitchFamily="34" charset="-122"/>
                <a:cs typeface="Calibri" pitchFamily="34" charset="-120"/>
              </a:rPr>
              <a:t>Cluster + collapse  </a:t>
            </a:r>
            <a:pPr indent="0" marL="0">
              <a:lnSpc>
                <a:spcPct val="110000"/>
              </a:lnSpc>
              <a:buNone/>
            </a:pPr>
            <a:r>
              <a:rPr lang="en-US" sz="1000" dirty="0">
                <a:solidFill>
                  <a:srgbClr val="5B6B82"/>
                </a:solidFill>
                <a:latin typeface="Calibri" pitchFamily="34" charset="0"/>
                <a:ea typeface="Calibri" pitchFamily="34" charset="-122"/>
                <a:cs typeface="Calibri" pitchFamily="34" charset="-120"/>
              </a:rPr>
              <a:t>Single-qubit runs between two-qubit barriers collapse against the one-wire graph.</a:t>
            </a:r>
            <a:endParaRPr lang="en-US" sz="1150" dirty="0"/>
          </a:p>
        </p:txBody>
      </p:sp>
      <p:sp>
        <p:nvSpPr>
          <p:cNvPr id="9" name="Text 5"/>
          <p:cNvSpPr/>
          <p:nvPr/>
        </p:nvSpPr>
        <p:spPr>
          <a:xfrm>
            <a:off x="8097317" y="4544568"/>
            <a:ext cx="3545738" cy="914400"/>
          </a:xfrm>
          <a:prstGeom prst="rect">
            <a:avLst/>
          </a:prstGeom>
          <a:noFill/>
          <a:ln/>
        </p:spPr>
        <p:txBody>
          <a:bodyPr wrap="square" lIns="0" tIns="0" rIns="0" bIns="0" rtlCol="0" anchor="t"/>
          <a:lstStyle/>
          <a:p>
            <a:pPr indent="0" marL="0">
              <a:lnSpc>
                <a:spcPct val="110000"/>
              </a:lnSpc>
              <a:buNone/>
            </a:pPr>
            <a:r>
              <a:rPr lang="en-US" sz="1150" b="1" dirty="0">
                <a:solidFill>
                  <a:srgbClr val="9C6510"/>
                </a:solidFill>
                <a:latin typeface="Calibri" pitchFamily="34" charset="0"/>
                <a:ea typeface="Calibri" pitchFamily="34" charset="-122"/>
                <a:cs typeface="Calibri" pitchFamily="34" charset="-120"/>
              </a:rPr>
              <a:t>Exhaustive sweep  </a:t>
            </a:r>
            <a:pPr indent="0" marL="0">
              <a:lnSpc>
                <a:spcPct val="110000"/>
              </a:lnSpc>
              <a:buNone/>
            </a:pPr>
            <a:r>
              <a:rPr lang="en-US" sz="1000" dirty="0">
                <a:solidFill>
                  <a:srgbClr val="5B6B82"/>
                </a:solidFill>
                <a:latin typeface="Calibri" pitchFamily="34" charset="0"/>
                <a:ea typeface="Calibri" pitchFamily="34" charset="-122"/>
                <a:cs typeface="Calibri" pitchFamily="34" charset="-120"/>
              </a:rPr>
              <a:t>Every window up to the length cap checked against the database (Addition 4: incremental).</a:t>
            </a:r>
            <a:endParaRPr lang="en-US" sz="1150" dirty="0"/>
          </a:p>
        </p:txBody>
      </p:sp>
      <p:sp>
        <p:nvSpPr>
          <p:cNvPr id="10" name="Text 6"/>
          <p:cNvSpPr/>
          <p:nvPr/>
        </p:nvSpPr>
        <p:spPr>
          <a:xfrm>
            <a:off x="548640" y="5504688"/>
            <a:ext cx="3545738" cy="914400"/>
          </a:xfrm>
          <a:prstGeom prst="rect">
            <a:avLst/>
          </a:prstGeom>
          <a:noFill/>
          <a:ln/>
        </p:spPr>
        <p:txBody>
          <a:bodyPr wrap="square" lIns="0" tIns="0" rIns="0" bIns="0" rtlCol="0" anchor="t"/>
          <a:lstStyle/>
          <a:p>
            <a:pPr indent="0" marL="0">
              <a:lnSpc>
                <a:spcPct val="110000"/>
              </a:lnSpc>
              <a:buNone/>
            </a:pPr>
            <a:r>
              <a:rPr lang="en-US" sz="1150" b="1" dirty="0">
                <a:solidFill>
                  <a:srgbClr val="9C6510"/>
                </a:solidFill>
                <a:latin typeface="Calibri" pitchFamily="34" charset="0"/>
                <a:ea typeface="Calibri" pitchFamily="34" charset="-122"/>
                <a:cs typeface="Calibri" pitchFamily="34" charset="-120"/>
              </a:rPr>
              <a:t>Reorder + shuffle  </a:t>
            </a:r>
            <a:pPr indent="0" marL="0">
              <a:lnSpc>
                <a:spcPct val="110000"/>
              </a:lnSpc>
              <a:buNone/>
            </a:pPr>
            <a:r>
              <a:rPr lang="en-US" sz="1000" dirty="0">
                <a:solidFill>
                  <a:srgbClr val="5B6B82"/>
                </a:solidFill>
                <a:latin typeface="Calibri" pitchFamily="34" charset="0"/>
                <a:ea typeface="Calibri" pitchFamily="34" charset="-122"/>
                <a:cs typeface="Calibri" pitchFamily="34" charset="-120"/>
              </a:rPr>
              <a:t>Addition 3's deterministic pass, plus randomized transport shuffling across commuting gates.</a:t>
            </a:r>
            <a:endParaRPr lang="en-US" sz="1150" dirty="0"/>
          </a:p>
        </p:txBody>
      </p:sp>
      <p:sp>
        <p:nvSpPr>
          <p:cNvPr id="11" name="Text 7"/>
          <p:cNvSpPr/>
          <p:nvPr/>
        </p:nvSpPr>
        <p:spPr>
          <a:xfrm>
            <a:off x="4322978" y="5504688"/>
            <a:ext cx="3545738" cy="914400"/>
          </a:xfrm>
          <a:prstGeom prst="rect">
            <a:avLst/>
          </a:prstGeom>
          <a:noFill/>
          <a:ln/>
        </p:spPr>
        <p:txBody>
          <a:bodyPr wrap="square" lIns="0" tIns="0" rIns="0" bIns="0" rtlCol="0" anchor="t"/>
          <a:lstStyle/>
          <a:p>
            <a:pPr indent="0" marL="0">
              <a:lnSpc>
                <a:spcPct val="110000"/>
              </a:lnSpc>
              <a:buNone/>
            </a:pPr>
            <a:r>
              <a:rPr lang="en-US" sz="1150" b="1" dirty="0">
                <a:solidFill>
                  <a:srgbClr val="9C6510"/>
                </a:solidFill>
                <a:latin typeface="Calibri" pitchFamily="34" charset="0"/>
                <a:ea typeface="Calibri" pitchFamily="34" charset="-122"/>
                <a:cs typeface="Calibri" pitchFamily="34" charset="-120"/>
              </a:rPr>
              <a:t>Escape step  </a:t>
            </a:r>
            <a:pPr indent="0" marL="0">
              <a:lnSpc>
                <a:spcPct val="110000"/>
              </a:lnSpc>
              <a:buNone/>
            </a:pPr>
            <a:r>
              <a:rPr lang="en-US" sz="1000" dirty="0">
                <a:solidFill>
                  <a:srgbClr val="5B6B82"/>
                </a:solidFill>
                <a:latin typeface="Calibri" pitchFamily="34" charset="0"/>
                <a:ea typeface="Calibri" pitchFamily="34" charset="-122"/>
                <a:cs typeface="Calibri" pitchFamily="34" charset="-120"/>
              </a:rPr>
              <a:t>Resamples an irreducible window with a structurally different equivalent word; accepted only if strictly shorter.</a:t>
            </a:r>
            <a:endParaRPr lang="en-US" sz="1150" dirty="0"/>
          </a:p>
        </p:txBody>
      </p:sp>
      <p:sp>
        <p:nvSpPr>
          <p:cNvPr id="12" name="Text 8"/>
          <p:cNvSpPr/>
          <p:nvPr/>
        </p:nvSpPr>
        <p:spPr>
          <a:xfrm>
            <a:off x="8097317" y="5504688"/>
            <a:ext cx="3545738" cy="914400"/>
          </a:xfrm>
          <a:prstGeom prst="rect">
            <a:avLst/>
          </a:prstGeom>
          <a:noFill/>
          <a:ln/>
        </p:spPr>
        <p:txBody>
          <a:bodyPr wrap="square" lIns="0" tIns="0" rIns="0" bIns="0" rtlCol="0" anchor="t"/>
          <a:lstStyle/>
          <a:p>
            <a:pPr indent="0" marL="0">
              <a:lnSpc>
                <a:spcPct val="110000"/>
              </a:lnSpc>
              <a:buNone/>
            </a:pPr>
            <a:r>
              <a:rPr lang="en-US" sz="1150" b="1" dirty="0">
                <a:solidFill>
                  <a:srgbClr val="9C6510"/>
                </a:solidFill>
                <a:latin typeface="Calibri" pitchFamily="34" charset="0"/>
                <a:ea typeface="Calibri" pitchFamily="34" charset="-122"/>
                <a:cs typeface="Calibri" pitchFamily="34" charset="-120"/>
              </a:rPr>
              <a:t>Verify  </a:t>
            </a:r>
            <a:pPr indent="0" marL="0">
              <a:lnSpc>
                <a:spcPct val="110000"/>
              </a:lnSpc>
              <a:buNone/>
            </a:pPr>
            <a:r>
              <a:rPr lang="en-US" sz="1000" dirty="0">
                <a:solidFill>
                  <a:srgbClr val="5B6B82"/>
                </a:solidFill>
                <a:latin typeface="Calibri" pitchFamily="34" charset="0"/>
                <a:ea typeface="Calibri" pitchFamily="34" charset="-122"/>
                <a:cs typeface="Calibri" pitchFamily="34" charset="-120"/>
              </a:rPr>
              <a:t>Every output checked against the input unitary — exactly for Clifford pools, to 1e-5 up to global phase otherwise.</a:t>
            </a:r>
            <a:endParaRPr lang="en-US" sz="1150" dirty="0"/>
          </a:p>
        </p:txBody>
      </p:sp>
      <p:sp>
        <p:nvSpPr>
          <p:cNvPr id="13" name="Text 9"/>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4" name="Text 10"/>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III · MECHANISM</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Worked Example — a 16-Gate Circuit Reduced to 6</a:t>
            </a:r>
            <a:endParaRPr lang="en-US" sz="2900" dirty="0"/>
          </a:p>
        </p:txBody>
      </p:sp>
      <p:pic>
        <p:nvPicPr>
          <p:cNvPr id="4" name="Image 0" descr="C:/Users/kapoo/Downloads/QCR-Repro/figures/paper/our_figure1_4_example_reduction.png">    </p:cNvPr>
          <p:cNvPicPr>
            <a:picLocks noChangeAspect="1"/>
          </p:cNvPicPr>
          <p:nvPr/>
        </p:nvPicPr>
        <p:blipFill>
          <a:blip r:embed="rId1"/>
          <a:stretch>
            <a:fillRect/>
          </a:stretch>
        </p:blipFill>
        <p:spPr>
          <a:xfrm>
            <a:off x="2814387" y="1572768"/>
            <a:ext cx="6562921" cy="3977640"/>
          </a:xfrm>
          <a:prstGeom prst="rect">
            <a:avLst/>
          </a:prstGeom>
        </p:spPr>
      </p:pic>
      <p:sp>
        <p:nvSpPr>
          <p:cNvPr id="5" name="Shape 2"/>
          <p:cNvSpPr/>
          <p:nvPr/>
        </p:nvSpPr>
        <p:spPr>
          <a:xfrm>
            <a:off x="2677227" y="1435608"/>
            <a:ext cx="6837241" cy="4251960"/>
          </a:xfrm>
          <a:prstGeom prst="roundRect">
            <a:avLst>
              <a:gd name="adj" fmla="val 1720"/>
            </a:avLst>
          </a:prstGeom>
          <a:solidFill>
            <a:srgbClr val="FFFFFF"/>
          </a:solidFill>
          <a:ln w="12700">
            <a:solidFill>
              <a:srgbClr val="D7E0EA"/>
            </a:solidFill>
            <a:prstDash val="solid"/>
          </a:ln>
        </p:spPr>
      </p:sp>
      <p:pic>
        <p:nvPicPr>
          <p:cNvPr id="6" name="Image 1" descr="C:/Users/kapoo/Downloads/QCR-Repro/figures/paper/our_figure1_4_example_reduction.png">    </p:cNvPr>
          <p:cNvPicPr>
            <a:picLocks noChangeAspect="1"/>
          </p:cNvPicPr>
          <p:nvPr/>
        </p:nvPicPr>
        <p:blipFill>
          <a:blip r:embed="rId2"/>
          <a:stretch>
            <a:fillRect/>
          </a:stretch>
        </p:blipFill>
        <p:spPr>
          <a:xfrm>
            <a:off x="2814387" y="1572768"/>
            <a:ext cx="6562921" cy="3977640"/>
          </a:xfrm>
          <a:prstGeom prst="rect">
            <a:avLst/>
          </a:prstGeom>
        </p:spPr>
      </p:pic>
      <p:sp>
        <p:nvSpPr>
          <p:cNvPr id="7" name="Text 3"/>
          <p:cNvSpPr/>
          <p:nvPr/>
        </p:nvSpPr>
        <p:spPr>
          <a:xfrm>
            <a:off x="548640" y="5687568"/>
            <a:ext cx="11094415" cy="457200"/>
          </a:xfrm>
          <a:prstGeom prst="rect">
            <a:avLst/>
          </a:prstGeom>
          <a:noFill/>
          <a:ln/>
        </p:spPr>
        <p:txBody>
          <a:bodyPr wrap="square" lIns="0" tIns="0" rIns="0" bIns="0" rtlCol="0" anchor="t"/>
          <a:lstStyle/>
          <a:p>
            <a:pPr algn="ctr" indent="0" marL="0">
              <a:buNone/>
            </a:pPr>
            <a:r>
              <a:rPr lang="en-US" sz="1100" i="1" dirty="0">
                <a:solidFill>
                  <a:srgbClr val="5B6B82"/>
                </a:solidFill>
                <a:latin typeface="Calibri" pitchFamily="34" charset="0"/>
                <a:ea typeface="Calibri" pitchFamily="34" charset="-122"/>
                <a:cs typeface="Calibri" pitchFamily="34" charset="-120"/>
              </a:rPr>
              <a:t>A random 3-qubit ion-trap circuit (top) reduced by the exact engine to the equivalent circuit (bottom), verified unitary-equivalent to machine precision — exactly, since this is the Clifford pool.</a:t>
            </a:r>
            <a:endParaRPr lang="en-US" sz="1100" dirty="0"/>
          </a:p>
        </p:txBody>
      </p:sp>
      <p:sp>
        <p:nvSpPr>
          <p:cNvPr id="8" name="Text 4"/>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9" name="Text 5"/>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III · MECHANISM</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Worked Example — Wire Remapping in a Wide Circuit</a:t>
            </a:r>
            <a:endParaRPr lang="en-US" sz="2900" dirty="0"/>
          </a:p>
        </p:txBody>
      </p:sp>
      <p:sp>
        <p:nvSpPr>
          <p:cNvPr id="4" name="Text 2"/>
          <p:cNvSpPr/>
          <p:nvPr/>
        </p:nvSpPr>
        <p:spPr>
          <a:xfrm>
            <a:off x="548640" y="1572768"/>
            <a:ext cx="11094415" cy="4389120"/>
          </a:xfrm>
          <a:prstGeom prst="rect">
            <a:avLst/>
          </a:prstGeom>
          <a:noFill/>
          <a:ln/>
        </p:spPr>
        <p:txBody>
          <a:bodyPr wrap="square" rtlCol="0" anchor="t"/>
          <a:lstStyle/>
          <a:p>
            <a:pPr marL="177800" indent="-177800">
              <a:lnSpc>
                <a:spcPct val="112000"/>
              </a:lnSpc>
              <a:spcAft>
                <a:spcPts val="800"/>
              </a:spcAft>
              <a:buSzPct val="100000"/>
              <a:buChar char="▪"/>
            </a:pPr>
            <a:r>
              <a:rPr lang="en-US" sz="1300" dirty="0">
                <a:solidFill>
                  <a:srgbClr val="2A3648"/>
                </a:solidFill>
                <a:latin typeface="Calibri" pitchFamily="34" charset="0"/>
                <a:ea typeface="Calibri" pitchFamily="34" charset="-122"/>
                <a:cs typeface="Calibri" pitchFamily="34" charset="-120"/>
              </a:rPr>
              <a:t>Recall (Slide 10): a k-wire compute graph is reused across every k-wire block of every circuit, regardless of width. Here is that mechanism on an actual block.</a:t>
            </a:r>
            <a:endParaRPr lang="en-US" sz="1300" dirty="0"/>
          </a:p>
        </p:txBody>
      </p:sp>
      <p:pic>
        <p:nvPicPr>
          <p:cNvPr id="5" name="Image 0" descr="C:/Users/kapoo/Downloads/QCR-Repro/figures/paper/our_figure7_wire_reduction.png">    </p:cNvPr>
          <p:cNvPicPr>
            <a:picLocks noChangeAspect="1"/>
          </p:cNvPicPr>
          <p:nvPr/>
        </p:nvPicPr>
        <p:blipFill>
          <a:blip r:embed="rId1"/>
          <a:stretch>
            <a:fillRect/>
          </a:stretch>
        </p:blipFill>
        <p:spPr>
          <a:xfrm>
            <a:off x="1869863" y="2075688"/>
            <a:ext cx="8451968" cy="2286000"/>
          </a:xfrm>
          <a:prstGeom prst="rect">
            <a:avLst/>
          </a:prstGeom>
        </p:spPr>
      </p:pic>
      <p:sp>
        <p:nvSpPr>
          <p:cNvPr id="6" name="Shape 3"/>
          <p:cNvSpPr/>
          <p:nvPr/>
        </p:nvSpPr>
        <p:spPr>
          <a:xfrm>
            <a:off x="1732703" y="1938528"/>
            <a:ext cx="8726288" cy="2560320"/>
          </a:xfrm>
          <a:prstGeom prst="roundRect">
            <a:avLst>
              <a:gd name="adj" fmla="val 2857"/>
            </a:avLst>
          </a:prstGeom>
          <a:solidFill>
            <a:srgbClr val="FFFFFF"/>
          </a:solidFill>
          <a:ln w="12700">
            <a:solidFill>
              <a:srgbClr val="D7E0EA"/>
            </a:solidFill>
            <a:prstDash val="solid"/>
          </a:ln>
        </p:spPr>
      </p:sp>
      <p:pic>
        <p:nvPicPr>
          <p:cNvPr id="7" name="Image 1" descr="C:/Users/kapoo/Downloads/QCR-Repro/figures/paper/our_figure7_wire_reduction.png">    </p:cNvPr>
          <p:cNvPicPr>
            <a:picLocks noChangeAspect="1"/>
          </p:cNvPicPr>
          <p:nvPr/>
        </p:nvPicPr>
        <p:blipFill>
          <a:blip r:embed="rId2"/>
          <a:stretch>
            <a:fillRect/>
          </a:stretch>
        </p:blipFill>
        <p:spPr>
          <a:xfrm>
            <a:off x="1869863" y="2075688"/>
            <a:ext cx="8451968" cy="2286000"/>
          </a:xfrm>
          <a:prstGeom prst="rect">
            <a:avLst/>
          </a:prstGeom>
        </p:spPr>
      </p:pic>
      <p:sp>
        <p:nvSpPr>
          <p:cNvPr id="8" name="Text 4"/>
          <p:cNvSpPr/>
          <p:nvPr/>
        </p:nvSpPr>
        <p:spPr>
          <a:xfrm>
            <a:off x="548640" y="4681728"/>
            <a:ext cx="11094415" cy="4389120"/>
          </a:xfrm>
          <a:prstGeom prst="rect">
            <a:avLst/>
          </a:prstGeom>
          <a:noFill/>
          <a:ln/>
        </p:spPr>
        <p:txBody>
          <a:bodyPr wrap="square" rtlCol="0" anchor="t"/>
          <a:lstStyle/>
          <a:p>
            <a:pPr marL="177800" indent="-177800">
              <a:lnSpc>
                <a:spcPct val="112000"/>
              </a:lnSpc>
              <a:spcAft>
                <a:spcPts val="800"/>
              </a:spcAft>
              <a:buSzPct val="100000"/>
              <a:buChar char="▪"/>
            </a:pPr>
            <a:r>
              <a:rPr lang="en-US" sz="1200" dirty="0">
                <a:solidFill>
                  <a:srgbClr val="2A3648"/>
                </a:solidFill>
                <a:latin typeface="Calibri" pitchFamily="34" charset="0"/>
                <a:ea typeface="Calibri" pitchFamily="34" charset="-122"/>
                <a:cs typeface="Calibri" pitchFamily="34" charset="-120"/>
              </a:rPr>
              <a:t>A block touching two of a five-wire register's qubits (q0, q2) is remapped to local coordinates 0/1, matched against the two-wire compute graph, and the shorter replacement lifted back onto the original wires q0/q2.</a:t>
            </a:r>
            <a:endParaRPr lang="en-US" sz="1200" dirty="0"/>
          </a:p>
          <a:p>
            <a:pPr marL="177800" indent="-177800">
              <a:lnSpc>
                <a:spcPct val="112000"/>
              </a:lnSpc>
              <a:spcAft>
                <a:spcPts val="1000"/>
              </a:spcAft>
              <a:buSzPct val="100000"/>
              <a:buChar char="▪"/>
            </a:pPr>
            <a:r>
              <a:rPr lang="en-US" sz="1200" dirty="0">
                <a:solidFill>
                  <a:srgbClr val="2A3648"/>
                </a:solidFill>
                <a:latin typeface="Calibri" pitchFamily="34" charset="0"/>
                <a:ea typeface="Calibri" pitchFamily="34" charset="-122"/>
                <a:cs typeface="Calibri" pitchFamily="34" charset="-120"/>
              </a:rPr>
              <a:t>Here two adjacent RZ rotations of opposite sign cancel — the lifted-back block is two gates shorter than the input, with q1, q3, q4 left untouched throughout.</a:t>
            </a:r>
            <a:endParaRPr lang="en-US" sz="1200" dirty="0"/>
          </a:p>
        </p:txBody>
      </p:sp>
      <p:sp>
        <p:nvSpPr>
          <p:cNvPr id="9" name="Text 5"/>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6"/>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III · MECHANISM</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Measured Compute-Graph Growth</a:t>
            </a:r>
            <a:endParaRPr lang="en-US" sz="2900" dirty="0"/>
          </a:p>
        </p:txBody>
      </p:sp>
      <p:pic>
        <p:nvPicPr>
          <p:cNvPr id="4" name="Image 0" descr="C:/Users/kapoo/Downloads/QCR-Repro/figures/paper/our_figure2_compute_graph_growth.png">    </p:cNvPr>
          <p:cNvPicPr>
            <a:picLocks noChangeAspect="1"/>
          </p:cNvPicPr>
          <p:nvPr/>
        </p:nvPicPr>
        <p:blipFill>
          <a:blip r:embed="rId1"/>
          <a:stretch>
            <a:fillRect/>
          </a:stretch>
        </p:blipFill>
        <p:spPr>
          <a:xfrm>
            <a:off x="548640" y="1572768"/>
            <a:ext cx="6309360" cy="4173490"/>
          </a:xfrm>
          <a:prstGeom prst="rect">
            <a:avLst/>
          </a:prstGeom>
        </p:spPr>
      </p:pic>
      <p:sp>
        <p:nvSpPr>
          <p:cNvPr id="5" name="Shape 2"/>
          <p:cNvSpPr/>
          <p:nvPr/>
        </p:nvSpPr>
        <p:spPr>
          <a:xfrm>
            <a:off x="411480" y="1435608"/>
            <a:ext cx="6583680" cy="4447810"/>
          </a:xfrm>
          <a:prstGeom prst="roundRect">
            <a:avLst>
              <a:gd name="adj" fmla="val 1645"/>
            </a:avLst>
          </a:prstGeom>
          <a:solidFill>
            <a:srgbClr val="FFFFFF"/>
          </a:solidFill>
          <a:ln w="12700">
            <a:solidFill>
              <a:srgbClr val="D7E0EA"/>
            </a:solidFill>
            <a:prstDash val="solid"/>
          </a:ln>
        </p:spPr>
      </p:sp>
      <p:pic>
        <p:nvPicPr>
          <p:cNvPr id="6" name="Image 1" descr="C:/Users/kapoo/Downloads/QCR-Repro/figures/paper/our_figure2_compute_graph_growth.png">    </p:cNvPr>
          <p:cNvPicPr>
            <a:picLocks noChangeAspect="1"/>
          </p:cNvPicPr>
          <p:nvPr/>
        </p:nvPicPr>
        <p:blipFill>
          <a:blip r:embed="rId2"/>
          <a:stretch>
            <a:fillRect/>
          </a:stretch>
        </p:blipFill>
        <p:spPr>
          <a:xfrm>
            <a:off x="548640" y="1572768"/>
            <a:ext cx="6309360" cy="4173490"/>
          </a:xfrm>
          <a:prstGeom prst="rect">
            <a:avLst/>
          </a:prstGeom>
        </p:spPr>
      </p:pic>
      <p:sp>
        <p:nvSpPr>
          <p:cNvPr id="7" name="Text 3"/>
          <p:cNvSpPr/>
          <p:nvPr/>
        </p:nvSpPr>
        <p:spPr>
          <a:xfrm>
            <a:off x="7040880" y="1755648"/>
            <a:ext cx="4602175" cy="4389120"/>
          </a:xfrm>
          <a:prstGeom prst="rect">
            <a:avLst/>
          </a:prstGeom>
          <a:noFill/>
          <a:ln/>
        </p:spPr>
        <p:txBody>
          <a:bodyPr wrap="square" rtlCol="0" anchor="t"/>
          <a:lstStyle/>
          <a:p>
            <a:pPr marL="177800" indent="-177800">
              <a:lnSpc>
                <a:spcPct val="112000"/>
              </a:lnSpc>
              <a:spcAft>
                <a:spcPts val="1200"/>
              </a:spcAft>
              <a:buSzPct val="100000"/>
              <a:buChar char="▪"/>
            </a:pPr>
            <a:r>
              <a:rPr lang="en-US" sz="1250" dirty="0">
                <a:solidFill>
                  <a:srgbClr val="2A3648"/>
                </a:solidFill>
                <a:latin typeface="Calibri" pitchFamily="34" charset="0"/>
                <a:ea typeface="Calibri" pitchFamily="34" charset="-122"/>
                <a:cs typeface="Calibri" pitchFamily="34" charset="-120"/>
              </a:rPr>
              <a:t>Node counts measured directly from this codebase's own graph builds, both gate sets, two and three active wires.</a:t>
            </a:r>
            <a:endParaRPr lang="en-US" sz="1250" dirty="0"/>
          </a:p>
          <a:p>
            <a:pPr marL="177800" indent="-177800">
              <a:lnSpc>
                <a:spcPct val="112000"/>
              </a:lnSpc>
              <a:spcAft>
                <a:spcPts val="1200"/>
              </a:spcAft>
              <a:buSzPct val="100000"/>
              <a:buChar char="▪"/>
            </a:pPr>
            <a:r>
              <a:rPr lang="en-US" sz="1250" dirty="0">
                <a:solidFill>
                  <a:srgbClr val="2A3648"/>
                </a:solidFill>
                <a:latin typeface="Calibri" pitchFamily="34" charset="0"/>
                <a:ea typeface="Calibri" pitchFamily="34" charset="-122"/>
                <a:cs typeface="Calibri" pitchFamily="34" charset="-120"/>
              </a:rPr>
              <a:t>NISQ graphs are larger at every depth than ion-trap's — the pool includes both ±π/2 and ±π/4 rotations, so branching factor is higher from the first level.</a:t>
            </a:r>
            <a:endParaRPr lang="en-US" sz="1250" dirty="0"/>
          </a:p>
          <a:p>
            <a:pPr marL="177800" indent="-177800">
              <a:lnSpc>
                <a:spcPct val="112000"/>
              </a:lnSpc>
              <a:spcAft>
                <a:spcPts val="1000"/>
              </a:spcAft>
              <a:buSzPct val="100000"/>
              <a:buChar char="▪"/>
            </a:pPr>
            <a:r>
              <a:rPr lang="en-US" sz="1250" b="1" dirty="0">
                <a:solidFill>
                  <a:srgbClr val="2A3648"/>
                </a:solidFill>
                <a:latin typeface="Calibri" pitchFamily="34" charset="0"/>
                <a:ea typeface="Calibri" pitchFamily="34" charset="-122"/>
                <a:cs typeface="Calibri" pitchFamily="34" charset="-120"/>
              </a:rPr>
              <a:t>This single curve explains why every configuration in this thesis fixes an asymmetric, hand-tuned depth per wire count rather than a uniform depth — and motivates the depth hypothesis tested directly in Section V.</a:t>
            </a:r>
            <a:endParaRPr lang="en-US" sz="1250" dirty="0"/>
          </a:p>
        </p:txBody>
      </p:sp>
      <p:sp>
        <p:nvSpPr>
          <p:cNvPr id="8" name="Text 4"/>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9" name="Text 5"/>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III · MECHANISM</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Verification Methodology</a:t>
            </a:r>
            <a:endParaRPr lang="en-US" sz="2900" dirty="0"/>
          </a:p>
        </p:txBody>
      </p:sp>
      <p:sp>
        <p:nvSpPr>
          <p:cNvPr id="4" name="Text 2"/>
          <p:cNvSpPr/>
          <p:nvPr/>
        </p:nvSpPr>
        <p:spPr>
          <a:xfrm>
            <a:off x="548640" y="1572768"/>
            <a:ext cx="11094415" cy="4389120"/>
          </a:xfrm>
          <a:prstGeom prst="rect">
            <a:avLst/>
          </a:prstGeom>
          <a:noFill/>
          <a:ln/>
        </p:spPr>
        <p:txBody>
          <a:bodyPr wrap="square" rtlCol="0" anchor="t"/>
          <a:lstStyle/>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Every reported result — every table in Section IV — is a unitary-verified simulation. No reduced circuit is reported without passing this check.</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Ion trap (Clifford pool): verified exactly, via the same signed symplectic tableau the exact engine searches over — not merely to a tolerance.</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NISQ (mixed pool): verified numerically to 1×10⁻⁵, up to global phase, matching the source paper's own tolerance.</a:t>
            </a:r>
            <a:endParaRPr lang="en-US" sz="1350" dirty="0"/>
          </a:p>
          <a:p>
            <a:pPr marL="177800" indent="-177800">
              <a:lnSpc>
                <a:spcPct val="112000"/>
              </a:lnSpc>
              <a:spcAft>
                <a:spcPts val="1000"/>
              </a:spcAft>
              <a:buSzPct val="100000"/>
              <a:buChar char="▪"/>
            </a:pPr>
            <a:r>
              <a:rPr lang="en-US" sz="1350" b="1" dirty="0">
                <a:solidFill>
                  <a:srgbClr val="2A3648"/>
                </a:solidFill>
                <a:latin typeface="Calibri" pitchFamily="34" charset="0"/>
                <a:ea typeface="Calibri" pitchFamily="34" charset="-122"/>
                <a:cs typeface="Calibri" pitchFamily="34" charset="-120"/>
              </a:rPr>
              <a:t>Equivalence pass rate across every benchmark run in this thesis: 1.000 — zero verification failures on any reported circuit (BQSKit level 4 is the one exception, and is omitted rather than reported unverified; Section VI).</a:t>
            </a:r>
            <a:endParaRPr lang="en-US" sz="1350" dirty="0"/>
          </a:p>
          <a:p>
            <a:pPr marL="177800" indent="-177800">
              <a:lnSpc>
                <a:spcPct val="112000"/>
              </a:lnSpc>
              <a:spcAft>
                <a:spcPts val="1000"/>
              </a:spcAft>
              <a:buSzPct val="100000"/>
              <a:buChar char="▪"/>
            </a:pPr>
            <a:r>
              <a:rPr lang="en-US" sz="1350" dirty="0">
                <a:solidFill>
                  <a:srgbClr val="2A3648"/>
                </a:solidFill>
                <a:latin typeface="Calibri" pitchFamily="34" charset="0"/>
                <a:ea typeface="Calibri" pitchFamily="34" charset="-122"/>
                <a:cs typeface="Calibri" pitchFamily="34" charset="-120"/>
              </a:rPr>
              <a:t>Input-composition fidelity is checked independently for each gate set before any reduction numbers are trusted — own-run gate-type means are compared against the published Table 6/7 rows (Section IV).</a:t>
            </a:r>
            <a:endParaRPr lang="en-US" sz="1350" dirty="0"/>
          </a:p>
        </p:txBody>
      </p:sp>
      <p:sp>
        <p:nvSpPr>
          <p:cNvPr id="5" name="Text 3"/>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6" name="Text 4"/>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194560" y="3840480"/>
            <a:ext cx="5669280" cy="5669280"/>
          </a:xfrm>
          <a:prstGeom prst="ellipse">
            <a:avLst/>
          </a:prstGeom>
          <a:solidFill>
            <a:srgbClr val="13294C"/>
          </a:solidFill>
          <a:ln/>
        </p:spPr>
      </p:sp>
      <p:sp>
        <p:nvSpPr>
          <p:cNvPr id="3" name="Shape 1"/>
          <p:cNvSpPr/>
          <p:nvPr/>
        </p:nvSpPr>
        <p:spPr>
          <a:xfrm>
            <a:off x="548640" y="640080"/>
            <a:ext cx="457200" cy="457200"/>
          </a:xfrm>
          <a:prstGeom prst="ellipse">
            <a:avLst/>
          </a:prstGeom>
          <a:solidFill>
            <a:srgbClr val="9C6510"/>
          </a:solidFill>
          <a:ln/>
        </p:spPr>
      </p:sp>
      <p:sp>
        <p:nvSpPr>
          <p:cNvPr id="4" name="Text 2"/>
          <p:cNvSpPr/>
          <p:nvPr/>
        </p:nvSpPr>
        <p:spPr>
          <a:xfrm>
            <a:off x="548640" y="6400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 name="Text 3"/>
          <p:cNvSpPr/>
          <p:nvPr/>
        </p:nvSpPr>
        <p:spPr>
          <a:xfrm>
            <a:off x="1170432" y="640080"/>
            <a:ext cx="5486400" cy="457200"/>
          </a:xfrm>
          <a:prstGeom prst="rect">
            <a:avLst/>
          </a:prstGeom>
          <a:noFill/>
          <a:ln/>
        </p:spPr>
        <p:txBody>
          <a:bodyPr wrap="square" lIns="0" tIns="0" rIns="0" bIns="0" rtlCol="0" anchor="ctr"/>
          <a:lstStyle/>
          <a:p>
            <a:pPr indent="0" marL="0">
              <a:buNone/>
            </a:pPr>
            <a:r>
              <a:rPr lang="en-US" sz="1400" b="1" spc="300" kern="0" dirty="0">
                <a:solidFill>
                  <a:srgbClr val="E8B94B"/>
                </a:solidFill>
                <a:latin typeface="Calibri" pitchFamily="34" charset="0"/>
                <a:ea typeface="Calibri" pitchFamily="34" charset="-122"/>
                <a:cs typeface="Calibri" pitchFamily="34" charset="-120"/>
              </a:rPr>
              <a:t>SECTION IV</a:t>
            </a:r>
            <a:endParaRPr lang="en-US" sz="1400" dirty="0"/>
          </a:p>
        </p:txBody>
      </p:sp>
      <p:sp>
        <p:nvSpPr>
          <p:cNvPr id="6" name="Text 4"/>
          <p:cNvSpPr/>
          <p:nvPr/>
        </p:nvSpPr>
        <p:spPr>
          <a:xfrm>
            <a:off x="548640" y="2286000"/>
            <a:ext cx="987552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Results</a:t>
            </a:r>
            <a:endParaRPr lang="en-US" sz="4000" dirty="0"/>
          </a:p>
        </p:txBody>
      </p:sp>
      <p:sp>
        <p:nvSpPr>
          <p:cNvPr id="7" name="Text 5"/>
          <p:cNvSpPr/>
          <p:nvPr/>
        </p:nvSpPr>
        <p:spPr>
          <a:xfrm>
            <a:off x="548640" y="3611880"/>
            <a:ext cx="8778240" cy="822960"/>
          </a:xfrm>
          <a:prstGeom prst="rect">
            <a:avLst/>
          </a:prstGeom>
          <a:noFill/>
          <a:ln/>
        </p:spPr>
        <p:txBody>
          <a:bodyPr wrap="square" lIns="0" tIns="0" rIns="0" bIns="0" rtlCol="0" anchor="ctr"/>
          <a:lstStyle/>
          <a:p>
            <a:pPr indent="0" marL="0">
              <a:lnSpc>
                <a:spcPct val="120000"/>
              </a:lnSpc>
              <a:buNone/>
            </a:pPr>
            <a:r>
              <a:rPr lang="en-US" sz="1600" i="1" dirty="0">
                <a:solidFill>
                  <a:srgbClr val="C7D6EA"/>
                </a:solidFill>
                <a:latin typeface="Cambria" pitchFamily="34" charset="0"/>
                <a:ea typeface="Cambria" pitchFamily="34" charset="-122"/>
                <a:cs typeface="Cambria" pitchFamily="34" charset="-120"/>
              </a:rPr>
              <a:t>The same hundred-circuit protocol, run head-to-head against the published baseline and two transpilers.</a:t>
            </a:r>
            <a:endParaRPr lang="en-US" sz="1600" dirty="0"/>
          </a:p>
        </p:txBody>
      </p:sp>
      <p:sp>
        <p:nvSpPr>
          <p:cNvPr id="8" name="Shape 6"/>
          <p:cNvSpPr/>
          <p:nvPr/>
        </p:nvSpPr>
        <p:spPr>
          <a:xfrm>
            <a:off x="548640" y="4700016"/>
            <a:ext cx="82296" cy="82296"/>
          </a:xfrm>
          <a:prstGeom prst="ellipse">
            <a:avLst/>
          </a:prstGeom>
          <a:solidFill>
            <a:srgbClr val="E8B94B"/>
          </a:solidFill>
          <a:ln/>
        </p:spPr>
      </p:sp>
      <p:sp>
        <p:nvSpPr>
          <p:cNvPr id="9" name="Text 7"/>
          <p:cNvSpPr/>
          <p:nvPr/>
        </p:nvSpPr>
        <p:spPr>
          <a:xfrm>
            <a:off x="804672" y="456285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Ion trap: total and two-qubit gate count, with statistical significance</a:t>
            </a:r>
            <a:endParaRPr lang="en-US" sz="1300" dirty="0"/>
          </a:p>
        </p:txBody>
      </p:sp>
      <p:sp>
        <p:nvSpPr>
          <p:cNvPr id="10" name="Shape 8"/>
          <p:cNvSpPr/>
          <p:nvPr/>
        </p:nvSpPr>
        <p:spPr>
          <a:xfrm>
            <a:off x="548640" y="5065776"/>
            <a:ext cx="82296" cy="82296"/>
          </a:xfrm>
          <a:prstGeom prst="ellipse">
            <a:avLst/>
          </a:prstGeom>
          <a:solidFill>
            <a:srgbClr val="E8B94B"/>
          </a:solidFill>
          <a:ln/>
        </p:spPr>
      </p:sp>
      <p:sp>
        <p:nvSpPr>
          <p:cNvPr id="11" name="Text 9"/>
          <p:cNvSpPr/>
          <p:nvPr/>
        </p:nvSpPr>
        <p:spPr>
          <a:xfrm>
            <a:off x="804672" y="492861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NISQ: where the gap against the baseline appears</a:t>
            </a:r>
            <a:endParaRPr lang="en-US" sz="1300" dirty="0"/>
          </a:p>
        </p:txBody>
      </p:sp>
      <p:sp>
        <p:nvSpPr>
          <p:cNvPr id="12" name="Shape 10"/>
          <p:cNvSpPr/>
          <p:nvPr/>
        </p:nvSpPr>
        <p:spPr>
          <a:xfrm>
            <a:off x="548640" y="5431536"/>
            <a:ext cx="82296" cy="82296"/>
          </a:xfrm>
          <a:prstGeom prst="ellipse">
            <a:avLst/>
          </a:prstGeom>
          <a:solidFill>
            <a:srgbClr val="E8B94B"/>
          </a:solidFill>
          <a:ln/>
        </p:spPr>
      </p:sp>
      <p:sp>
        <p:nvSpPr>
          <p:cNvPr id="13" name="Text 11"/>
          <p:cNvSpPr/>
          <p:nvPr/>
        </p:nvSpPr>
        <p:spPr>
          <a:xfrm>
            <a:off x="804672" y="529437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Both gate sets against Qiskit and BQSKit</a:t>
            </a:r>
            <a:endParaRPr lang="en-US" sz="1300" dirty="0"/>
          </a:p>
        </p:txBody>
      </p:sp>
      <p:sp>
        <p:nvSpPr>
          <p:cNvPr id="14" name="Text 1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A749A"/>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A749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IV · RESULTS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Ion Trap — Exceeding the Published Baseline</a:t>
            </a:r>
            <a:endParaRPr lang="en-US" sz="29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017520"/>
                <a:gridCol w="1609344"/>
                <a:gridCol w="1609344"/>
                <a:gridCol w="1609344"/>
                <a:gridCol w="1609344"/>
                <a:gridCol w="1609344"/>
              </a:tblGrid>
              <a:tr h="384048">
                <a:tc>
                  <a:txBody>
                    <a:bodyPr/>
                    <a:lstStyle/>
                    <a:p>
                      <a:pPr algn="ctr" indent="0" marL="0">
                        <a:buNone/>
                      </a:pPr>
                      <a:r>
                        <a:rPr lang="en-US" sz="1150" b="1" dirty="0">
                          <a:solidFill>
                            <a:srgbClr val="FFFFFF"/>
                          </a:solidFill>
                        </a:rPr>
                        <a:t>method</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50" b="1" dirty="0">
                          <a:solidFill>
                            <a:srgbClr val="FFFFFF"/>
                          </a:solidFill>
                        </a:rPr>
                        <a:t>RX</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50" b="1" dirty="0">
                          <a:solidFill>
                            <a:srgbClr val="FFFFFF"/>
                          </a:solidFill>
                        </a:rPr>
                        <a:t>RY</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50" b="1" dirty="0">
                          <a:solidFill>
                            <a:srgbClr val="FFFFFF"/>
                          </a:solidFill>
                        </a:rPr>
                        <a:t>RZ</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50" b="1" dirty="0">
                          <a:solidFill>
                            <a:srgbClr val="FFFFFF"/>
                          </a:solidFill>
                        </a:rPr>
                        <a:t>RXX</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50" b="1" dirty="0">
                          <a:solidFill>
                            <a:srgbClr val="FFFFFF"/>
                          </a:solidFill>
                        </a:rPr>
                        <a:t>total</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384048">
                <a:tc>
                  <a:txBody>
                    <a:bodyPr/>
                    <a:lstStyle/>
                    <a:p>
                      <a:pPr algn="l" indent="0" marL="0">
                        <a:buNone/>
                      </a:pPr>
                      <a:r>
                        <a:rPr lang="en-US" sz="1150" dirty="0">
                          <a:solidFill>
                            <a:srgbClr val="2A3648"/>
                          </a:solidFill>
                        </a:rPr>
                        <a:t>input</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78 (7)</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83 (8)</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78 (7)</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59 (7)</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298</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84048">
                <a:tc>
                  <a:txBody>
                    <a:bodyPr/>
                    <a:lstStyle/>
                    <a:p>
                      <a:pPr algn="l" indent="0" marL="0">
                        <a:buNone/>
                      </a:pPr>
                      <a:r>
                        <a:rPr lang="en-US" sz="1150" dirty="0">
                          <a:solidFill>
                            <a:srgbClr val="2A3648"/>
                          </a:solidFill>
                        </a:rPr>
                        <a:t>baseline (published)</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50" dirty="0">
                          <a:solidFill>
                            <a:srgbClr val="2A3648"/>
                          </a:solidFill>
                        </a:rPr>
                        <a:t>10 (3)</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50" dirty="0">
                          <a:solidFill>
                            <a:srgbClr val="2A3648"/>
                          </a:solidFill>
                        </a:rPr>
                        <a:t>29 (6)</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50" dirty="0">
                          <a:solidFill>
                            <a:srgbClr val="2A3648"/>
                          </a:solidFill>
                        </a:rPr>
                        <a:t>29 (5)</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50" dirty="0">
                          <a:solidFill>
                            <a:srgbClr val="2A3648"/>
                          </a:solidFill>
                        </a:rPr>
                        <a:t>43 (8)</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50" dirty="0">
                          <a:solidFill>
                            <a:srgbClr val="2A3648"/>
                          </a:solidFill>
                        </a:rPr>
                        <a:t>111</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r h="384048">
                <a:tc>
                  <a:txBody>
                    <a:bodyPr/>
                    <a:lstStyle/>
                    <a:p>
                      <a:pPr algn="l" indent="0" marL="0">
                        <a:buNone/>
                      </a:pPr>
                      <a:r>
                        <a:rPr lang="en-US" sz="1150" dirty="0">
                          <a:solidFill>
                            <a:srgbClr val="2A3648"/>
                          </a:solidFill>
                        </a:rPr>
                        <a:t>Qiskit L1–L3</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A3648"/>
                          </a:solidFill>
                        </a:rPr>
                        <a:t>160.8–167.1</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84048">
                <a:tc>
                  <a:txBody>
                    <a:bodyPr/>
                    <a:lstStyle/>
                    <a:p>
                      <a:pPr algn="l" indent="0" marL="0">
                        <a:buNone/>
                      </a:pPr>
                      <a:r>
                        <a:rPr lang="en-US" sz="1150" b="1" dirty="0">
                          <a:solidFill>
                            <a:srgbClr val="9C6510"/>
                          </a:solidFill>
                        </a:rPr>
                        <a:t>ours, length-minimizing</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2.4 (1.3)</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18.2 (5.2)</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17.2 (4.7)</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28.2 (6.7)</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66.1 (14.5)</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r>
              <a:tr h="384048">
                <a:tc>
                  <a:txBody>
                    <a:bodyPr/>
                    <a:lstStyle/>
                    <a:p>
                      <a:pPr algn="l" indent="0" marL="0">
                        <a:buNone/>
                      </a:pPr>
                      <a:r>
                        <a:rPr lang="en-US" sz="1150" b="1" dirty="0">
                          <a:solidFill>
                            <a:srgbClr val="9C6510"/>
                          </a:solidFill>
                        </a:rPr>
                        <a:t>ours, cost-aware</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2.9 (1.6)</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18.8 (5.1)</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19.2 (5.0)</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25.9 (5.1)</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150" b="1" dirty="0">
                          <a:solidFill>
                            <a:srgbClr val="9C6510"/>
                          </a:solidFill>
                        </a:rPr>
                        <a:t>66.7 (12.9)</a:t>
                      </a:r>
                      <a:endParaRPr lang="en-US" sz="11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r>
            </a:tbl>
          </a:graphicData>
        </a:graphic>
      </p:graphicFrame>
      <p:sp>
        <p:nvSpPr>
          <p:cNvPr id="5" name="Shape 2"/>
          <p:cNvSpPr/>
          <p:nvPr/>
        </p:nvSpPr>
        <p:spPr>
          <a:xfrm>
            <a:off x="548640" y="4197096"/>
            <a:ext cx="3454298" cy="1097280"/>
          </a:xfrm>
          <a:prstGeom prst="roundRect">
            <a:avLst>
              <a:gd name="adj" fmla="val 6667"/>
            </a:avLst>
          </a:prstGeom>
          <a:solidFill>
            <a:srgbClr val="EAF0F7"/>
          </a:solidFill>
          <a:ln w="12700">
            <a:solidFill>
              <a:srgbClr val="D7E0EA"/>
            </a:solidFill>
            <a:prstDash val="solid"/>
          </a:ln>
        </p:spPr>
      </p:sp>
      <p:sp>
        <p:nvSpPr>
          <p:cNvPr id="6" name="Text 3"/>
          <p:cNvSpPr/>
          <p:nvPr/>
        </p:nvSpPr>
        <p:spPr>
          <a:xfrm>
            <a:off x="621792" y="4288536"/>
            <a:ext cx="3307994" cy="636422"/>
          </a:xfrm>
          <a:prstGeom prst="rect">
            <a:avLst/>
          </a:prstGeom>
          <a:noFill/>
          <a:ln/>
        </p:spPr>
        <p:txBody>
          <a:bodyPr wrap="square" lIns="0" tIns="0" rIns="0" bIns="0" rtlCol="0" anchor="b"/>
          <a:lstStyle/>
          <a:p>
            <a:pPr algn="ctr" indent="0" marL="0">
              <a:buNone/>
            </a:pPr>
            <a:r>
              <a:rPr lang="en-US" sz="3000" b="1" dirty="0">
                <a:solidFill>
                  <a:srgbClr val="3E7455"/>
                </a:solidFill>
                <a:latin typeface="Cambria" pitchFamily="34" charset="0"/>
                <a:ea typeface="Cambria" pitchFamily="34" charset="-122"/>
                <a:cs typeface="Cambria" pitchFamily="34" charset="-120"/>
              </a:rPr>
              <a:t>−40%</a:t>
            </a:r>
            <a:endParaRPr lang="en-US" sz="3000" dirty="0"/>
          </a:p>
        </p:txBody>
      </p:sp>
      <p:sp>
        <p:nvSpPr>
          <p:cNvPr id="7" name="Text 4"/>
          <p:cNvSpPr/>
          <p:nvPr/>
        </p:nvSpPr>
        <p:spPr>
          <a:xfrm>
            <a:off x="621792" y="4888382"/>
            <a:ext cx="3307994" cy="416966"/>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total gates vs. published baseline (66.7 vs 111)</a:t>
            </a:r>
            <a:endParaRPr lang="en-US" sz="1050" dirty="0"/>
          </a:p>
        </p:txBody>
      </p:sp>
      <p:sp>
        <p:nvSpPr>
          <p:cNvPr id="8" name="Shape 5"/>
          <p:cNvSpPr/>
          <p:nvPr/>
        </p:nvSpPr>
        <p:spPr>
          <a:xfrm>
            <a:off x="4368698" y="4197096"/>
            <a:ext cx="3454298" cy="1097280"/>
          </a:xfrm>
          <a:prstGeom prst="roundRect">
            <a:avLst>
              <a:gd name="adj" fmla="val 6667"/>
            </a:avLst>
          </a:prstGeom>
          <a:solidFill>
            <a:srgbClr val="EAF0F7"/>
          </a:solidFill>
          <a:ln w="12700">
            <a:solidFill>
              <a:srgbClr val="D7E0EA"/>
            </a:solidFill>
            <a:prstDash val="solid"/>
          </a:ln>
        </p:spPr>
      </p:sp>
      <p:sp>
        <p:nvSpPr>
          <p:cNvPr id="9" name="Text 6"/>
          <p:cNvSpPr/>
          <p:nvPr/>
        </p:nvSpPr>
        <p:spPr>
          <a:xfrm>
            <a:off x="4441850" y="4288536"/>
            <a:ext cx="3307994" cy="636422"/>
          </a:xfrm>
          <a:prstGeom prst="rect">
            <a:avLst/>
          </a:prstGeom>
          <a:noFill/>
          <a:ln/>
        </p:spPr>
        <p:txBody>
          <a:bodyPr wrap="square" lIns="0" tIns="0" rIns="0" bIns="0" rtlCol="0" anchor="b"/>
          <a:lstStyle/>
          <a:p>
            <a:pPr algn="ctr" indent="0" marL="0">
              <a:buNone/>
            </a:pPr>
            <a:r>
              <a:rPr lang="en-US" sz="3000" b="1" dirty="0">
                <a:solidFill>
                  <a:srgbClr val="3E7455"/>
                </a:solidFill>
                <a:latin typeface="Cambria" pitchFamily="34" charset="0"/>
                <a:ea typeface="Cambria" pitchFamily="34" charset="-122"/>
                <a:cs typeface="Cambria" pitchFamily="34" charset="-120"/>
              </a:rPr>
              <a:t>−40%</a:t>
            </a:r>
            <a:endParaRPr lang="en-US" sz="3000" dirty="0"/>
          </a:p>
        </p:txBody>
      </p:sp>
      <p:sp>
        <p:nvSpPr>
          <p:cNvPr id="10" name="Text 7"/>
          <p:cNvSpPr/>
          <p:nvPr/>
        </p:nvSpPr>
        <p:spPr>
          <a:xfrm>
            <a:off x="4441850" y="4888382"/>
            <a:ext cx="3307994" cy="416966"/>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two-qubit (RXX) gates vs. baseline (25.9 vs 43)</a:t>
            </a:r>
            <a:endParaRPr lang="en-US" sz="1050" dirty="0"/>
          </a:p>
        </p:txBody>
      </p:sp>
      <p:sp>
        <p:nvSpPr>
          <p:cNvPr id="11" name="Shape 8"/>
          <p:cNvSpPr/>
          <p:nvPr/>
        </p:nvSpPr>
        <p:spPr>
          <a:xfrm>
            <a:off x="8188757" y="4197096"/>
            <a:ext cx="3454298" cy="1097280"/>
          </a:xfrm>
          <a:prstGeom prst="roundRect">
            <a:avLst>
              <a:gd name="adj" fmla="val 6667"/>
            </a:avLst>
          </a:prstGeom>
          <a:solidFill>
            <a:srgbClr val="EAF0F7"/>
          </a:solidFill>
          <a:ln w="12700">
            <a:solidFill>
              <a:srgbClr val="D7E0EA"/>
            </a:solidFill>
            <a:prstDash val="solid"/>
          </a:ln>
        </p:spPr>
      </p:sp>
      <p:sp>
        <p:nvSpPr>
          <p:cNvPr id="12" name="Text 9"/>
          <p:cNvSpPr/>
          <p:nvPr/>
        </p:nvSpPr>
        <p:spPr>
          <a:xfrm>
            <a:off x="8261909" y="4288536"/>
            <a:ext cx="3307994" cy="636422"/>
          </a:xfrm>
          <a:prstGeom prst="rect">
            <a:avLst/>
          </a:prstGeom>
          <a:noFill/>
          <a:ln/>
        </p:spPr>
        <p:txBody>
          <a:bodyPr wrap="square" lIns="0" tIns="0" rIns="0" bIns="0" rtlCol="0" anchor="b"/>
          <a:lstStyle/>
          <a:p>
            <a:pPr algn="ctr" indent="0" marL="0">
              <a:buNone/>
            </a:pPr>
            <a:r>
              <a:rPr lang="en-US" sz="2400" b="1" dirty="0">
                <a:solidFill>
                  <a:srgbClr val="9C6510"/>
                </a:solidFill>
                <a:latin typeface="Cambria" pitchFamily="34" charset="0"/>
                <a:ea typeface="Cambria" pitchFamily="34" charset="-122"/>
                <a:cs typeface="Cambria" pitchFamily="34" charset="-120"/>
              </a:rPr>
              <a:t>p &lt; 10⁻⁴⁵</a:t>
            </a:r>
            <a:endParaRPr lang="en-US" sz="2400" dirty="0"/>
          </a:p>
        </p:txBody>
      </p:sp>
      <p:sp>
        <p:nvSpPr>
          <p:cNvPr id="13" name="Text 10"/>
          <p:cNvSpPr/>
          <p:nvPr/>
        </p:nvSpPr>
        <p:spPr>
          <a:xfrm>
            <a:off x="8261909" y="4888382"/>
            <a:ext cx="3307994" cy="416966"/>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one-sample t-test, n = 100, t = −34.3, d = −3.4</a:t>
            </a:r>
            <a:endParaRPr lang="en-US" sz="1050" dirty="0"/>
          </a:p>
        </p:txBody>
      </p:sp>
      <p:sp>
        <p:nvSpPr>
          <p:cNvPr id="14" name="Text 11"/>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2"/>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IV · RESULTS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Ion Trap — Against BQSKit and Qiskit (n = 30)</a:t>
            </a:r>
            <a:endParaRPr lang="en-US" sz="2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6035040" cy="914400"/>
        </p:xfrm>
        <a:graphic>
          <a:graphicData uri="http://schemas.openxmlformats.org/drawingml/2006/table">
            <a:tbl>
              <a:tblPr/>
              <a:tblGrid>
                <a:gridCol w="2743200"/>
                <a:gridCol w="1645920"/>
                <a:gridCol w="1645920"/>
              </a:tblGrid>
              <a:tr h="457200">
                <a:tc>
                  <a:txBody>
                    <a:bodyPr/>
                    <a:lstStyle/>
                    <a:p>
                      <a:pPr algn="ctr" indent="0" marL="0">
                        <a:buNone/>
                      </a:pPr>
                      <a:r>
                        <a:rPr lang="en-US" sz="1200" b="1" dirty="0">
                          <a:solidFill>
                            <a:srgbClr val="FFFFFF"/>
                          </a:solidFill>
                        </a:rPr>
                        <a:t>method</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200" b="1" dirty="0">
                          <a:solidFill>
                            <a:srgbClr val="FFFFFF"/>
                          </a:solidFill>
                        </a:rPr>
                        <a:t>total</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200" b="1" dirty="0">
                          <a:solidFill>
                            <a:srgbClr val="FFFFFF"/>
                          </a:solidFill>
                        </a:rPr>
                        <a:t>two-qubit</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457200">
                <a:tc>
                  <a:txBody>
                    <a:bodyPr/>
                    <a:lstStyle/>
                    <a:p>
                      <a:pPr algn="l" indent="0" marL="0">
                        <a:buNone/>
                      </a:pPr>
                      <a:r>
                        <a:rPr lang="en-US" sz="1200" b="1" dirty="0">
                          <a:solidFill>
                            <a:srgbClr val="9C6510"/>
                          </a:solidFill>
                        </a:rPr>
                        <a:t>ours, cost-aware</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200" b="1" dirty="0">
                          <a:solidFill>
                            <a:srgbClr val="9C6510"/>
                          </a:solidFill>
                        </a:rPr>
                        <a:t>67.8</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200" b="1" dirty="0">
                          <a:solidFill>
                            <a:srgbClr val="9C6510"/>
                          </a:solidFill>
                        </a:rPr>
                        <a:t>25.4</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r>
              <a:tr h="457200">
                <a:tc>
                  <a:txBody>
                    <a:bodyPr/>
                    <a:lstStyle/>
                    <a:p>
                      <a:pPr algn="l" indent="0" marL="0">
                        <a:buNone/>
                      </a:pPr>
                      <a:r>
                        <a:rPr lang="en-US" sz="1200" dirty="0">
                          <a:solidFill>
                            <a:srgbClr val="2A3648"/>
                          </a:solidFill>
                        </a:rPr>
                        <a:t>Qiskit L1–L3</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155.6–162.7</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44.8–57.1</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r h="457200">
                <a:tc>
                  <a:txBody>
                    <a:bodyPr/>
                    <a:lstStyle/>
                    <a:p>
                      <a:pPr algn="l" indent="0" marL="0">
                        <a:buNone/>
                      </a:pPr>
                      <a:r>
                        <a:rPr lang="en-US" sz="1200" dirty="0">
                          <a:solidFill>
                            <a:srgbClr val="2A3648"/>
                          </a:solidFill>
                        </a:rPr>
                        <a:t>BQSKit L2</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A3648"/>
                          </a:solidFill>
                        </a:rPr>
                        <a:t>155.1</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A3648"/>
                          </a:solidFill>
                        </a:rPr>
                        <a:t>36.6</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457200">
                <a:tc>
                  <a:txBody>
                    <a:bodyPr/>
                    <a:lstStyle/>
                    <a:p>
                      <a:pPr algn="l" indent="0" marL="0">
                        <a:buNone/>
                      </a:pPr>
                      <a:r>
                        <a:rPr lang="en-US" sz="1200" dirty="0">
                          <a:solidFill>
                            <a:srgbClr val="2A3648"/>
                          </a:solidFill>
                        </a:rPr>
                        <a:t>BQSKit L3</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133.0</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30.3</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r h="457200">
                <a:tc>
                  <a:txBody>
                    <a:bodyPr/>
                    <a:lstStyle/>
                    <a:p>
                      <a:pPr algn="l" indent="0" marL="0">
                        <a:buNone/>
                      </a:pPr>
                      <a:r>
                        <a:rPr lang="en-US" sz="1200" dirty="0">
                          <a:solidFill>
                            <a:srgbClr val="2A3648"/>
                          </a:solidFill>
                        </a:rPr>
                        <a:t>BQSKit L4*</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A3648"/>
                          </a:solidFill>
                        </a:rPr>
                        <a:t>121.6</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A3648"/>
                          </a:solidFill>
                        </a:rPr>
                        <a:t>26.4</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4453128"/>
            <a:ext cx="6035040" cy="457200"/>
          </a:xfrm>
          <a:prstGeom prst="rect">
            <a:avLst/>
          </a:prstGeom>
          <a:noFill/>
          <a:ln/>
        </p:spPr>
        <p:txBody>
          <a:bodyPr wrap="square" lIns="0" tIns="0" rIns="0" bIns="0" rtlCol="0" anchor="t"/>
          <a:lstStyle/>
          <a:p>
            <a:pPr algn="l" indent="0" marL="0">
              <a:buNone/>
            </a:pPr>
            <a:r>
              <a:rPr lang="en-US" sz="950" i="1" dirty="0">
                <a:solidFill>
                  <a:srgbClr val="5B6B82"/>
                </a:solidFill>
                <a:latin typeface="Calibri" pitchFamily="34" charset="0"/>
                <a:ea typeface="Calibri" pitchFamily="34" charset="-122"/>
                <a:cs typeface="Calibri" pitchFamily="34" charset="-120"/>
              </a:rPr>
              <a:t>*BQSKit L4 omitted from headline claims: unitary verification failed for every circuit at this level in this setup, likely an internal qubit-relabeling issue.</a:t>
            </a:r>
            <a:endParaRPr lang="en-US" sz="950" dirty="0"/>
          </a:p>
        </p:txBody>
      </p:sp>
      <p:sp>
        <p:nvSpPr>
          <p:cNvPr id="6" name="Shape 3"/>
          <p:cNvSpPr/>
          <p:nvPr/>
        </p:nvSpPr>
        <p:spPr>
          <a:xfrm>
            <a:off x="6858000" y="1572768"/>
            <a:ext cx="4785055" cy="4114800"/>
          </a:xfrm>
          <a:prstGeom prst="roundRect">
            <a:avLst>
              <a:gd name="adj" fmla="val 1778"/>
            </a:avLst>
          </a:prstGeom>
          <a:solidFill>
            <a:srgbClr val="0B1F3A"/>
          </a:solidFill>
          <a:ln/>
        </p:spPr>
      </p:sp>
      <p:sp>
        <p:nvSpPr>
          <p:cNvPr id="7" name="Text 4"/>
          <p:cNvSpPr/>
          <p:nvPr/>
        </p:nvSpPr>
        <p:spPr>
          <a:xfrm>
            <a:off x="7132320" y="1801368"/>
            <a:ext cx="4236415" cy="365760"/>
          </a:xfrm>
          <a:prstGeom prst="rect">
            <a:avLst/>
          </a:prstGeom>
          <a:noFill/>
          <a:ln/>
        </p:spPr>
        <p:txBody>
          <a:bodyPr wrap="square" lIns="0" tIns="0" rIns="0" bIns="0" rtlCol="0" anchor="ctr"/>
          <a:lstStyle/>
          <a:p>
            <a:pPr indent="0" marL="0">
              <a:buNone/>
            </a:pPr>
            <a:r>
              <a:rPr lang="en-US" sz="1600" b="1" dirty="0">
                <a:solidFill>
                  <a:srgbClr val="E8B94B"/>
                </a:solidFill>
                <a:latin typeface="Cambria" pitchFamily="34" charset="0"/>
                <a:ea typeface="Cambria" pitchFamily="34" charset="-122"/>
                <a:cs typeface="Cambria" pitchFamily="34" charset="-120"/>
              </a:rPr>
              <a:t>A clean win on both metrics.</a:t>
            </a:r>
            <a:endParaRPr lang="en-US" sz="1600" dirty="0"/>
          </a:p>
        </p:txBody>
      </p:sp>
      <p:sp>
        <p:nvSpPr>
          <p:cNvPr id="8" name="Text 5"/>
          <p:cNvSpPr/>
          <p:nvPr/>
        </p:nvSpPr>
        <p:spPr>
          <a:xfrm>
            <a:off x="7132320" y="2231136"/>
            <a:ext cx="4236415" cy="4389120"/>
          </a:xfrm>
          <a:prstGeom prst="rect">
            <a:avLst/>
          </a:prstGeom>
          <a:noFill/>
          <a:ln/>
        </p:spPr>
        <p:txBody>
          <a:bodyPr wrap="square" rtlCol="0" anchor="t"/>
          <a:lstStyle/>
          <a:p>
            <a:pPr marL="177800" indent="-177800">
              <a:lnSpc>
                <a:spcPct val="112000"/>
              </a:lnSpc>
              <a:spcAft>
                <a:spcPts val="800"/>
              </a:spcAft>
              <a:buSzPct val="100000"/>
              <a:buChar char="▪"/>
            </a:pPr>
            <a:r>
              <a:rPr lang="en-US" sz="1150" dirty="0">
                <a:solidFill>
                  <a:srgbClr val="DCE6F3"/>
                </a:solidFill>
                <a:latin typeface="Calibri" pitchFamily="34" charset="0"/>
                <a:ea typeface="Calibri" pitchFamily="34" charset="-122"/>
                <a:cs typeface="Calibri" pitchFamily="34" charset="-120"/>
              </a:rPr>
              <a:t>More than 2× fewer total gates than BQSKit L2/L3, and more than 2× fewer two-qubit gates — the metric most tied to hardware fidelity.</a:t>
            </a:r>
            <a:endParaRPr lang="en-US" sz="1150" dirty="0"/>
          </a:p>
          <a:p>
            <a:pPr marL="177800" indent="-177800">
              <a:lnSpc>
                <a:spcPct val="112000"/>
              </a:lnSpc>
              <a:spcAft>
                <a:spcPts val="1000"/>
              </a:spcAft>
              <a:buSzPct val="100000"/>
              <a:buChar char="▪"/>
            </a:pPr>
            <a:r>
              <a:rPr lang="en-US" sz="1150" i="1" dirty="0">
                <a:solidFill>
                  <a:srgbClr val="8FA2BC"/>
                </a:solidFill>
                <a:latin typeface="Calibri" pitchFamily="34" charset="0"/>
                <a:ea typeface="Calibri" pitchFamily="34" charset="-122"/>
                <a:cs typeface="Calibri" pitchFamily="34" charset="-120"/>
              </a:rPr>
              <a:t>This margin should be read with one caveat: this run's own Qiskit baselines (160.8–167.1) come in below the published Qiskit numbers (196–204) on the same input composition — most plausibly a Qiskit version difference between the two studies.</a:t>
            </a:r>
            <a:endParaRPr lang="en-US" sz="1150" dirty="0"/>
          </a:p>
        </p:txBody>
      </p:sp>
      <p:sp>
        <p:nvSpPr>
          <p:cNvPr id="9" name="Text 6"/>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7"/>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IV · RESULTS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NISQ — a Gap Remains</a:t>
            </a:r>
            <a:endParaRPr lang="en-US" sz="2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11094415" cy="914400"/>
        </p:xfrm>
        <a:graphic>
          <a:graphicData uri="http://schemas.openxmlformats.org/drawingml/2006/table">
            <a:tbl>
              <a:tblPr/>
              <a:tblGrid>
                <a:gridCol w="3291840"/>
                <a:gridCol w="1947672"/>
                <a:gridCol w="1947672"/>
                <a:gridCol w="1947672"/>
                <a:gridCol w="1968703"/>
              </a:tblGrid>
              <a:tr h="365760">
                <a:tc>
                  <a:txBody>
                    <a:bodyPr/>
                    <a:lstStyle/>
                    <a:p>
                      <a:pPr algn="ctr" indent="0" marL="0">
                        <a:buNone/>
                      </a:pPr>
                      <a:r>
                        <a:rPr lang="en-US" sz="1100" b="1" dirty="0">
                          <a:solidFill>
                            <a:srgbClr val="FFFFFF"/>
                          </a:solidFill>
                        </a:rPr>
                        <a:t>method</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RX</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RZ</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CZ</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total</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365760">
                <a:tc>
                  <a:txBody>
                    <a:bodyPr/>
                    <a:lstStyle/>
                    <a:p>
                      <a:pPr algn="l" indent="0" marL="0">
                        <a:buNone/>
                      </a:pPr>
                      <a:r>
                        <a:rPr lang="en-US" sz="1050" dirty="0">
                          <a:solidFill>
                            <a:srgbClr val="2A3648"/>
                          </a:solidFill>
                        </a:rPr>
                        <a:t>input</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109 (9)</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109 (8)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82 (8)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300</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2A3648"/>
                          </a:solidFill>
                        </a:rPr>
                        <a:t>baseline (published)</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45 (6)</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19 (4)</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43 (6)</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107</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r h="365760">
                <a:tc>
                  <a:txBody>
                    <a:bodyPr/>
                    <a:lstStyle/>
                    <a:p>
                      <a:pPr algn="l" indent="0" marL="0">
                        <a:buNone/>
                      </a:pPr>
                      <a:r>
                        <a:rPr lang="en-US" sz="1050" dirty="0">
                          <a:solidFill>
                            <a:srgbClr val="2A3648"/>
                          </a:solidFill>
                        </a:rPr>
                        <a:t>Qiskit L1–L3</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157.8–201.8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65760">
                <a:tc>
                  <a:txBody>
                    <a:bodyPr/>
                    <a:lstStyle/>
                    <a:p>
                      <a:pPr algn="l" indent="0" marL="0">
                        <a:buNone/>
                      </a:pPr>
                      <a:r>
                        <a:rPr lang="en-US" sz="1050" dirty="0">
                          <a:solidFill>
                            <a:srgbClr val="2A3648"/>
                          </a:solidFill>
                        </a:rPr>
                        <a:t>exhaustive sweep, len-min</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68.3 (5.9)</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42.3 (5.1)</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50.3 (5.6)</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160.9 (12.8)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r h="365760">
                <a:tc>
                  <a:txBody>
                    <a:bodyPr/>
                    <a:lstStyle/>
                    <a:p>
                      <a:pPr algn="l" indent="0" marL="0">
                        <a:buNone/>
                      </a:pPr>
                      <a:r>
                        <a:rPr lang="en-US" sz="1050" dirty="0">
                          <a:solidFill>
                            <a:srgbClr val="2A3648"/>
                          </a:solidFill>
                        </a:rPr>
                        <a:t>exhaustive sweep, cost-aware</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68.6 (6.1)</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42.3 (5.2)</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49.6 (5.8)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160.5 (13.4)</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65760">
                <a:tc>
                  <a:txBody>
                    <a:bodyPr/>
                    <a:lstStyle/>
                    <a:p>
                      <a:pPr algn="l" indent="0" marL="0">
                        <a:buNone/>
                      </a:pPr>
                      <a:r>
                        <a:rPr lang="en-US" sz="1050" b="1" dirty="0">
                          <a:solidFill>
                            <a:srgbClr val="9C6510"/>
                          </a:solidFill>
                        </a:rPr>
                        <a:t>burst (new default), len-min</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67.5 (6.0)</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38.7 (4.8)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49.1 (5.5)</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155.3 (12.5)</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r>
              <a:tr h="365760">
                <a:tc>
                  <a:txBody>
                    <a:bodyPr/>
                    <a:lstStyle/>
                    <a:p>
                      <a:pPr algn="l" indent="0" marL="0">
                        <a:buNone/>
                      </a:pPr>
                      <a:r>
                        <a:rPr lang="en-US" sz="1050" b="1" dirty="0">
                          <a:solidFill>
                            <a:srgbClr val="9C6510"/>
                          </a:solidFill>
                        </a:rPr>
                        <a:t>burst (new default), cost-aware</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67.6 (6.1)</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38.6 (4.9)</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48.9 (5.5)</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50" b="1" dirty="0">
                          <a:solidFill>
                            <a:srgbClr val="9C6510"/>
                          </a:solidFill>
                        </a:rPr>
                        <a:t>155.1 (12.4)</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r>
            </a:tbl>
          </a:graphicData>
        </a:graphic>
      </p:graphicFrame>
      <p:sp>
        <p:nvSpPr>
          <p:cNvPr id="5" name="Shape 2"/>
          <p:cNvSpPr/>
          <p:nvPr/>
        </p:nvSpPr>
        <p:spPr>
          <a:xfrm>
            <a:off x="548640" y="4773168"/>
            <a:ext cx="3454298" cy="1097280"/>
          </a:xfrm>
          <a:prstGeom prst="roundRect">
            <a:avLst>
              <a:gd name="adj" fmla="val 6667"/>
            </a:avLst>
          </a:prstGeom>
          <a:solidFill>
            <a:srgbClr val="EAF0F7"/>
          </a:solidFill>
          <a:ln w="12700">
            <a:solidFill>
              <a:srgbClr val="D7E0EA"/>
            </a:solidFill>
            <a:prstDash val="solid"/>
          </a:ln>
        </p:spPr>
      </p:sp>
      <p:sp>
        <p:nvSpPr>
          <p:cNvPr id="6" name="Text 3"/>
          <p:cNvSpPr/>
          <p:nvPr/>
        </p:nvSpPr>
        <p:spPr>
          <a:xfrm>
            <a:off x="621792" y="4864608"/>
            <a:ext cx="3307994" cy="636422"/>
          </a:xfrm>
          <a:prstGeom prst="rect">
            <a:avLst/>
          </a:prstGeom>
          <a:noFill/>
          <a:ln/>
        </p:spPr>
        <p:txBody>
          <a:bodyPr wrap="square" lIns="0" tIns="0" rIns="0" bIns="0" rtlCol="0" anchor="b"/>
          <a:lstStyle/>
          <a:p>
            <a:pPr algn="ctr" indent="0" marL="0">
              <a:buNone/>
            </a:pPr>
            <a:r>
              <a:rPr lang="en-US" sz="2600" b="1" dirty="0">
                <a:solidFill>
                  <a:srgbClr val="9C4A34"/>
                </a:solidFill>
                <a:latin typeface="Cambria" pitchFamily="34" charset="0"/>
                <a:ea typeface="Cambria" pitchFamily="34" charset="-122"/>
                <a:cs typeface="Cambria" pitchFamily="34" charset="-120"/>
              </a:rPr>
              <a:t>+45%</a:t>
            </a:r>
            <a:endParaRPr lang="en-US" sz="2600" dirty="0"/>
          </a:p>
        </p:txBody>
      </p:sp>
      <p:sp>
        <p:nvSpPr>
          <p:cNvPr id="7" name="Text 4"/>
          <p:cNvSpPr/>
          <p:nvPr/>
        </p:nvSpPr>
        <p:spPr>
          <a:xfrm>
            <a:off x="621792" y="5464454"/>
            <a:ext cx="3307994" cy="416966"/>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total gates above the published baseline (155.1 vs 107, burst default)</a:t>
            </a:r>
            <a:endParaRPr lang="en-US" sz="1050" dirty="0"/>
          </a:p>
        </p:txBody>
      </p:sp>
      <p:sp>
        <p:nvSpPr>
          <p:cNvPr id="8" name="Shape 5"/>
          <p:cNvSpPr/>
          <p:nvPr/>
        </p:nvSpPr>
        <p:spPr>
          <a:xfrm>
            <a:off x="4368698" y="4773168"/>
            <a:ext cx="3454298" cy="1097280"/>
          </a:xfrm>
          <a:prstGeom prst="roundRect">
            <a:avLst>
              <a:gd name="adj" fmla="val 6667"/>
            </a:avLst>
          </a:prstGeom>
          <a:solidFill>
            <a:srgbClr val="EAF0F7"/>
          </a:solidFill>
          <a:ln w="12700">
            <a:solidFill>
              <a:srgbClr val="D7E0EA"/>
            </a:solidFill>
            <a:prstDash val="solid"/>
          </a:ln>
        </p:spPr>
      </p:sp>
      <p:sp>
        <p:nvSpPr>
          <p:cNvPr id="9" name="Text 6"/>
          <p:cNvSpPr/>
          <p:nvPr/>
        </p:nvSpPr>
        <p:spPr>
          <a:xfrm>
            <a:off x="4441850" y="4864608"/>
            <a:ext cx="3307994" cy="636422"/>
          </a:xfrm>
          <a:prstGeom prst="rect">
            <a:avLst/>
          </a:prstGeom>
          <a:noFill/>
          <a:ln/>
        </p:spPr>
        <p:txBody>
          <a:bodyPr wrap="square" lIns="0" tIns="0" rIns="0" bIns="0" rtlCol="0" anchor="b"/>
          <a:lstStyle/>
          <a:p>
            <a:pPr algn="ctr" indent="0" marL="0">
              <a:buNone/>
            </a:pPr>
            <a:r>
              <a:rPr lang="en-US" sz="2200" b="1" dirty="0">
                <a:solidFill>
                  <a:srgbClr val="9C6510"/>
                </a:solidFill>
                <a:latin typeface="Cambria" pitchFamily="34" charset="0"/>
                <a:ea typeface="Cambria" pitchFamily="34" charset="-122"/>
                <a:cs typeface="Cambria" pitchFamily="34" charset="-120"/>
              </a:rPr>
              <a:t>p &lt; 10⁻⁶¹</a:t>
            </a:r>
            <a:endParaRPr lang="en-US" sz="2200" dirty="0"/>
          </a:p>
        </p:txBody>
      </p:sp>
      <p:sp>
        <p:nvSpPr>
          <p:cNvPr id="10" name="Text 7"/>
          <p:cNvSpPr/>
          <p:nvPr/>
        </p:nvSpPr>
        <p:spPr>
          <a:xfrm>
            <a:off x="4441850" y="5464454"/>
            <a:ext cx="3307994" cy="416966"/>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gap vs. baseline is statistically unambiguous (t=+38.6, d=3.9)</a:t>
            </a:r>
            <a:endParaRPr lang="en-US" sz="1050" dirty="0"/>
          </a:p>
        </p:txBody>
      </p:sp>
      <p:sp>
        <p:nvSpPr>
          <p:cNvPr id="11" name="Shape 8"/>
          <p:cNvSpPr/>
          <p:nvPr/>
        </p:nvSpPr>
        <p:spPr>
          <a:xfrm>
            <a:off x="8188757" y="4773168"/>
            <a:ext cx="3454298" cy="1097280"/>
          </a:xfrm>
          <a:prstGeom prst="roundRect">
            <a:avLst>
              <a:gd name="adj" fmla="val 6667"/>
            </a:avLst>
          </a:prstGeom>
          <a:solidFill>
            <a:srgbClr val="EAF0F7"/>
          </a:solidFill>
          <a:ln w="12700">
            <a:solidFill>
              <a:srgbClr val="D7E0EA"/>
            </a:solidFill>
            <a:prstDash val="solid"/>
          </a:ln>
        </p:spPr>
      </p:sp>
      <p:sp>
        <p:nvSpPr>
          <p:cNvPr id="12" name="Text 9"/>
          <p:cNvSpPr/>
          <p:nvPr/>
        </p:nvSpPr>
        <p:spPr>
          <a:xfrm>
            <a:off x="8261909" y="4864608"/>
            <a:ext cx="3307994" cy="636422"/>
          </a:xfrm>
          <a:prstGeom prst="rect">
            <a:avLst/>
          </a:prstGeom>
          <a:noFill/>
          <a:ln/>
        </p:spPr>
        <p:txBody>
          <a:bodyPr wrap="square" lIns="0" tIns="0" rIns="0" bIns="0" rtlCol="0" anchor="b"/>
          <a:lstStyle/>
          <a:p>
            <a:pPr algn="ctr" indent="0" marL="0">
              <a:buNone/>
            </a:pPr>
            <a:r>
              <a:rPr lang="en-US" sz="2400" b="1" dirty="0">
                <a:solidFill>
                  <a:srgbClr val="3E7455"/>
                </a:solidFill>
                <a:latin typeface="Cambria" pitchFamily="34" charset="0"/>
                <a:ea typeface="Cambria" pitchFamily="34" charset="-122"/>
                <a:cs typeface="Cambria" pitchFamily="34" charset="-120"/>
              </a:rPr>
              <a:t>−3.3%</a:t>
            </a:r>
            <a:endParaRPr lang="en-US" sz="2400" dirty="0"/>
          </a:p>
        </p:txBody>
      </p:sp>
      <p:sp>
        <p:nvSpPr>
          <p:cNvPr id="13" name="Text 10"/>
          <p:cNvSpPr/>
          <p:nvPr/>
        </p:nvSpPr>
        <p:spPr>
          <a:xfrm>
            <a:off x="8261909" y="5464454"/>
            <a:ext cx="3307994" cy="416966"/>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burst vs. exhaustive sweep, same seeds (p=9×10⁻²², paired)</a:t>
            </a:r>
            <a:endParaRPr lang="en-US" sz="1050" dirty="0"/>
          </a:p>
        </p:txBody>
      </p:sp>
      <p:sp>
        <p:nvSpPr>
          <p:cNvPr id="14" name="Text 11"/>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2"/>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IV · RESULTS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NISQ — Against BQSKit, and a Puzzle</a:t>
            </a:r>
            <a:endParaRPr lang="en-US" sz="2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572768"/>
          <a:ext cx="5669280" cy="914400"/>
        </p:xfrm>
        <a:graphic>
          <a:graphicData uri="http://schemas.openxmlformats.org/drawingml/2006/table">
            <a:tbl>
              <a:tblPr/>
              <a:tblGrid>
                <a:gridCol w="2560320"/>
                <a:gridCol w="1554480"/>
                <a:gridCol w="1554480"/>
              </a:tblGrid>
              <a:tr h="438912">
                <a:tc>
                  <a:txBody>
                    <a:bodyPr/>
                    <a:lstStyle/>
                    <a:p>
                      <a:pPr algn="ctr" indent="0" marL="0">
                        <a:buNone/>
                      </a:pPr>
                      <a:r>
                        <a:rPr lang="en-US" sz="1200" b="1" dirty="0">
                          <a:solidFill>
                            <a:srgbClr val="FFFFFF"/>
                          </a:solidFill>
                        </a:rPr>
                        <a:t>method</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200" b="1" dirty="0">
                          <a:solidFill>
                            <a:srgbClr val="FFFFFF"/>
                          </a:solidFill>
                        </a:rPr>
                        <a:t>total</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200" b="1" dirty="0">
                          <a:solidFill>
                            <a:srgbClr val="FFFFFF"/>
                          </a:solidFill>
                        </a:rPr>
                        <a:t>two-qubit</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438912">
                <a:tc>
                  <a:txBody>
                    <a:bodyPr/>
                    <a:lstStyle/>
                    <a:p>
                      <a:pPr algn="l" indent="0" marL="0">
                        <a:buNone/>
                      </a:pPr>
                      <a:r>
                        <a:rPr lang="en-US" sz="1200" b="1" dirty="0">
                          <a:solidFill>
                            <a:srgbClr val="9C6510"/>
                          </a:solidFill>
                        </a:rPr>
                        <a:t>ours, burst (default)</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200" b="1" dirty="0">
                          <a:solidFill>
                            <a:srgbClr val="9C6510"/>
                          </a:solidFill>
                        </a:rPr>
                        <a:t>156.1</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200" b="1" dirty="0">
                          <a:solidFill>
                            <a:srgbClr val="9C6510"/>
                          </a:solidFill>
                        </a:rPr>
                        <a:t>50.8</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r>
              <a:tr h="438912">
                <a:tc>
                  <a:txBody>
                    <a:bodyPr/>
                    <a:lstStyle/>
                    <a:p>
                      <a:pPr algn="l" indent="0" marL="0">
                        <a:buNone/>
                      </a:pPr>
                      <a:r>
                        <a:rPr lang="en-US" sz="1200" dirty="0">
                          <a:solidFill>
                            <a:srgbClr val="2A3648"/>
                          </a:solidFill>
                        </a:rPr>
                        <a:t>Qiskit L1–L3</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157.6–199.8</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51.3–69.4</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r h="438912">
                <a:tc>
                  <a:txBody>
                    <a:bodyPr/>
                    <a:lstStyle/>
                    <a:p>
                      <a:pPr algn="l" indent="0" marL="0">
                        <a:buNone/>
                      </a:pPr>
                      <a:r>
                        <a:rPr lang="en-US" sz="1200" dirty="0">
                          <a:solidFill>
                            <a:srgbClr val="2A3648"/>
                          </a:solidFill>
                        </a:rPr>
                        <a:t>BQSKit L2</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A3648"/>
                          </a:solidFill>
                        </a:rPr>
                        <a:t>227.5</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A3648"/>
                          </a:solidFill>
                        </a:rPr>
                        <a:t>65.2</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438912">
                <a:tc>
                  <a:txBody>
                    <a:bodyPr/>
                    <a:lstStyle/>
                    <a:p>
                      <a:pPr algn="l" indent="0" marL="0">
                        <a:buNone/>
                      </a:pPr>
                      <a:r>
                        <a:rPr lang="en-US" sz="1200" dirty="0">
                          <a:solidFill>
                            <a:srgbClr val="2A3648"/>
                          </a:solidFill>
                        </a:rPr>
                        <a:t>BQSKit L3*</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211.4</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200" dirty="0">
                          <a:solidFill>
                            <a:srgbClr val="2A3648"/>
                          </a:solidFill>
                        </a:rPr>
                        <a:t>50.3</a:t>
                      </a:r>
                      <a:endParaRPr lang="en-US" sz="12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bl>
          </a:graphicData>
        </a:graphic>
      </p:graphicFrame>
      <p:sp>
        <p:nvSpPr>
          <p:cNvPr id="5" name="Text 2"/>
          <p:cNvSpPr/>
          <p:nvPr/>
        </p:nvSpPr>
        <p:spPr>
          <a:xfrm>
            <a:off x="548640" y="3904488"/>
            <a:ext cx="5669280" cy="457200"/>
          </a:xfrm>
          <a:prstGeom prst="rect">
            <a:avLst/>
          </a:prstGeom>
          <a:noFill/>
          <a:ln/>
        </p:spPr>
        <p:txBody>
          <a:bodyPr wrap="square" lIns="0" tIns="0" rIns="0" bIns="0" rtlCol="0" anchor="t"/>
          <a:lstStyle/>
          <a:p>
            <a:pPr algn="l" indent="0" marL="0">
              <a:buNone/>
            </a:pPr>
            <a:r>
              <a:rPr lang="en-US" sz="1000" i="1" dirty="0">
                <a:solidFill>
                  <a:srgbClr val="5B6B82"/>
                </a:solidFill>
                <a:latin typeface="Calibri" pitchFamily="34" charset="0"/>
                <a:ea typeface="Calibri" pitchFamily="34" charset="-122"/>
                <a:cs typeface="Calibri" pitchFamily="34" charset="-120"/>
              </a:rPr>
              <a:t>Same 30 identical circuits across every method, burst default included. Wins on total gate count against BQSKit; two-qubit count is a genuine near-tie — BQSKit L3 edges us slightly (50.3 vs 50.8). *BQSKit L3 itself failed verification on 1/30 circuits this run (pass rate 0.967).</a:t>
            </a:r>
            <a:endParaRPr lang="en-US" sz="1000" dirty="0"/>
          </a:p>
        </p:txBody>
      </p:sp>
      <p:sp>
        <p:nvSpPr>
          <p:cNvPr id="6" name="Shape 3"/>
          <p:cNvSpPr/>
          <p:nvPr/>
        </p:nvSpPr>
        <p:spPr>
          <a:xfrm>
            <a:off x="6355080" y="1572768"/>
            <a:ext cx="5287975" cy="4114800"/>
          </a:xfrm>
          <a:prstGeom prst="roundRect">
            <a:avLst>
              <a:gd name="adj" fmla="val 1778"/>
            </a:avLst>
          </a:prstGeom>
          <a:solidFill>
            <a:srgbClr val="F4F7FB"/>
          </a:solidFill>
          <a:ln w="12700">
            <a:solidFill>
              <a:srgbClr val="D7E0EA"/>
            </a:solidFill>
            <a:prstDash val="solid"/>
          </a:ln>
        </p:spPr>
      </p:sp>
      <p:sp>
        <p:nvSpPr>
          <p:cNvPr id="7" name="Text 4"/>
          <p:cNvSpPr/>
          <p:nvPr/>
        </p:nvSpPr>
        <p:spPr>
          <a:xfrm>
            <a:off x="6583680" y="1755648"/>
            <a:ext cx="4830775" cy="594360"/>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Why doesn't the cost-aware objective move CZ count?</a:t>
            </a:r>
            <a:endParaRPr lang="en-US" sz="1450" dirty="0"/>
          </a:p>
        </p:txBody>
      </p:sp>
      <p:sp>
        <p:nvSpPr>
          <p:cNvPr id="8" name="Text 5"/>
          <p:cNvSpPr/>
          <p:nvPr/>
        </p:nvSpPr>
        <p:spPr>
          <a:xfrm>
            <a:off x="6583680" y="2395728"/>
            <a:ext cx="4830775" cy="4389120"/>
          </a:xfrm>
          <a:prstGeom prst="rect">
            <a:avLst/>
          </a:prstGeom>
          <a:noFill/>
          <a:ln/>
        </p:spPr>
        <p:txBody>
          <a:bodyPr wrap="square" rtlCol="0" anchor="t"/>
          <a:lstStyle/>
          <a:p>
            <a:pPr marL="177800" indent="-177800">
              <a:lnSpc>
                <a:spcPct val="112000"/>
              </a:lnSpc>
              <a:spcAft>
                <a:spcPts val="800"/>
              </a:spcAft>
              <a:buSzPct val="100000"/>
              <a:buChar char="▪"/>
            </a:pPr>
            <a:r>
              <a:rPr lang="en-US" sz="1100" dirty="0">
                <a:solidFill>
                  <a:srgbClr val="2A3648"/>
                </a:solidFill>
                <a:latin typeface="Calibri" pitchFamily="34" charset="0"/>
                <a:ea typeface="Calibri" pitchFamily="34" charset="-122"/>
                <a:cs typeface="Calibri" pitchFamily="34" charset="-120"/>
              </a:rPr>
              <a:t>49.6 vs 50.3 CZ — within run-to-run noise, unlike ion trap's clear 25.9 vs 28.2.</a:t>
            </a:r>
            <a:endParaRPr lang="en-US" sz="1100" dirty="0"/>
          </a:p>
          <a:p>
            <a:pPr marL="177800" indent="-177800">
              <a:lnSpc>
                <a:spcPct val="112000"/>
              </a:lnSpc>
              <a:spcAft>
                <a:spcPts val="800"/>
              </a:spcAft>
              <a:buSzPct val="100000"/>
              <a:buChar char="▪"/>
            </a:pPr>
            <a:r>
              <a:rPr lang="en-US" sz="1100" dirty="0">
                <a:solidFill>
                  <a:srgbClr val="2A3648"/>
                </a:solidFill>
                <a:latin typeface="Calibri" pitchFamily="34" charset="0"/>
                <a:ea typeface="Calibri" pitchFamily="34" charset="-122"/>
                <a:cs typeface="Calibri" pitchFamily="34" charset="-120"/>
              </a:rPr>
              <a:t>Directly probed: cost-aware and length-only lookups agree exactly whenever a genuine reduction exists (844/844 matched candidates). Raising the alternatives cap from 4 to 32 surfaced zero new candidates across 1267 windows.</a:t>
            </a:r>
            <a:endParaRPr lang="en-US" sz="1100" dirty="0"/>
          </a:p>
          <a:p>
            <a:pPr marL="177800" indent="-177800">
              <a:lnSpc>
                <a:spcPct val="112000"/>
              </a:lnSpc>
              <a:spcAft>
                <a:spcPts val="1000"/>
              </a:spcAft>
              <a:buSzPct val="100000"/>
              <a:buChar char="▪"/>
            </a:pPr>
            <a:r>
              <a:rPr lang="en-US" sz="1100" b="1" dirty="0">
                <a:solidFill>
                  <a:srgbClr val="2A3648"/>
                </a:solidFill>
                <a:latin typeface="Calibri" pitchFamily="34" charset="0"/>
                <a:ea typeface="Calibri" pitchFamily="34" charset="-122"/>
                <a:cs typeface="Calibri" pitchFamily="34" charset="-120"/>
              </a:rPr>
              <a:t>Root cause is structural: the two-angle ion-trap pool packs many token sequences onto one compute-graph node, populating rich alternative-factorization lists. The four-angle NISQ pool is sparser at the same depth — most nodes have only one factorization, let alone a cheaper one.</a:t>
            </a:r>
            <a:endParaRPr lang="en-US" sz="1100" dirty="0"/>
          </a:p>
        </p:txBody>
      </p:sp>
      <p:sp>
        <p:nvSpPr>
          <p:cNvPr id="9" name="Text 6"/>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0" name="Text 7"/>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194560" y="3840480"/>
            <a:ext cx="5669280" cy="5669280"/>
          </a:xfrm>
          <a:prstGeom prst="ellipse">
            <a:avLst/>
          </a:prstGeom>
          <a:solidFill>
            <a:srgbClr val="13294C"/>
          </a:solidFill>
          <a:ln/>
        </p:spPr>
      </p:sp>
      <p:sp>
        <p:nvSpPr>
          <p:cNvPr id="3" name="Shape 1"/>
          <p:cNvSpPr/>
          <p:nvPr/>
        </p:nvSpPr>
        <p:spPr>
          <a:xfrm>
            <a:off x="548640" y="640080"/>
            <a:ext cx="457200" cy="457200"/>
          </a:xfrm>
          <a:prstGeom prst="ellipse">
            <a:avLst/>
          </a:prstGeom>
          <a:solidFill>
            <a:srgbClr val="9C6510"/>
          </a:solidFill>
          <a:ln/>
        </p:spPr>
      </p:sp>
      <p:sp>
        <p:nvSpPr>
          <p:cNvPr id="4" name="Text 2"/>
          <p:cNvSpPr/>
          <p:nvPr/>
        </p:nvSpPr>
        <p:spPr>
          <a:xfrm>
            <a:off x="548640" y="6400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5" name="Text 3"/>
          <p:cNvSpPr/>
          <p:nvPr/>
        </p:nvSpPr>
        <p:spPr>
          <a:xfrm>
            <a:off x="1170432" y="640080"/>
            <a:ext cx="5486400" cy="457200"/>
          </a:xfrm>
          <a:prstGeom prst="rect">
            <a:avLst/>
          </a:prstGeom>
          <a:noFill/>
          <a:ln/>
        </p:spPr>
        <p:txBody>
          <a:bodyPr wrap="square" lIns="0" tIns="0" rIns="0" bIns="0" rtlCol="0" anchor="ctr"/>
          <a:lstStyle/>
          <a:p>
            <a:pPr indent="0" marL="0">
              <a:buNone/>
            </a:pPr>
            <a:r>
              <a:rPr lang="en-US" sz="1400" b="1" spc="300" kern="0" dirty="0">
                <a:solidFill>
                  <a:srgbClr val="E8B94B"/>
                </a:solidFill>
                <a:latin typeface="Calibri" pitchFamily="34" charset="0"/>
                <a:ea typeface="Calibri" pitchFamily="34" charset="-122"/>
                <a:cs typeface="Calibri" pitchFamily="34" charset="-120"/>
              </a:rPr>
              <a:t>SECTION V</a:t>
            </a:r>
            <a:endParaRPr lang="en-US" sz="1400" dirty="0"/>
          </a:p>
        </p:txBody>
      </p:sp>
      <p:sp>
        <p:nvSpPr>
          <p:cNvPr id="6" name="Text 4"/>
          <p:cNvSpPr/>
          <p:nvPr/>
        </p:nvSpPr>
        <p:spPr>
          <a:xfrm>
            <a:off x="548640" y="2286000"/>
            <a:ext cx="987552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Diagnostics</a:t>
            </a:r>
            <a:endParaRPr lang="en-US" sz="4000" dirty="0"/>
          </a:p>
        </p:txBody>
      </p:sp>
      <p:sp>
        <p:nvSpPr>
          <p:cNvPr id="7" name="Text 5"/>
          <p:cNvSpPr/>
          <p:nvPr/>
        </p:nvSpPr>
        <p:spPr>
          <a:xfrm>
            <a:off x="548640" y="3611880"/>
            <a:ext cx="8778240" cy="822960"/>
          </a:xfrm>
          <a:prstGeom prst="rect">
            <a:avLst/>
          </a:prstGeom>
          <a:noFill/>
          <a:ln/>
        </p:spPr>
        <p:txBody>
          <a:bodyPr wrap="square" lIns="0" tIns="0" rIns="0" bIns="0" rtlCol="0" anchor="ctr"/>
          <a:lstStyle/>
          <a:p>
            <a:pPr indent="0" marL="0">
              <a:lnSpc>
                <a:spcPct val="120000"/>
              </a:lnSpc>
              <a:buNone/>
            </a:pPr>
            <a:r>
              <a:rPr lang="en-US" sz="1600" i="1" dirty="0">
                <a:solidFill>
                  <a:srgbClr val="C7D6EA"/>
                </a:solidFill>
                <a:latin typeface="Cambria" pitchFamily="34" charset="0"/>
                <a:ea typeface="Cambria" pitchFamily="34" charset="-122"/>
                <a:cs typeface="Cambria" pitchFamily="34" charset="-120"/>
              </a:rPr>
              <a:t>Why does the NISQ result trail the baseline by roughly 50%? Eight candidate explanations, tested and ruled out — and a ninth that actually helps.</a:t>
            </a:r>
            <a:endParaRPr lang="en-US" sz="1600" dirty="0"/>
          </a:p>
        </p:txBody>
      </p:sp>
      <p:sp>
        <p:nvSpPr>
          <p:cNvPr id="8" name="Shape 6"/>
          <p:cNvSpPr/>
          <p:nvPr/>
        </p:nvSpPr>
        <p:spPr>
          <a:xfrm>
            <a:off x="548640" y="4700016"/>
            <a:ext cx="82296" cy="82296"/>
          </a:xfrm>
          <a:prstGeom prst="ellipse">
            <a:avLst/>
          </a:prstGeom>
          <a:solidFill>
            <a:srgbClr val="E8B94B"/>
          </a:solidFill>
          <a:ln/>
        </p:spPr>
      </p:sp>
      <p:sp>
        <p:nvSpPr>
          <p:cNvPr id="9" name="Text 7"/>
          <p:cNvSpPr/>
          <p:nvPr/>
        </p:nvSpPr>
        <p:spPr>
          <a:xfrm>
            <a:off x="804672" y="456285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Input composition, compute-graph depth, search-time budget, loop structure</a:t>
            </a:r>
            <a:endParaRPr lang="en-US" sz="1300" dirty="0"/>
          </a:p>
        </p:txBody>
      </p:sp>
      <p:sp>
        <p:nvSpPr>
          <p:cNvPr id="10" name="Shape 8"/>
          <p:cNvSpPr/>
          <p:nvPr/>
        </p:nvSpPr>
        <p:spPr>
          <a:xfrm>
            <a:off x="548640" y="5065776"/>
            <a:ext cx="82296" cy="82296"/>
          </a:xfrm>
          <a:prstGeom prst="ellipse">
            <a:avLst/>
          </a:prstGeom>
          <a:solidFill>
            <a:srgbClr val="E8B94B"/>
          </a:solidFill>
          <a:ln/>
        </p:spPr>
      </p:sp>
      <p:sp>
        <p:nvSpPr>
          <p:cNvPr id="11" name="Text 9"/>
          <p:cNvSpPr/>
          <p:nvPr/>
        </p:nvSpPr>
        <p:spPr>
          <a:xfrm>
            <a:off x="804672" y="492861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Window discovery, node-key precision, node-key fragility, reach extension</a:t>
            </a:r>
            <a:endParaRPr lang="en-US" sz="1300" dirty="0"/>
          </a:p>
        </p:txBody>
      </p:sp>
      <p:sp>
        <p:nvSpPr>
          <p:cNvPr id="12" name="Shape 10"/>
          <p:cNvSpPr/>
          <p:nvPr/>
        </p:nvSpPr>
        <p:spPr>
          <a:xfrm>
            <a:off x="548640" y="5431536"/>
            <a:ext cx="82296" cy="82296"/>
          </a:xfrm>
          <a:prstGeom prst="ellipse">
            <a:avLst/>
          </a:prstGeom>
          <a:solidFill>
            <a:srgbClr val="E8B94B"/>
          </a:solidFill>
          <a:ln/>
        </p:spPr>
      </p:sp>
      <p:sp>
        <p:nvSpPr>
          <p:cNvPr id="13" name="Text 11"/>
          <p:cNvSpPr/>
          <p:nvPr/>
        </p:nvSpPr>
        <p:spPr>
          <a:xfrm>
            <a:off x="804672" y="529437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A real ~3% win: porting the reference implementation's own loop</a:t>
            </a:r>
            <a:endParaRPr lang="en-US" sz="1300" dirty="0"/>
          </a:p>
        </p:txBody>
      </p:sp>
      <p:sp>
        <p:nvSpPr>
          <p:cNvPr id="14" name="Text 1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A749A"/>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A749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 · DIAGNOSTICS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Eight Ruled-Out Explanations for the NISQ Gap</a:t>
            </a:r>
            <a:endParaRPr lang="en-US" sz="2900" dirty="0"/>
          </a:p>
        </p:txBody>
      </p:sp>
      <p:sp>
        <p:nvSpPr>
          <p:cNvPr id="4" name="Text 2"/>
          <p:cNvSpPr/>
          <p:nvPr/>
        </p:nvSpPr>
        <p:spPr>
          <a:xfrm>
            <a:off x="548640" y="1572768"/>
            <a:ext cx="11094415" cy="329184"/>
          </a:xfrm>
          <a:prstGeom prst="rect">
            <a:avLst/>
          </a:prstGeom>
          <a:noFill/>
          <a:ln/>
        </p:spPr>
        <p:txBody>
          <a:bodyPr wrap="square" lIns="0" tIns="0" rIns="0" bIns="0" rtlCol="0" anchor="ctr"/>
          <a:lstStyle/>
          <a:p>
            <a:pPr indent="0" marL="0">
              <a:buNone/>
            </a:pPr>
            <a:r>
              <a:rPr lang="en-US" sz="1250" i="1" dirty="0">
                <a:solidFill>
                  <a:srgbClr val="5B6B82"/>
                </a:solidFill>
                <a:latin typeface="Calibri" pitchFamily="34" charset="0"/>
                <a:ea typeface="Calibri" pitchFamily="34" charset="-122"/>
                <a:cs typeface="Calibri" pitchFamily="34" charset="-120"/>
              </a:rPr>
              <a:t>A gap this large — roughly 50% at the total-length level — demands an explanation, not just a report of the discrepancy.</a:t>
            </a:r>
            <a:endParaRPr lang="en-US" sz="1250" dirty="0"/>
          </a:p>
        </p:txBody>
      </p:sp>
      <p:sp>
        <p:nvSpPr>
          <p:cNvPr id="5" name="Shape 3"/>
          <p:cNvSpPr/>
          <p:nvPr/>
        </p:nvSpPr>
        <p:spPr>
          <a:xfrm>
            <a:off x="548640" y="2029968"/>
            <a:ext cx="5410048" cy="914400"/>
          </a:xfrm>
          <a:prstGeom prst="roundRect">
            <a:avLst>
              <a:gd name="adj" fmla="val 8000"/>
            </a:avLst>
          </a:prstGeom>
          <a:solidFill>
            <a:srgbClr val="F4F7FB"/>
          </a:solidFill>
          <a:ln w="12700">
            <a:solidFill>
              <a:srgbClr val="D7E0EA"/>
            </a:solidFill>
            <a:prstDash val="solid"/>
          </a:ln>
        </p:spPr>
      </p:sp>
      <p:sp>
        <p:nvSpPr>
          <p:cNvPr id="6" name="Shape 4"/>
          <p:cNvSpPr/>
          <p:nvPr/>
        </p:nvSpPr>
        <p:spPr>
          <a:xfrm>
            <a:off x="694944" y="2176272"/>
            <a:ext cx="347472" cy="347472"/>
          </a:xfrm>
          <a:prstGeom prst="ellipse">
            <a:avLst/>
          </a:prstGeom>
          <a:solidFill>
            <a:srgbClr val="9C6510"/>
          </a:solidFill>
          <a:ln/>
        </p:spPr>
      </p:sp>
      <p:sp>
        <p:nvSpPr>
          <p:cNvPr id="7" name="Text 5"/>
          <p:cNvSpPr/>
          <p:nvPr/>
        </p:nvSpPr>
        <p:spPr>
          <a:xfrm>
            <a:off x="694944" y="21762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52144" y="2121408"/>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Input composition</a:t>
            </a:r>
            <a:endParaRPr lang="en-US" sz="1200" dirty="0"/>
          </a:p>
        </p:txBody>
      </p:sp>
      <p:sp>
        <p:nvSpPr>
          <p:cNvPr id="9" name="Text 7"/>
          <p:cNvSpPr/>
          <p:nvPr/>
        </p:nvSpPr>
        <p:spPr>
          <a:xfrm>
            <a:off x="1152144" y="2395728"/>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10" name="Text 8"/>
          <p:cNvSpPr/>
          <p:nvPr/>
        </p:nvSpPr>
        <p:spPr>
          <a:xfrm>
            <a:off x="731520" y="2633472"/>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Input means match the published row within noise.</a:t>
            </a:r>
            <a:endParaRPr lang="en-US" sz="950" dirty="0"/>
          </a:p>
        </p:txBody>
      </p:sp>
      <p:sp>
        <p:nvSpPr>
          <p:cNvPr id="11" name="Shape 9"/>
          <p:cNvSpPr/>
          <p:nvPr/>
        </p:nvSpPr>
        <p:spPr>
          <a:xfrm>
            <a:off x="6233008" y="2029968"/>
            <a:ext cx="5410048" cy="914400"/>
          </a:xfrm>
          <a:prstGeom prst="roundRect">
            <a:avLst>
              <a:gd name="adj" fmla="val 8000"/>
            </a:avLst>
          </a:prstGeom>
          <a:solidFill>
            <a:srgbClr val="F4F7FB"/>
          </a:solidFill>
          <a:ln w="12700">
            <a:solidFill>
              <a:srgbClr val="D7E0EA"/>
            </a:solidFill>
            <a:prstDash val="solid"/>
          </a:ln>
        </p:spPr>
      </p:sp>
      <p:sp>
        <p:nvSpPr>
          <p:cNvPr id="12" name="Shape 10"/>
          <p:cNvSpPr/>
          <p:nvPr/>
        </p:nvSpPr>
        <p:spPr>
          <a:xfrm>
            <a:off x="6379312" y="2176272"/>
            <a:ext cx="347472" cy="347472"/>
          </a:xfrm>
          <a:prstGeom prst="ellipse">
            <a:avLst/>
          </a:prstGeom>
          <a:solidFill>
            <a:srgbClr val="9C6510"/>
          </a:solidFill>
          <a:ln/>
        </p:spPr>
      </p:sp>
      <p:sp>
        <p:nvSpPr>
          <p:cNvPr id="13" name="Text 11"/>
          <p:cNvSpPr/>
          <p:nvPr/>
        </p:nvSpPr>
        <p:spPr>
          <a:xfrm>
            <a:off x="6379312" y="21762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4" name="Text 12"/>
          <p:cNvSpPr/>
          <p:nvPr/>
        </p:nvSpPr>
        <p:spPr>
          <a:xfrm>
            <a:off x="6836512" y="2121408"/>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Compute-graph depth</a:t>
            </a:r>
            <a:endParaRPr lang="en-US" sz="1200" dirty="0"/>
          </a:p>
        </p:txBody>
      </p:sp>
      <p:sp>
        <p:nvSpPr>
          <p:cNvPr id="15" name="Text 13"/>
          <p:cNvSpPr/>
          <p:nvPr/>
        </p:nvSpPr>
        <p:spPr>
          <a:xfrm>
            <a:off x="6836512" y="2395728"/>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16" name="Text 14"/>
          <p:cNvSpPr/>
          <p:nvPr/>
        </p:nvSpPr>
        <p:spPr>
          <a:xfrm>
            <a:off x="6415888" y="2633472"/>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One level deeper narrows the gap by only ~2%.</a:t>
            </a:r>
            <a:endParaRPr lang="en-US" sz="950" dirty="0"/>
          </a:p>
        </p:txBody>
      </p:sp>
      <p:sp>
        <p:nvSpPr>
          <p:cNvPr id="17" name="Shape 15"/>
          <p:cNvSpPr/>
          <p:nvPr/>
        </p:nvSpPr>
        <p:spPr>
          <a:xfrm>
            <a:off x="548640" y="3072384"/>
            <a:ext cx="5410048" cy="914400"/>
          </a:xfrm>
          <a:prstGeom prst="roundRect">
            <a:avLst>
              <a:gd name="adj" fmla="val 8000"/>
            </a:avLst>
          </a:prstGeom>
          <a:solidFill>
            <a:srgbClr val="F4F7FB"/>
          </a:solidFill>
          <a:ln w="12700">
            <a:solidFill>
              <a:srgbClr val="D7E0EA"/>
            </a:solidFill>
            <a:prstDash val="solid"/>
          </a:ln>
        </p:spPr>
      </p:sp>
      <p:sp>
        <p:nvSpPr>
          <p:cNvPr id="18" name="Shape 16"/>
          <p:cNvSpPr/>
          <p:nvPr/>
        </p:nvSpPr>
        <p:spPr>
          <a:xfrm>
            <a:off x="694944" y="3218688"/>
            <a:ext cx="347472" cy="347472"/>
          </a:xfrm>
          <a:prstGeom prst="ellipse">
            <a:avLst/>
          </a:prstGeom>
          <a:solidFill>
            <a:srgbClr val="9C6510"/>
          </a:solidFill>
          <a:ln/>
        </p:spPr>
      </p:sp>
      <p:sp>
        <p:nvSpPr>
          <p:cNvPr id="19" name="Text 17"/>
          <p:cNvSpPr/>
          <p:nvPr/>
        </p:nvSpPr>
        <p:spPr>
          <a:xfrm>
            <a:off x="694944" y="32186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Text 18"/>
          <p:cNvSpPr/>
          <p:nvPr/>
        </p:nvSpPr>
        <p:spPr>
          <a:xfrm>
            <a:off x="1152144" y="3163824"/>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Search-time budget</a:t>
            </a:r>
            <a:endParaRPr lang="en-US" sz="1200" dirty="0"/>
          </a:p>
        </p:txBody>
      </p:sp>
      <p:sp>
        <p:nvSpPr>
          <p:cNvPr id="21" name="Text 19"/>
          <p:cNvSpPr/>
          <p:nvPr/>
        </p:nvSpPr>
        <p:spPr>
          <a:xfrm>
            <a:off x="1152144" y="3438144"/>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22" name="Text 20"/>
          <p:cNvSpPr/>
          <p:nvPr/>
        </p:nvSpPr>
        <p:spPr>
          <a:xfrm>
            <a:off x="731520" y="3675888"/>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10s and 60s reach the same end length — converges well inside budget.</a:t>
            </a:r>
            <a:endParaRPr lang="en-US" sz="950" dirty="0"/>
          </a:p>
        </p:txBody>
      </p:sp>
      <p:sp>
        <p:nvSpPr>
          <p:cNvPr id="23" name="Shape 21"/>
          <p:cNvSpPr/>
          <p:nvPr/>
        </p:nvSpPr>
        <p:spPr>
          <a:xfrm>
            <a:off x="6233008" y="3072384"/>
            <a:ext cx="5410048" cy="914400"/>
          </a:xfrm>
          <a:prstGeom prst="roundRect">
            <a:avLst>
              <a:gd name="adj" fmla="val 8000"/>
            </a:avLst>
          </a:prstGeom>
          <a:solidFill>
            <a:srgbClr val="F4F7FB"/>
          </a:solidFill>
          <a:ln w="12700">
            <a:solidFill>
              <a:srgbClr val="D7E0EA"/>
            </a:solidFill>
            <a:prstDash val="solid"/>
          </a:ln>
        </p:spPr>
      </p:sp>
      <p:sp>
        <p:nvSpPr>
          <p:cNvPr id="24" name="Shape 22"/>
          <p:cNvSpPr/>
          <p:nvPr/>
        </p:nvSpPr>
        <p:spPr>
          <a:xfrm>
            <a:off x="6379312" y="3218688"/>
            <a:ext cx="347472" cy="347472"/>
          </a:xfrm>
          <a:prstGeom prst="ellipse">
            <a:avLst/>
          </a:prstGeom>
          <a:solidFill>
            <a:srgbClr val="9C6510"/>
          </a:solidFill>
          <a:ln/>
        </p:spPr>
      </p:sp>
      <p:sp>
        <p:nvSpPr>
          <p:cNvPr id="25" name="Text 23"/>
          <p:cNvSpPr/>
          <p:nvPr/>
        </p:nvSpPr>
        <p:spPr>
          <a:xfrm>
            <a:off x="6379312" y="321868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6836512" y="3163824"/>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Search-loop structure</a:t>
            </a:r>
            <a:endParaRPr lang="en-US" sz="1200" dirty="0"/>
          </a:p>
        </p:txBody>
      </p:sp>
      <p:sp>
        <p:nvSpPr>
          <p:cNvPr id="27" name="Text 25"/>
          <p:cNvSpPr/>
          <p:nvPr/>
        </p:nvSpPr>
        <p:spPr>
          <a:xfrm>
            <a:off x="6836512" y="3438144"/>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28" name="Text 26"/>
          <p:cNvSpPr/>
          <p:nvPr/>
        </p:nvSpPr>
        <p:spPr>
          <a:xfrm>
            <a:off x="6415888" y="3675888"/>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Reimplemented V1/V2/V3; none beats the exhaustive sweep.</a:t>
            </a:r>
            <a:endParaRPr lang="en-US" sz="950" dirty="0"/>
          </a:p>
        </p:txBody>
      </p:sp>
      <p:sp>
        <p:nvSpPr>
          <p:cNvPr id="29" name="Shape 27"/>
          <p:cNvSpPr/>
          <p:nvPr/>
        </p:nvSpPr>
        <p:spPr>
          <a:xfrm>
            <a:off x="548640" y="4114800"/>
            <a:ext cx="5410048" cy="914400"/>
          </a:xfrm>
          <a:prstGeom prst="roundRect">
            <a:avLst>
              <a:gd name="adj" fmla="val 8000"/>
            </a:avLst>
          </a:prstGeom>
          <a:solidFill>
            <a:srgbClr val="F4F7FB"/>
          </a:solidFill>
          <a:ln w="12700">
            <a:solidFill>
              <a:srgbClr val="D7E0EA"/>
            </a:solidFill>
            <a:prstDash val="solid"/>
          </a:ln>
        </p:spPr>
      </p:sp>
      <p:sp>
        <p:nvSpPr>
          <p:cNvPr id="30" name="Shape 28"/>
          <p:cNvSpPr/>
          <p:nvPr/>
        </p:nvSpPr>
        <p:spPr>
          <a:xfrm>
            <a:off x="694944" y="4261104"/>
            <a:ext cx="347472" cy="347472"/>
          </a:xfrm>
          <a:prstGeom prst="ellipse">
            <a:avLst/>
          </a:prstGeom>
          <a:solidFill>
            <a:srgbClr val="9C6510"/>
          </a:solidFill>
          <a:ln/>
        </p:spPr>
      </p:sp>
      <p:sp>
        <p:nvSpPr>
          <p:cNvPr id="31" name="Text 29"/>
          <p:cNvSpPr/>
          <p:nvPr/>
        </p:nvSpPr>
        <p:spPr>
          <a:xfrm>
            <a:off x="694944" y="42611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2" name="Text 30"/>
          <p:cNvSpPr/>
          <p:nvPr/>
        </p:nvSpPr>
        <p:spPr>
          <a:xfrm>
            <a:off x="1152144" y="4206240"/>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Window discovery</a:t>
            </a:r>
            <a:endParaRPr lang="en-US" sz="1200" dirty="0"/>
          </a:p>
        </p:txBody>
      </p:sp>
      <p:sp>
        <p:nvSpPr>
          <p:cNvPr id="33" name="Text 31"/>
          <p:cNvSpPr/>
          <p:nvPr/>
        </p:nvSpPr>
        <p:spPr>
          <a:xfrm>
            <a:off x="1152144" y="4480560"/>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34" name="Text 32"/>
          <p:cNvSpPr/>
          <p:nvPr/>
        </p:nvSpPr>
        <p:spPr>
          <a:xfrm>
            <a:off x="731520" y="4718304"/>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Reordering exposes far larger windows — almost none reduce.</a:t>
            </a:r>
            <a:endParaRPr lang="en-US" sz="950" dirty="0"/>
          </a:p>
        </p:txBody>
      </p:sp>
      <p:sp>
        <p:nvSpPr>
          <p:cNvPr id="35" name="Shape 33"/>
          <p:cNvSpPr/>
          <p:nvPr/>
        </p:nvSpPr>
        <p:spPr>
          <a:xfrm>
            <a:off x="6233008" y="4114800"/>
            <a:ext cx="5410048" cy="914400"/>
          </a:xfrm>
          <a:prstGeom prst="roundRect">
            <a:avLst>
              <a:gd name="adj" fmla="val 8000"/>
            </a:avLst>
          </a:prstGeom>
          <a:solidFill>
            <a:srgbClr val="F4F7FB"/>
          </a:solidFill>
          <a:ln w="12700">
            <a:solidFill>
              <a:srgbClr val="D7E0EA"/>
            </a:solidFill>
            <a:prstDash val="solid"/>
          </a:ln>
        </p:spPr>
      </p:sp>
      <p:sp>
        <p:nvSpPr>
          <p:cNvPr id="36" name="Shape 34"/>
          <p:cNvSpPr/>
          <p:nvPr/>
        </p:nvSpPr>
        <p:spPr>
          <a:xfrm>
            <a:off x="6379312" y="4261104"/>
            <a:ext cx="347472" cy="347472"/>
          </a:xfrm>
          <a:prstGeom prst="ellipse">
            <a:avLst/>
          </a:prstGeom>
          <a:solidFill>
            <a:srgbClr val="9C6510"/>
          </a:solidFill>
          <a:ln/>
        </p:spPr>
      </p:sp>
      <p:sp>
        <p:nvSpPr>
          <p:cNvPr id="37" name="Text 35"/>
          <p:cNvSpPr/>
          <p:nvPr/>
        </p:nvSpPr>
        <p:spPr>
          <a:xfrm>
            <a:off x="6379312" y="426110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8" name="Text 36"/>
          <p:cNvSpPr/>
          <p:nvPr/>
        </p:nvSpPr>
        <p:spPr>
          <a:xfrm>
            <a:off x="6836512" y="4206240"/>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Node-key precision</a:t>
            </a:r>
            <a:endParaRPr lang="en-US" sz="1200" dirty="0"/>
          </a:p>
        </p:txBody>
      </p:sp>
      <p:sp>
        <p:nvSpPr>
          <p:cNvPr id="39" name="Text 37"/>
          <p:cNvSpPr/>
          <p:nvPr/>
        </p:nvSpPr>
        <p:spPr>
          <a:xfrm>
            <a:off x="6836512" y="4480560"/>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40" name="Text 38"/>
          <p:cNvSpPr/>
          <p:nvPr/>
        </p:nvSpPr>
        <p:spPr>
          <a:xfrm>
            <a:off x="6415888" y="4718304"/>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Identical node counts at 5 rounding precisions down to 4 decimals.</a:t>
            </a:r>
            <a:endParaRPr lang="en-US" sz="950" dirty="0"/>
          </a:p>
        </p:txBody>
      </p:sp>
      <p:sp>
        <p:nvSpPr>
          <p:cNvPr id="41" name="Shape 39"/>
          <p:cNvSpPr/>
          <p:nvPr/>
        </p:nvSpPr>
        <p:spPr>
          <a:xfrm>
            <a:off x="548640" y="5157216"/>
            <a:ext cx="5410048" cy="914400"/>
          </a:xfrm>
          <a:prstGeom prst="roundRect">
            <a:avLst>
              <a:gd name="adj" fmla="val 8000"/>
            </a:avLst>
          </a:prstGeom>
          <a:solidFill>
            <a:srgbClr val="F4F7FB"/>
          </a:solidFill>
          <a:ln w="12700">
            <a:solidFill>
              <a:srgbClr val="D7E0EA"/>
            </a:solidFill>
            <a:prstDash val="solid"/>
          </a:ln>
        </p:spPr>
      </p:sp>
      <p:sp>
        <p:nvSpPr>
          <p:cNvPr id="42" name="Shape 40"/>
          <p:cNvSpPr/>
          <p:nvPr/>
        </p:nvSpPr>
        <p:spPr>
          <a:xfrm>
            <a:off x="694944" y="5303520"/>
            <a:ext cx="347472" cy="347472"/>
          </a:xfrm>
          <a:prstGeom prst="ellipse">
            <a:avLst/>
          </a:prstGeom>
          <a:solidFill>
            <a:srgbClr val="9C6510"/>
          </a:solidFill>
          <a:ln/>
        </p:spPr>
      </p:sp>
      <p:sp>
        <p:nvSpPr>
          <p:cNvPr id="43" name="Text 41"/>
          <p:cNvSpPr/>
          <p:nvPr/>
        </p:nvSpPr>
        <p:spPr>
          <a:xfrm>
            <a:off x="694944" y="5303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44" name="Text 42"/>
          <p:cNvSpPr/>
          <p:nvPr/>
        </p:nvSpPr>
        <p:spPr>
          <a:xfrm>
            <a:off x="1152144" y="5248656"/>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Node-key fragility</a:t>
            </a:r>
            <a:endParaRPr lang="en-US" sz="1200" dirty="0"/>
          </a:p>
        </p:txBody>
      </p:sp>
      <p:sp>
        <p:nvSpPr>
          <p:cNvPr id="45" name="Text 43"/>
          <p:cNvSpPr/>
          <p:nvPr/>
        </p:nvSpPr>
        <p:spPr>
          <a:xfrm>
            <a:off x="1152144" y="5522976"/>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46" name="Text 44"/>
          <p:cNvSpPr/>
          <p:nvPr/>
        </p:nvSpPr>
        <p:spPr>
          <a:xfrm>
            <a:off x="731520" y="5760720"/>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Fixed a real 21–32% under-merging bug — zero circuit-level change.</a:t>
            </a:r>
            <a:endParaRPr lang="en-US" sz="950" dirty="0"/>
          </a:p>
        </p:txBody>
      </p:sp>
      <p:sp>
        <p:nvSpPr>
          <p:cNvPr id="47" name="Shape 45"/>
          <p:cNvSpPr/>
          <p:nvPr/>
        </p:nvSpPr>
        <p:spPr>
          <a:xfrm>
            <a:off x="6233008" y="5157216"/>
            <a:ext cx="5410048" cy="914400"/>
          </a:xfrm>
          <a:prstGeom prst="roundRect">
            <a:avLst>
              <a:gd name="adj" fmla="val 8000"/>
            </a:avLst>
          </a:prstGeom>
          <a:solidFill>
            <a:srgbClr val="F4F7FB"/>
          </a:solidFill>
          <a:ln w="12700">
            <a:solidFill>
              <a:srgbClr val="D7E0EA"/>
            </a:solidFill>
            <a:prstDash val="solid"/>
          </a:ln>
        </p:spPr>
      </p:sp>
      <p:sp>
        <p:nvSpPr>
          <p:cNvPr id="48" name="Shape 46"/>
          <p:cNvSpPr/>
          <p:nvPr/>
        </p:nvSpPr>
        <p:spPr>
          <a:xfrm>
            <a:off x="6379312" y="5303520"/>
            <a:ext cx="347472" cy="347472"/>
          </a:xfrm>
          <a:prstGeom prst="ellipse">
            <a:avLst/>
          </a:prstGeom>
          <a:solidFill>
            <a:srgbClr val="9C6510"/>
          </a:solidFill>
          <a:ln/>
        </p:spPr>
      </p:sp>
      <p:sp>
        <p:nvSpPr>
          <p:cNvPr id="49" name="Text 47"/>
          <p:cNvSpPr/>
          <p:nvPr/>
        </p:nvSpPr>
        <p:spPr>
          <a:xfrm>
            <a:off x="6379312" y="5303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50" name="Text 48"/>
          <p:cNvSpPr/>
          <p:nvPr/>
        </p:nvSpPr>
        <p:spPr>
          <a:xfrm>
            <a:off x="6836512" y="5248656"/>
            <a:ext cx="4632808" cy="292608"/>
          </a:xfrm>
          <a:prstGeom prst="rect">
            <a:avLst/>
          </a:prstGeom>
          <a:noFill/>
          <a:ln/>
        </p:spPr>
        <p:txBody>
          <a:bodyPr wrap="square" lIns="0" tIns="0" rIns="0" bIns="0" rtlCol="0" anchor="ctr"/>
          <a:lstStyle/>
          <a:p>
            <a:pPr indent="0" marL="0">
              <a:buNone/>
            </a:pPr>
            <a:r>
              <a:rPr lang="en-US" sz="1200" b="1" dirty="0">
                <a:solidFill>
                  <a:srgbClr val="16233F"/>
                </a:solidFill>
                <a:latin typeface="Cambria" pitchFamily="34" charset="0"/>
                <a:ea typeface="Cambria" pitchFamily="34" charset="-122"/>
                <a:cs typeface="Cambria" pitchFamily="34" charset="-120"/>
              </a:rPr>
              <a:t>Reach extension</a:t>
            </a:r>
            <a:endParaRPr lang="en-US" sz="1200" dirty="0"/>
          </a:p>
        </p:txBody>
      </p:sp>
      <p:sp>
        <p:nvSpPr>
          <p:cNvPr id="51" name="Text 49"/>
          <p:cNvSpPr/>
          <p:nvPr/>
        </p:nvSpPr>
        <p:spPr>
          <a:xfrm>
            <a:off x="6836512" y="5522976"/>
            <a:ext cx="4632808" cy="237744"/>
          </a:xfrm>
          <a:prstGeom prst="rect">
            <a:avLst/>
          </a:prstGeom>
          <a:noFill/>
          <a:ln/>
        </p:spPr>
        <p:txBody>
          <a:bodyPr wrap="square" lIns="0" tIns="0" rIns="0" bIns="0" rtlCol="0" anchor="ctr"/>
          <a:lstStyle/>
          <a:p>
            <a:pPr indent="0" marL="0">
              <a:buNone/>
            </a:pPr>
            <a:r>
              <a:rPr lang="en-US" sz="950" b="1" dirty="0">
                <a:solidFill>
                  <a:srgbClr val="2C5578"/>
                </a:solidFill>
                <a:latin typeface="Calibri" pitchFamily="34" charset="0"/>
                <a:ea typeface="Calibri" pitchFamily="34" charset="-122"/>
                <a:cs typeface="Calibri" pitchFamily="34" charset="-120"/>
              </a:rPr>
              <a:t>Ruled out</a:t>
            </a:r>
            <a:endParaRPr lang="en-US" sz="950" dirty="0"/>
          </a:p>
        </p:txBody>
      </p:sp>
      <p:sp>
        <p:nvSpPr>
          <p:cNvPr id="52" name="Text 50"/>
          <p:cNvSpPr/>
          <p:nvPr/>
        </p:nvSpPr>
        <p:spPr>
          <a:xfrm>
            <a:off x="6415888" y="5760720"/>
            <a:ext cx="5044288" cy="292608"/>
          </a:xfrm>
          <a:prstGeom prst="rect">
            <a:avLst/>
          </a:prstGeom>
          <a:noFill/>
          <a:ln/>
        </p:spPr>
        <p:txBody>
          <a:bodyPr wrap="square" lIns="0" tIns="0" rIns="0" bIns="0" rtlCol="0" anchor="ctr"/>
          <a:lstStyle/>
          <a:p>
            <a:pPr indent="0" marL="0">
              <a:buNone/>
            </a:pPr>
            <a:r>
              <a:rPr lang="en-US" sz="950" dirty="0">
                <a:solidFill>
                  <a:srgbClr val="5B6B82"/>
                </a:solidFill>
                <a:latin typeface="Calibri" pitchFamily="34" charset="0"/>
                <a:ea typeface="Calibri" pitchFamily="34" charset="-122"/>
                <a:cs typeface="Calibri" pitchFamily="34" charset="-120"/>
              </a:rPr>
              <a:t>Finds genuine new matches — but costs more search time than it saves.</a:t>
            </a:r>
            <a:endParaRPr lang="en-US" sz="950" dirty="0"/>
          </a:p>
        </p:txBody>
      </p:sp>
      <p:sp>
        <p:nvSpPr>
          <p:cNvPr id="53" name="Text 51"/>
          <p:cNvSpPr/>
          <p:nvPr/>
        </p:nvSpPr>
        <p:spPr>
          <a:xfrm>
            <a:off x="548640" y="6245352"/>
            <a:ext cx="11094415" cy="457200"/>
          </a:xfrm>
          <a:prstGeom prst="rect">
            <a:avLst/>
          </a:prstGeom>
          <a:noFill/>
          <a:ln/>
        </p:spPr>
        <p:txBody>
          <a:bodyPr wrap="square" lIns="0" tIns="0" rIns="0" bIns="0" rtlCol="0" anchor="t"/>
          <a:lstStyle/>
          <a:p>
            <a:pPr algn="l" indent="0" marL="0">
              <a:buNone/>
            </a:pPr>
            <a:r>
              <a:rPr lang="en-US" sz="1050" i="1" dirty="0">
                <a:solidFill>
                  <a:srgbClr val="5B6B82"/>
                </a:solidFill>
                <a:latin typeface="Calibri" pitchFamily="34" charset="0"/>
                <a:ea typeface="Calibri" pitchFamily="34" charset="-122"/>
                <a:cs typeface="Calibri" pitchFamily="34" charset="-120"/>
              </a:rPr>
              <a:t>All eight ruled out directly by experiment — database factorization coverage remains the open cause. A ninth attempt, next, is not a diagnosis but a real improvement.</a:t>
            </a:r>
            <a:endParaRPr lang="en-US" sz="1050" dirty="0"/>
          </a:p>
        </p:txBody>
      </p:sp>
      <p:sp>
        <p:nvSpPr>
          <p:cNvPr id="54" name="Text 5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55" name="Text 5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 · DIAGNOSTICS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Diagnostics in Detail — Two Worked Examples</a:t>
            </a:r>
            <a:endParaRPr lang="en-US" sz="2900" dirty="0"/>
          </a:p>
        </p:txBody>
      </p:sp>
      <p:sp>
        <p:nvSpPr>
          <p:cNvPr id="4" name="Text 2"/>
          <p:cNvSpPr/>
          <p:nvPr/>
        </p:nvSpPr>
        <p:spPr>
          <a:xfrm>
            <a:off x="548640" y="1572768"/>
            <a:ext cx="11094415" cy="292608"/>
          </a:xfrm>
          <a:prstGeom prst="rect">
            <a:avLst/>
          </a:prstGeom>
          <a:noFill/>
          <a:ln/>
        </p:spPr>
        <p:txBody>
          <a:bodyPr wrap="square" lIns="0" tIns="0" rIns="0" bIns="0" rtlCol="0" anchor="ctr"/>
          <a:lstStyle/>
          <a:p>
            <a:pPr indent="0" marL="0">
              <a:buNone/>
            </a:pPr>
            <a:r>
              <a:rPr lang="en-US" sz="1350" b="1" dirty="0">
                <a:solidFill>
                  <a:srgbClr val="16233F"/>
                </a:solidFill>
                <a:latin typeface="Cambria" pitchFamily="34" charset="0"/>
                <a:ea typeface="Cambria" pitchFamily="34" charset="-122"/>
                <a:cs typeface="Cambria" pitchFamily="34" charset="-120"/>
              </a:rPr>
              <a:t>Hypothesis 4 — search-loop structure (6 NISQ circuits, 10s budget)</a:t>
            </a:r>
            <a:endParaRPr lang="en-US" sz="13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3291840"/>
                <a:gridCol w="1920240"/>
                <a:gridCol w="2194560"/>
                <a:gridCol w="3685032"/>
              </a:tblGrid>
              <a:tr h="365760">
                <a:tc>
                  <a:txBody>
                    <a:bodyPr/>
                    <a:lstStyle/>
                    <a:p>
                      <a:pPr algn="ctr" indent="0" marL="0">
                        <a:buNone/>
                      </a:pPr>
                      <a:r>
                        <a:rPr lang="en-US" sz="1050" b="1" dirty="0">
                          <a:solidFill>
                            <a:srgbClr val="FFFFFF"/>
                          </a:solidFill>
                        </a:rPr>
                        <a:t>method</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050" b="1" dirty="0">
                          <a:solidFill>
                            <a:srgbClr val="FFFFFF"/>
                          </a:solidFill>
                        </a:rPr>
                        <a:t>end length</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050" b="1" dirty="0">
                          <a:solidFill>
                            <a:srgbClr val="FFFFFF"/>
                          </a:solidFill>
                        </a:rPr>
                        <a:t>replacements</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050" b="1" dirty="0">
                          <a:solidFill>
                            <a:srgbClr val="FFFFFF"/>
                          </a:solidFill>
                        </a:rPr>
                        <a:t>lookups</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365760">
                <a:tc>
                  <a:txBody>
                    <a:bodyPr/>
                    <a:lstStyle/>
                    <a:p>
                      <a:pPr algn="l" indent="0" marL="0">
                        <a:buNone/>
                      </a:pPr>
                      <a:r>
                        <a:rPr lang="en-US" sz="1000" b="1" dirty="0">
                          <a:solidFill>
                            <a:srgbClr val="9C6510"/>
                          </a:solidFill>
                        </a:rPr>
                        <a:t>exhaustive sweep</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00" b="1" dirty="0">
                          <a:solidFill>
                            <a:srgbClr val="9C6510"/>
                          </a:solidFill>
                        </a:rPr>
                        <a:t>161.5</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00" b="1" dirty="0">
                          <a:solidFill>
                            <a:srgbClr val="9C6510"/>
                          </a:solidFill>
                        </a:rPr>
                        <a:t>—</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c>
                  <a:txBody>
                    <a:bodyPr/>
                    <a:lstStyle/>
                    <a:p>
                      <a:pPr algn="ctr" indent="0" marL="0">
                        <a:buNone/>
                      </a:pPr>
                      <a:r>
                        <a:rPr lang="en-US" sz="1000" b="1" dirty="0">
                          <a:solidFill>
                            <a:srgbClr val="9C6510"/>
                          </a:solidFill>
                        </a:rPr>
                        <a:t>—</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3E7D2"/>
                    </a:solidFill>
                  </a:tcPr>
                </a:tc>
              </a:tr>
              <a:tr h="365760">
                <a:tc>
                  <a:txBody>
                    <a:bodyPr/>
                    <a:lstStyle/>
                    <a:p>
                      <a:pPr algn="l" indent="0" marL="0">
                        <a:buNone/>
                      </a:pPr>
                      <a:r>
                        <a:rPr lang="en-US" sz="1000" dirty="0">
                          <a:solidFill>
                            <a:srgbClr val="2A3648"/>
                          </a:solidFill>
                        </a:rPr>
                        <a:t>random sampling (V1)</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2A3648"/>
                          </a:solidFill>
                        </a:rPr>
                        <a:t>168.2</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2A3648"/>
                          </a:solidFill>
                        </a:rPr>
                        <a:t>78.2</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00" dirty="0">
                          <a:solidFill>
                            <a:srgbClr val="2A3648"/>
                          </a:solidFill>
                        </a:rPr>
                        <a:t>44,166</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r h="365760">
                <a:tc>
                  <a:txBody>
                    <a:bodyPr/>
                    <a:lstStyle/>
                    <a:p>
                      <a:pPr algn="l" indent="0" marL="0">
                        <a:buNone/>
                      </a:pPr>
                      <a:r>
                        <a:rPr lang="en-US" sz="1000" dirty="0">
                          <a:solidFill>
                            <a:srgbClr val="2A3648"/>
                          </a:solidFill>
                        </a:rPr>
                        <a:t>classifier-gated (V3)</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A3648"/>
                          </a:solidFill>
                        </a:rPr>
                        <a:t>179.5</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A3648"/>
                          </a:solidFill>
                        </a:rPr>
                        <a:t>69.0</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A3648"/>
                          </a:solidFill>
                        </a:rPr>
                        <a:t>2,293 attempted, 994 skipped</a:t>
                      </a:r>
                      <a:endParaRPr lang="en-US" sz="10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bl>
          </a:graphicData>
        </a:graphic>
      </p:graphicFrame>
      <p:sp>
        <p:nvSpPr>
          <p:cNvPr id="6" name="Text 3"/>
          <p:cNvSpPr/>
          <p:nvPr/>
        </p:nvSpPr>
        <p:spPr>
          <a:xfrm>
            <a:off x="548640" y="3438144"/>
            <a:ext cx="11094415" cy="457200"/>
          </a:xfrm>
          <a:prstGeom prst="rect">
            <a:avLst/>
          </a:prstGeom>
          <a:noFill/>
          <a:ln/>
        </p:spPr>
        <p:txBody>
          <a:bodyPr wrap="square" lIns="0" tIns="0" rIns="0" bIns="0" rtlCol="0" anchor="t"/>
          <a:lstStyle/>
          <a:p>
            <a:pPr algn="l" indent="0" marL="0">
              <a:buNone/>
            </a:pPr>
            <a:r>
              <a:rPr lang="en-US" sz="1000" i="1" dirty="0">
                <a:solidFill>
                  <a:srgbClr val="5B6B82"/>
                </a:solidFill>
                <a:latin typeface="Calibri" pitchFamily="34" charset="0"/>
                <a:ea typeface="Calibri" pitchFamily="34" charset="-122"/>
                <a:cs typeface="Calibri" pitchFamily="34" charset="-120"/>
              </a:rPr>
              <a:t>Gating makes the loop worse: the classifier suppresses genuinely reducible lookups while its own decision overhead cuts iteration count by an order of magnitude.</a:t>
            </a:r>
            <a:endParaRPr lang="en-US" sz="1000" dirty="0"/>
          </a:p>
        </p:txBody>
      </p:sp>
      <p:sp>
        <p:nvSpPr>
          <p:cNvPr id="7" name="Text 4"/>
          <p:cNvSpPr/>
          <p:nvPr/>
        </p:nvSpPr>
        <p:spPr>
          <a:xfrm>
            <a:off x="548640" y="3840480"/>
            <a:ext cx="11094415" cy="292608"/>
          </a:xfrm>
          <a:prstGeom prst="rect">
            <a:avLst/>
          </a:prstGeom>
          <a:noFill/>
          <a:ln/>
        </p:spPr>
        <p:txBody>
          <a:bodyPr wrap="square" lIns="0" tIns="0" rIns="0" bIns="0" rtlCol="0" anchor="ctr"/>
          <a:lstStyle/>
          <a:p>
            <a:pPr indent="0" marL="0">
              <a:buNone/>
            </a:pPr>
            <a:r>
              <a:rPr lang="en-US" sz="1350" b="1" dirty="0">
                <a:solidFill>
                  <a:srgbClr val="16233F"/>
                </a:solidFill>
                <a:latin typeface="Cambria" pitchFamily="34" charset="0"/>
                <a:ea typeface="Cambria" pitchFamily="34" charset="-122"/>
                <a:cs typeface="Cambria" pitchFamily="34" charset="-120"/>
              </a:rPr>
              <a:t>Hypothesis 2 — compute-graph depth (100 NISQ circuits)</a:t>
            </a:r>
            <a:endParaRPr lang="en-US" sz="1350" dirty="0"/>
          </a:p>
        </p:txBody>
      </p:sp>
      <p:graphicFrame>
        <p:nvGraphicFramePr>
          <p:cNvPr id="73" name="Table 1"/>
          <p:cNvGraphicFramePr>
            <a:graphicFrameLocks noGrp="1"/>
          </p:cNvGraphicFramePr>
          <p:nvPr>
            <p:extLst>
              <p:ext uri="{D42A27DB-BD31-4B8C-83A1-F6EECF244321}">
                <p14:modId xmlns:p14="http://schemas.microsoft.com/office/powerpoint/2010/main" val="1579011935"/>
              </p:ext>
            </p:extLst>
          </p:nvPr>
        </p:nvGraphicFramePr>
        <p:xfrm>
          <a:off x="548640" y="4187952"/>
          <a:ext cx="11094415" cy="914400"/>
        </p:xfrm>
        <a:graphic>
          <a:graphicData uri="http://schemas.openxmlformats.org/drawingml/2006/table">
            <a:tbl>
              <a:tblPr/>
              <a:tblGrid>
                <a:gridCol w="5120640"/>
                <a:gridCol w="2980944"/>
                <a:gridCol w="2990088"/>
              </a:tblGrid>
              <a:tr h="384048">
                <a:tc>
                  <a:txBody>
                    <a:bodyPr/>
                    <a:lstStyle/>
                    <a:p>
                      <a:pPr algn="ctr" indent="0" marL="0">
                        <a:buNone/>
                      </a:pPr>
                      <a:r>
                        <a:rPr lang="en-US" sz="1050" b="1" dirty="0">
                          <a:solidFill>
                            <a:srgbClr val="FFFFFF"/>
                          </a:solidFill>
                        </a:rPr>
                        <a:t>database</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050" b="1" dirty="0">
                          <a:solidFill>
                            <a:srgbClr val="FFFFFF"/>
                          </a:solidFill>
                        </a:rPr>
                        <a:t>length-minimizing</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050" b="1" dirty="0">
                          <a:solidFill>
                            <a:srgbClr val="FFFFFF"/>
                          </a:solidFill>
                        </a:rPr>
                        <a:t>cost-aware</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384048">
                <a:tc>
                  <a:txBody>
                    <a:bodyPr/>
                    <a:lstStyle/>
                    <a:p>
                      <a:pPr algn="l" indent="0" marL="0">
                        <a:buNone/>
                      </a:pPr>
                      <a:r>
                        <a:rPr lang="en-US" sz="1050" dirty="0">
                          <a:solidFill>
                            <a:srgbClr val="2A3648"/>
                          </a:solidFill>
                        </a:rPr>
                        <a:t>default (3-wire depth 5, 4-wire depth 4)</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160.9 (12.8)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A3648"/>
                          </a:solidFill>
                        </a:rPr>
                        <a:t>160.5 (13.4)</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84048">
                <a:tc>
                  <a:txBody>
                    <a:bodyPr/>
                    <a:lstStyle/>
                    <a:p>
                      <a:pPr algn="l" indent="0" marL="0">
                        <a:buNone/>
                      </a:pPr>
                      <a:r>
                        <a:rPr lang="en-US" sz="1050" dirty="0">
                          <a:solidFill>
                            <a:srgbClr val="2A3648"/>
                          </a:solidFill>
                        </a:rPr>
                        <a:t>deeper (3-wire depth 6, 4-wire depth 4)</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157.3 (12.8)</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050" dirty="0">
                          <a:solidFill>
                            <a:srgbClr val="2A3648"/>
                          </a:solidFill>
                        </a:rPr>
                        <a:t>157.2 (12.6)</a:t>
                      </a:r>
                      <a:endParaRPr lang="en-US" sz="105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bl>
          </a:graphicData>
        </a:graphic>
      </p:graphicFrame>
      <p:sp>
        <p:nvSpPr>
          <p:cNvPr id="9" name="Text 5"/>
          <p:cNvSpPr/>
          <p:nvPr/>
        </p:nvSpPr>
        <p:spPr>
          <a:xfrm>
            <a:off x="548640" y="5394960"/>
            <a:ext cx="11094415" cy="457200"/>
          </a:xfrm>
          <a:prstGeom prst="rect">
            <a:avLst/>
          </a:prstGeom>
          <a:noFill/>
          <a:ln/>
        </p:spPr>
        <p:txBody>
          <a:bodyPr wrap="square" lIns="0" tIns="0" rIns="0" bIns="0" rtlCol="0" anchor="t"/>
          <a:lstStyle/>
          <a:p>
            <a:pPr algn="l" indent="0" marL="0">
              <a:buNone/>
            </a:pPr>
            <a:r>
              <a:rPr lang="en-US" sz="1000" i="1" dirty="0">
                <a:solidFill>
                  <a:srgbClr val="5B6B82"/>
                </a:solidFill>
                <a:latin typeface="Calibri" pitchFamily="34" charset="0"/>
                <a:ea typeface="Calibri" pitchFamily="34" charset="-122"/>
                <a:cs typeface="Calibri" pitchFamily="34" charset="-120"/>
              </a:rPr>
              <a:t>~2% narrowing for a full extra level of depth — depth alone is not the bottleneck.</a:t>
            </a:r>
            <a:endParaRPr lang="en-US" sz="1000" dirty="0"/>
          </a:p>
        </p:txBody>
      </p:sp>
      <p:sp>
        <p:nvSpPr>
          <p:cNvPr id="10" name="Text 6"/>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1" name="Text 7"/>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 · DIAGNOSTICS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The Deepest Test — and an Engineering Discovery</a:t>
            </a:r>
            <a:endParaRPr lang="en-US" sz="2900" dirty="0"/>
          </a:p>
        </p:txBody>
      </p:sp>
      <p:sp>
        <p:nvSpPr>
          <p:cNvPr id="4" name="Text 2"/>
          <p:cNvSpPr/>
          <p:nvPr/>
        </p:nvSpPr>
        <p:spPr>
          <a:xfrm>
            <a:off x="548640" y="1572768"/>
            <a:ext cx="11094415" cy="1554480"/>
          </a:xfrm>
          <a:prstGeom prst="rect">
            <a:avLst/>
          </a:prstGeom>
          <a:noFill/>
          <a:ln/>
        </p:spPr>
        <p:txBody>
          <a:bodyPr wrap="square" rtlCol="0" anchor="t"/>
          <a:lstStyle/>
          <a:p>
            <a:pPr marL="177800" indent="-177800">
              <a:lnSpc>
                <a:spcPct val="112000"/>
              </a:lnSpc>
              <a:spcAft>
                <a:spcPts val="800"/>
              </a:spcAft>
              <a:buSzPct val="100000"/>
              <a:buChar char="▪"/>
            </a:pPr>
            <a:r>
              <a:rPr lang="en-US" sz="1250" dirty="0">
                <a:solidFill>
                  <a:srgbClr val="2A3648"/>
                </a:solidFill>
                <a:latin typeface="Calibri" pitchFamily="34" charset="0"/>
                <a:ea typeface="Calibri" pitchFamily="34" charset="-122"/>
                <a:cs typeface="Calibri" pitchFamily="34" charset="-120"/>
              </a:rPr>
              <a:t>One asymmetry stood out: every NISQ configuration capped the four-wire graph at depth 4, even though evaluation circuits are exactly four qubits wide — a full-register block can only ever be reduced by that graph.</a:t>
            </a:r>
            <a:endParaRPr lang="en-US" sz="1250" dirty="0"/>
          </a:p>
          <a:p>
            <a:pPr marL="177800" indent="-177800">
              <a:lnSpc>
                <a:spcPct val="112000"/>
              </a:lnSpc>
              <a:spcAft>
                <a:spcPts val="800"/>
              </a:spcAft>
              <a:buSzPct val="100000"/>
              <a:buChar char="▪"/>
            </a:pPr>
            <a:r>
              <a:rPr lang="en-US" sz="1250" dirty="0">
                <a:solidFill>
                  <a:srgbClr val="2A3648"/>
                </a:solidFill>
                <a:latin typeface="Calibri" pitchFamily="34" charset="0"/>
                <a:ea typeface="Calibri" pitchFamily="34" charset="-122"/>
                <a:cs typeface="Calibri" pitchFamily="34" charset="-120"/>
              </a:rPr>
              <a:t>A depth-5, four-wire graph was built specifically to test this: 1,912,349 nodes, up from 167,449 at depth 4 (11.4×).</a:t>
            </a:r>
            <a:endParaRPr lang="en-US" sz="1250" dirty="0"/>
          </a:p>
        </p:txBody>
      </p:sp>
      <p:sp>
        <p:nvSpPr>
          <p:cNvPr id="5" name="Shape 3"/>
          <p:cNvSpPr/>
          <p:nvPr/>
        </p:nvSpPr>
        <p:spPr>
          <a:xfrm>
            <a:off x="548640" y="2880360"/>
            <a:ext cx="11094415" cy="1417320"/>
          </a:xfrm>
          <a:prstGeom prst="roundRect">
            <a:avLst>
              <a:gd name="adj" fmla="val 5161"/>
            </a:avLst>
          </a:prstGeom>
          <a:solidFill>
            <a:srgbClr val="F1DCD5"/>
          </a:solidFill>
          <a:ln w="12700">
            <a:solidFill>
              <a:srgbClr val="D7E0EA"/>
            </a:solidFill>
            <a:prstDash val="solid"/>
          </a:ln>
        </p:spPr>
      </p:sp>
      <p:sp>
        <p:nvSpPr>
          <p:cNvPr id="6" name="Text 4"/>
          <p:cNvSpPr/>
          <p:nvPr/>
        </p:nvSpPr>
        <p:spPr>
          <a:xfrm>
            <a:off x="822960" y="3017520"/>
            <a:ext cx="10545775" cy="320040"/>
          </a:xfrm>
          <a:prstGeom prst="rect">
            <a:avLst/>
          </a:prstGeom>
          <a:noFill/>
          <a:ln/>
        </p:spPr>
        <p:txBody>
          <a:bodyPr wrap="square" lIns="0" tIns="0" rIns="0" bIns="0" rtlCol="0" anchor="ctr"/>
          <a:lstStyle/>
          <a:p>
            <a:pPr indent="0" marL="0">
              <a:buNone/>
            </a:pPr>
            <a:r>
              <a:rPr lang="en-US" sz="1350" b="1" dirty="0">
                <a:solidFill>
                  <a:srgbClr val="9C4A34"/>
                </a:solidFill>
                <a:latin typeface="Cambria" pitchFamily="34" charset="0"/>
                <a:ea typeface="Cambria" pitchFamily="34" charset="-122"/>
                <a:cs typeface="Cambria" pitchFamily="34" charset="-120"/>
              </a:rPr>
              <a:t>Benchmarking it exposed a second, purely engineering, defect:</a:t>
            </a:r>
            <a:endParaRPr lang="en-US" sz="1350" dirty="0"/>
          </a:p>
        </p:txBody>
      </p:sp>
      <p:sp>
        <p:nvSpPr>
          <p:cNvPr id="7" name="Text 5"/>
          <p:cNvSpPr/>
          <p:nvPr/>
        </p:nvSpPr>
        <p:spPr>
          <a:xfrm>
            <a:off x="822960" y="3364992"/>
            <a:ext cx="10545775" cy="4389120"/>
          </a:xfrm>
          <a:prstGeom prst="rect">
            <a:avLst/>
          </a:prstGeom>
          <a:noFill/>
          <a:ln/>
        </p:spPr>
        <p:txBody>
          <a:bodyPr wrap="square" rtlCol="0" anchor="t"/>
          <a:lstStyle/>
          <a:p>
            <a:pPr marL="177800" indent="-177800">
              <a:lnSpc>
                <a:spcPct val="112000"/>
              </a:lnSpc>
              <a:spcAft>
                <a:spcPts val="400"/>
              </a:spcAft>
              <a:buSzPct val="100000"/>
              <a:buChar char="▪"/>
            </a:pPr>
            <a:r>
              <a:rPr lang="en-US" sz="1100" dirty="0">
                <a:solidFill>
                  <a:srgbClr val="2A3648"/>
                </a:solidFill>
                <a:latin typeface="Calibri" pitchFamily="34" charset="0"/>
                <a:ea typeface="Calibri" pitchFamily="34" charset="-122"/>
                <a:cs typeface="Calibri" pitchFamily="34" charset="-120"/>
              </a:rPr>
              <a:t>The comparison harness distributes circuits across worker processes. The disk-backed store reloaded from disk on every individual circuit rather than once per worker — a single reload measures 154 seconds.</a:t>
            </a:r>
            <a:endParaRPr lang="en-US" sz="1100" dirty="0"/>
          </a:p>
          <a:p>
            <a:pPr marL="177800" indent="-177800">
              <a:lnSpc>
                <a:spcPct val="112000"/>
              </a:lnSpc>
              <a:spcAft>
                <a:spcPts val="400"/>
              </a:spcAft>
              <a:buSzPct val="100000"/>
              <a:buChar char="▪"/>
            </a:pPr>
            <a:r>
              <a:rPr lang="en-US" sz="1100" dirty="0">
                <a:solidFill>
                  <a:srgbClr val="2A3648"/>
                </a:solidFill>
                <a:latin typeface="Calibri" pitchFamily="34" charset="0"/>
                <a:ea typeface="Calibri" pitchFamily="34" charset="-122"/>
                <a:cs typeface="Calibri" pitchFamily="34" charset="-120"/>
              </a:rPr>
              <a:t>Across 200 per-circuit tasks, reload time alone dominated wall-clock time by roughly two orders of magnitude over the intended per-circuit search budget — silently starving the deeper graph of search time and making it look worse despite greater coverage.</a:t>
            </a:r>
            <a:endParaRPr lang="en-US" sz="1100" dirty="0"/>
          </a:p>
        </p:txBody>
      </p:sp>
      <p:sp>
        <p:nvSpPr>
          <p:cNvPr id="8" name="Text 6"/>
          <p:cNvSpPr/>
          <p:nvPr/>
        </p:nvSpPr>
        <p:spPr>
          <a:xfrm>
            <a:off x="548640" y="4480560"/>
            <a:ext cx="11094415" cy="320040"/>
          </a:xfrm>
          <a:prstGeom prst="rect">
            <a:avLst/>
          </a:prstGeom>
          <a:noFill/>
          <a:ln/>
        </p:spPr>
        <p:txBody>
          <a:bodyPr wrap="square" lIns="0" tIns="0" rIns="0" bIns="0" rtlCol="0" anchor="ctr"/>
          <a:lstStyle/>
          <a:p>
            <a:pPr indent="0" marL="0">
              <a:buNone/>
            </a:pPr>
            <a:r>
              <a:rPr lang="en-US" sz="1200" i="1" dirty="0">
                <a:solidFill>
                  <a:srgbClr val="2C5578"/>
                </a:solidFill>
                <a:latin typeface="Calibri" pitchFamily="34" charset="0"/>
                <a:ea typeface="Calibri" pitchFamily="34" charset="-122"/>
                <a:cs typeface="Calibri" pitchFamily="34" charset="-120"/>
              </a:rPr>
              <a:t>Fix: cache the loaded store once per worker process, keyed identically to the existing in-memory-backend cache.</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4892040"/>
          <a:ext cx="11094415" cy="914400"/>
        </p:xfrm>
        <a:graphic>
          <a:graphicData uri="http://schemas.openxmlformats.org/drawingml/2006/table">
            <a:tbl>
              <a:tblPr/>
              <a:tblGrid>
                <a:gridCol w="5120640"/>
                <a:gridCol w="2980944"/>
                <a:gridCol w="2990088"/>
              </a:tblGrid>
              <a:tr h="384048">
                <a:tc>
                  <a:txBody>
                    <a:bodyPr/>
                    <a:lstStyle/>
                    <a:p>
                      <a:pPr algn="ctr" indent="0" marL="0">
                        <a:buNone/>
                      </a:pPr>
                      <a:r>
                        <a:rPr lang="en-US" sz="1100" b="1" dirty="0">
                          <a:solidFill>
                            <a:srgbClr val="FFFFFF"/>
                          </a:solidFill>
                        </a:rPr>
                        <a:t>database</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length-minimizing</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c>
                  <a:txBody>
                    <a:bodyPr/>
                    <a:lstStyle/>
                    <a:p>
                      <a:pPr algn="ctr" indent="0" marL="0">
                        <a:buNone/>
                      </a:pPr>
                      <a:r>
                        <a:rPr lang="en-US" sz="1100" b="1" dirty="0">
                          <a:solidFill>
                            <a:srgbClr val="FFFFFF"/>
                          </a:solidFill>
                        </a:rPr>
                        <a:t>cost-aware</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0B1F3A"/>
                    </a:solidFill>
                  </a:tcPr>
                </a:tc>
              </a:tr>
              <a:tr h="384048">
                <a:tc>
                  <a:txBody>
                    <a:bodyPr/>
                    <a:lstStyle/>
                    <a:p>
                      <a:pPr algn="l" indent="0" marL="0">
                        <a:buNone/>
                      </a:pPr>
                      <a:r>
                        <a:rPr lang="en-US" sz="1100" dirty="0">
                          <a:solidFill>
                            <a:srgbClr val="2A3648"/>
                          </a:solidFill>
                        </a:rPr>
                        <a:t>default (4-wire depth 4)</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160.9 (12.8)</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A3648"/>
                          </a:solidFill>
                        </a:rPr>
                        <a:t>160.5 (13.4)</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FFFFF"/>
                    </a:solidFill>
                  </a:tcPr>
                </a:tc>
              </a:tr>
              <a:tr h="384048">
                <a:tc>
                  <a:txBody>
                    <a:bodyPr/>
                    <a:lstStyle/>
                    <a:p>
                      <a:pPr algn="l" indent="0" marL="0">
                        <a:buNone/>
                      </a:pPr>
                      <a:r>
                        <a:rPr lang="en-US" sz="1100" dirty="0">
                          <a:solidFill>
                            <a:srgbClr val="2A3648"/>
                          </a:solidFill>
                        </a:rPr>
                        <a:t>depth-5 four-wire graph</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2A3648"/>
                          </a:solidFill>
                        </a:rPr>
                        <a:t>160.7 (13.0)</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c>
                  <a:txBody>
                    <a:bodyPr/>
                    <a:lstStyle/>
                    <a:p>
                      <a:pPr algn="ctr" indent="0" marL="0">
                        <a:buNone/>
                      </a:pPr>
                      <a:r>
                        <a:rPr lang="en-US" sz="1100" dirty="0">
                          <a:solidFill>
                            <a:srgbClr val="2A3648"/>
                          </a:solidFill>
                        </a:rPr>
                        <a:t>161.0 (13.1)</a:t>
                      </a:r>
                      <a:endParaRPr lang="en-US" sz="1100" dirty="0"/>
                    </a:p>
                  </a:txBody>
                  <a:tcPr marL="91440" marR="91440" marT="45720" marB="45720">
                    <a:lnL w="9525" cap="flat" cmpd="sng" algn="ctr">
                      <a:solidFill>
                        <a:srgbClr val="D7E0EA"/>
                      </a:solidFill>
                      <a:prstDash val="solid"/>
                      <a:round/>
                      <a:headEnd type="none" w="med" len="med"/>
                      <a:tailEnd type="none" w="med" len="med"/>
                    </a:lnL>
                    <a:lnR w="9525" cap="flat" cmpd="sng" algn="ctr">
                      <a:solidFill>
                        <a:srgbClr val="D7E0EA"/>
                      </a:solidFill>
                      <a:prstDash val="solid"/>
                      <a:round/>
                      <a:headEnd type="none" w="med" len="med"/>
                      <a:tailEnd type="none" w="med" len="med"/>
                    </a:lnR>
                    <a:lnT w="9525" cap="flat" cmpd="sng" algn="ctr">
                      <a:solidFill>
                        <a:srgbClr val="D7E0EA"/>
                      </a:solidFill>
                      <a:prstDash val="solid"/>
                      <a:round/>
                      <a:headEnd type="none" w="med" len="med"/>
                      <a:tailEnd type="none" w="med" len="med"/>
                    </a:lnT>
                    <a:lnB w="9525" cap="flat" cmpd="sng" algn="ctr">
                      <a:solidFill>
                        <a:srgbClr val="D7E0EA"/>
                      </a:solidFill>
                      <a:prstDash val="solid"/>
                      <a:round/>
                      <a:headEnd type="none" w="med" len="med"/>
                      <a:tailEnd type="none" w="med" len="med"/>
                    </a:lnB>
                    <a:solidFill>
                      <a:srgbClr val="F4F7FB"/>
                    </a:solidFill>
                  </a:tcPr>
                </a:tc>
              </a:tr>
            </a:tbl>
          </a:graphicData>
        </a:graphic>
      </p:graphicFrame>
      <p:sp>
        <p:nvSpPr>
          <p:cNvPr id="10" name="Text 7"/>
          <p:cNvSpPr/>
          <p:nvPr/>
        </p:nvSpPr>
        <p:spPr>
          <a:xfrm>
            <a:off x="548640" y="6099048"/>
            <a:ext cx="11094415" cy="457200"/>
          </a:xfrm>
          <a:prstGeom prst="rect">
            <a:avLst/>
          </a:prstGeom>
          <a:noFill/>
          <a:ln/>
        </p:spPr>
        <p:txBody>
          <a:bodyPr wrap="square" lIns="0" tIns="0" rIns="0" bIns="0" rtlCol="0" anchor="t"/>
          <a:lstStyle/>
          <a:p>
            <a:pPr algn="l" indent="0" marL="0">
              <a:buNone/>
            </a:pPr>
            <a:r>
              <a:rPr lang="en-US" sz="1000" i="1" dirty="0">
                <a:solidFill>
                  <a:srgbClr val="5B6B82"/>
                </a:solidFill>
                <a:latin typeface="Calibri" pitchFamily="34" charset="0"/>
                <a:ea typeface="Calibri" pitchFamily="34" charset="-122"/>
                <a:cs typeface="Calibri" pitchFamily="34" charset="-120"/>
              </a:rPr>
              <a:t>Under the corrected harness, 100 circuits, 60s budget: no improvement from the deeper graph. Depth is ruled out on both wire-count axes. The caching failure mode generalizes to any local-search optimizer benchmarked against a compute graph too large for memory.</a:t>
            </a:r>
            <a:endParaRPr lang="en-US" sz="1000" dirty="0"/>
          </a:p>
        </p:txBody>
      </p:sp>
      <p:sp>
        <p:nvSpPr>
          <p:cNvPr id="11" name="Text 8"/>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2" name="Text 9"/>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 · DIAGNOSTICS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 Ninth Attempt — Porting the Reference's Own Loop</a:t>
            </a:r>
            <a:endParaRPr lang="en-US" sz="2900" dirty="0"/>
          </a:p>
        </p:txBody>
      </p:sp>
      <p:sp>
        <p:nvSpPr>
          <p:cNvPr id="6" name="Text 4"/>
          <p:cNvSpPr/>
          <p:nvPr/>
        </p:nvSpPr>
        <p:spPr>
          <a:xfrm>
            <a:off x="548640" y="1572768"/>
            <a:ext cx="11094415" cy="4389120"/>
          </a:xfrm>
          <a:prstGeom prst="rect">
            <a:avLst/>
          </a:prstGeom>
          <a:noFill/>
          <a:ln/>
        </p:spPr>
        <p:txBody>
          <a:bodyPr wrap="square" rtlCol="0" anchor="t"/>
          <a:lstStyle/>
          <a:p>
            <a:pPr marL="177800" indent="-177800">
              <a:lnSpc>
                <a:spcPct val="112000"/>
              </a:lnSpc>
              <a:spcAft>
                <a:spcPts val="1000"/>
              </a:spcAft>
              <a:buSzPct val="100000"/>
              <a:buChar char="▪"/>
            </a:pPr>
            <a:r>
              <a:rPr lang="en-US" sz="1250" dirty="0">
                <a:solidFill>
                  <a:srgbClr val="2A3648"/>
                </a:solidFill>
                <a:latin typeface="Calibri" pitchFamily="34" charset="0"/>
                <a:ea typeface="Calibri" pitchFamily="34" charset="-122"/>
                <a:cs typeface="Calibri" pitchFamily="34" charset="-120"/>
              </a:rPr>
              <a:t>matlab_demo/QCOptimDemo isn't just a gate-set spec — optimCodeGMode1DComp.m is a complete, working reduction loop, and it differs from this thesis's exhaustive sweep in ways none of the eight ruled-out hypotheses tested.</a:t>
            </a:r>
            <a:endParaRPr lang="en-US" sz="1250" dirty="0"/>
          </a:p>
          <a:p>
            <a:pPr marL="177800" indent="-177800">
              <a:lnSpc>
                <a:spcPct val="112000"/>
              </a:lnSpc>
              <a:spcAft>
                <a:spcPts val="800"/>
              </a:spcAft>
              <a:buSzPct val="100000"/>
              <a:buChar char="▪"/>
            </a:pPr>
            <a:r>
              <a:rPr lang="en-US" sz="1250" dirty="0">
                <a:solidFill>
                  <a:srgbClr val="2A3648"/>
                </a:solidFill>
                <a:latin typeface="Calibri" pitchFamily="34" charset="0"/>
                <a:ea typeface="Calibri" pitchFamily="34" charset="-122"/>
                <a:cs typeface="Calibri" pitchFamily="34" charset="-120"/>
              </a:rPr>
              <a:t>Windows are rejection-sampled to ≤ 3 wires — its own database is 3-wire only; it never attempts a full 4-qubit window at all, unlike the 4-wire graph Section V built specifically to cover that case.</a:t>
            </a:r>
            <a:endParaRPr lang="en-US" sz="1250" dirty="0"/>
          </a:p>
          <a:p>
            <a:pPr marL="177800" indent="-177800">
              <a:lnSpc>
                <a:spcPct val="112000"/>
              </a:lnSpc>
              <a:spcAft>
                <a:spcPts val="800"/>
              </a:spcAft>
              <a:buSzPct val="100000"/>
              <a:buChar char="▪"/>
            </a:pPr>
            <a:r>
              <a:rPr lang="en-US" sz="1250" dirty="0">
                <a:solidFill>
                  <a:srgbClr val="2A3648"/>
                </a:solidFill>
                <a:latin typeface="Calibri" pitchFamily="34" charset="0"/>
                <a:ea typeface="Calibri" pitchFamily="34" charset="-122"/>
                <a:cs typeface="Calibri" pitchFamily="34" charset="-120"/>
              </a:rPr>
              <a:t>Window length is a single random draw up to 7, not an exhaustive try-every-length sweep. Structural collapse is far weaker — only exact adjacent-pair identity cancellation, nothing like the full single-wire collapse.</a:t>
            </a:r>
            <a:endParaRPr lang="en-US" sz="1250" dirty="0"/>
          </a:p>
          <a:p>
            <a:pPr marL="177800" indent="-177800">
              <a:lnSpc>
                <a:spcPct val="112000"/>
              </a:lnSpc>
              <a:spcAft>
                <a:spcPts val="1000"/>
              </a:spcAft>
              <a:buSzPct val="100000"/>
              <a:buChar char="▪"/>
            </a:pPr>
            <a:r>
              <a:rPr lang="en-US" sz="1250" i="1" dirty="0">
                <a:solidFill>
                  <a:srgbClr val="5B6B82"/>
                </a:solidFill>
                <a:latin typeface="Calibri" pitchFamily="34" charset="0"/>
                <a:ea typeface="Calibri" pitchFamily="34" charset="-122"/>
                <a:cs typeface="Calibri" pitchFamily="34" charset="-120"/>
              </a:rPr>
              <a:t>No MATLAB or Octave was available to run it directly, so it was ported to Python gate-for-gate against this thesis's own NISQ database.</a:t>
            </a:r>
            <a:endParaRPr lang="en-US" sz="1250" dirty="0"/>
          </a:p>
        </p:txBody>
      </p:sp>
      <p:sp>
        <p:nvSpPr>
          <p:cNvPr id="7" name="Shape 5"/>
          <p:cNvSpPr/>
          <p:nvPr/>
        </p:nvSpPr>
        <p:spPr>
          <a:xfrm>
            <a:off x="548640" y="4709160"/>
            <a:ext cx="11094415" cy="1417320"/>
          </a:xfrm>
          <a:prstGeom prst="roundRect">
            <a:avLst>
              <a:gd name="adj" fmla="val 5161"/>
            </a:avLst>
          </a:prstGeom>
          <a:solidFill>
            <a:srgbClr val="0B1F3A"/>
          </a:solidFill>
          <a:ln/>
        </p:spPr>
      </p:sp>
      <p:sp>
        <p:nvSpPr>
          <p:cNvPr id="8" name="Text 6"/>
          <p:cNvSpPr/>
          <p:nvPr/>
        </p:nvSpPr>
        <p:spPr>
          <a:xfrm>
            <a:off x="822960" y="4846320"/>
            <a:ext cx="10545775" cy="365760"/>
          </a:xfrm>
          <a:prstGeom prst="rect">
            <a:avLst/>
          </a:prstGeom>
          <a:noFill/>
          <a:ln/>
        </p:spPr>
        <p:txBody>
          <a:bodyPr wrap="square" lIns="0" tIns="0" rIns="0" bIns="0" rtlCol="0" anchor="ctr"/>
          <a:lstStyle/>
          <a:p>
            <a:pPr indent="0" marL="0">
              <a:buNone/>
            </a:pPr>
            <a:r>
              <a:rPr lang="en-US" sz="1500" b="1" dirty="0">
                <a:solidFill>
                  <a:srgbClr val="E8B94B"/>
                </a:solidFill>
                <a:latin typeface="Cambria" pitchFamily="34" charset="0"/>
                <a:ea typeface="Cambria" pitchFamily="34" charset="-122"/>
                <a:cs typeface="Cambria" pitchFamily="34" charset="-120"/>
              </a:rPr>
              <a:t>Every mechanism is weaker — but each attempt is far cheaper.</a:t>
            </a:r>
            <a:endParaRPr lang="en-US" sz="1500" dirty="0"/>
          </a:p>
        </p:txBody>
      </p:sp>
      <p:sp>
        <p:nvSpPr>
          <p:cNvPr id="9" name="Text 7"/>
          <p:cNvSpPr/>
          <p:nvPr/>
        </p:nvSpPr>
        <p:spPr>
          <a:xfrm>
            <a:off x="822960" y="5230368"/>
            <a:ext cx="10545775" cy="4389120"/>
          </a:xfrm>
          <a:prstGeom prst="rect">
            <a:avLst/>
          </a:prstGeom>
          <a:noFill/>
          <a:ln/>
        </p:spPr>
        <p:txBody>
          <a:bodyPr wrap="square" rtlCol="0" anchor="t"/>
          <a:lstStyle/>
          <a:p>
            <a:pPr marL="177800" indent="-177800">
              <a:lnSpc>
                <a:spcPct val="112000"/>
              </a:lnSpc>
              <a:spcAft>
                <a:spcPts val="1000"/>
              </a:spcAft>
              <a:buSzPct val="100000"/>
              <a:buChar char="▪"/>
            </a:pPr>
            <a:r>
              <a:rPr lang="en-US" sz="1200" dirty="0">
                <a:solidFill>
                  <a:srgbClr val="DCE6F3"/>
                </a:solidFill>
                <a:latin typeface="Calibri" pitchFamily="34" charset="0"/>
                <a:ea typeface="Calibri" pitchFamily="34" charset="-122"/>
                <a:cs typeface="Calibri" pitchFamily="34" charset="-120"/>
              </a:rPr>
              <a:t>100,000+ raw attempts fit in the same budget where the exhaustive sweep completes 15–90 full passes. Screening the split between the two loops found the two extremes dominate every mixture in between — spending the whole budget on the ported loop wins outright.</a:t>
            </a:r>
            <a:endParaRPr lang="en-US" sz="1200" dirty="0"/>
          </a:p>
        </p:txBody>
      </p:sp>
      <p:sp>
        <p:nvSpPr>
          <p:cNvPr id="10" name="Text 8"/>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1" name="Text 9"/>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37</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310896" cy="310896"/>
          </a:xfrm>
          <a:prstGeom prst="ellipse">
            <a:avLst/>
          </a:prstGeom>
          <a:solidFill>
            <a:srgbClr val="9C6510"/>
          </a:solidFill>
          <a:ln/>
        </p:spPr>
      </p:sp>
      <p:sp>
        <p:nvSpPr>
          <p:cNvPr id="3" name="Text 1"/>
          <p:cNvSpPr/>
          <p:nvPr/>
        </p:nvSpPr>
        <p:spPr>
          <a:xfrm>
            <a:off x="548640" y="4572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 name="Text 2"/>
          <p:cNvSpPr/>
          <p:nvPr/>
        </p:nvSpPr>
        <p:spPr>
          <a:xfrm>
            <a:off x="987552"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 · DIAGNOSTICS</a:t>
            </a:r>
            <a:endParaRPr lang="en-US" sz="1250" dirty="0"/>
          </a:p>
        </p:txBody>
      </p:sp>
      <p:sp>
        <p:nvSpPr>
          <p:cNvPr id="5" name="Text 3"/>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 Ninth Attempt — a Real, Modest Win</a:t>
            </a:r>
            <a:endParaRPr lang="en-US" sz="2900" dirty="0"/>
          </a:p>
        </p:txBody>
      </p:sp>
      <p:pic>
        <p:nvPicPr>
          <p:cNvPr id="6" name="Image 0" descr="C:/Users/kapoo/Downloads/QCR-Repro/figures/figure_matlab_burst_nisq_cost.png">    </p:cNvPr>
          <p:cNvPicPr>
            <a:picLocks noChangeAspect="1"/>
          </p:cNvPicPr>
          <p:nvPr/>
        </p:nvPicPr>
        <p:blipFill>
          <a:blip r:embed="rId1"/>
          <a:stretch>
            <a:fillRect/>
          </a:stretch>
        </p:blipFill>
        <p:spPr>
          <a:xfrm>
            <a:off x="2166785" y="1572768"/>
            <a:ext cx="7858125" cy="3429000"/>
          </a:xfrm>
          <a:prstGeom prst="rect">
            <a:avLst/>
          </a:prstGeom>
        </p:spPr>
      </p:pic>
      <p:sp>
        <p:nvSpPr>
          <p:cNvPr id="7" name="Shape 4"/>
          <p:cNvSpPr/>
          <p:nvPr/>
        </p:nvSpPr>
        <p:spPr>
          <a:xfrm>
            <a:off x="2029625" y="1435608"/>
            <a:ext cx="8132445" cy="3703320"/>
          </a:xfrm>
          <a:prstGeom prst="roundRect">
            <a:avLst>
              <a:gd name="adj" fmla="val 1975"/>
            </a:avLst>
          </a:prstGeom>
          <a:solidFill>
            <a:srgbClr val="FFFFFF"/>
          </a:solidFill>
          <a:ln w="12700">
            <a:solidFill>
              <a:srgbClr val="D7E0EA"/>
            </a:solidFill>
            <a:prstDash val="solid"/>
          </a:ln>
        </p:spPr>
      </p:sp>
      <p:pic>
        <p:nvPicPr>
          <p:cNvPr id="8" name="Image 1" descr="C:/Users/kapoo/Downloads/QCR-Repro/figures/figure_matlab_burst_nisq_cost.png">    </p:cNvPr>
          <p:cNvPicPr>
            <a:picLocks noChangeAspect="1"/>
          </p:cNvPicPr>
          <p:nvPr/>
        </p:nvPicPr>
        <p:blipFill>
          <a:blip r:embed="rId2"/>
          <a:stretch>
            <a:fillRect/>
          </a:stretch>
        </p:blipFill>
        <p:spPr>
          <a:xfrm>
            <a:off x="2166785" y="1572768"/>
            <a:ext cx="7858125" cy="3429000"/>
          </a:xfrm>
          <a:prstGeom prst="rect">
            <a:avLst/>
          </a:prstGeom>
        </p:spPr>
      </p:pic>
      <p:sp>
        <p:nvSpPr>
          <p:cNvPr id="9" name="Shape 5"/>
          <p:cNvSpPr/>
          <p:nvPr/>
        </p:nvSpPr>
        <p:spPr>
          <a:xfrm>
            <a:off x="548640" y="5230368"/>
            <a:ext cx="3515258" cy="1051560"/>
          </a:xfrm>
          <a:prstGeom prst="roundRect">
            <a:avLst>
              <a:gd name="adj" fmla="val 6957"/>
            </a:avLst>
          </a:prstGeom>
          <a:solidFill>
            <a:srgbClr val="EAF0F7"/>
          </a:solidFill>
          <a:ln w="12700">
            <a:solidFill>
              <a:srgbClr val="D7E0EA"/>
            </a:solidFill>
            <a:prstDash val="solid"/>
          </a:ln>
        </p:spPr>
      </p:sp>
      <p:sp>
        <p:nvSpPr>
          <p:cNvPr id="10" name="Text 6"/>
          <p:cNvSpPr/>
          <p:nvPr/>
        </p:nvSpPr>
        <p:spPr>
          <a:xfrm>
            <a:off x="621792" y="5321808"/>
            <a:ext cx="3368954" cy="609905"/>
          </a:xfrm>
          <a:prstGeom prst="rect">
            <a:avLst/>
          </a:prstGeom>
          <a:noFill/>
          <a:ln/>
        </p:spPr>
        <p:txBody>
          <a:bodyPr wrap="square" lIns="0" tIns="0" rIns="0" bIns="0" rtlCol="0" anchor="b"/>
          <a:lstStyle/>
          <a:p>
            <a:pPr algn="ctr" indent="0" marL="0">
              <a:buNone/>
            </a:pPr>
            <a:r>
              <a:rPr lang="en-US" sz="2600" b="1" dirty="0">
                <a:solidFill>
                  <a:srgbClr val="3E7455"/>
                </a:solidFill>
                <a:latin typeface="Cambria" pitchFamily="34" charset="0"/>
                <a:ea typeface="Cambria" pitchFamily="34" charset="-122"/>
                <a:cs typeface="Cambria" pitchFamily="34" charset="-120"/>
              </a:rPr>
              <a:t>−3.3%</a:t>
            </a:r>
            <a:endParaRPr lang="en-US" sz="2600" dirty="0"/>
          </a:p>
        </p:txBody>
      </p:sp>
      <p:sp>
        <p:nvSpPr>
          <p:cNvPr id="11" name="Text 7"/>
          <p:cNvSpPr/>
          <p:nvPr/>
        </p:nvSpPr>
        <p:spPr>
          <a:xfrm>
            <a:off x="621792" y="5895137"/>
            <a:ext cx="3368954" cy="399593"/>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160.5 → 155.1 gates, same 100 seeds, same hybrid setting</a:t>
            </a:r>
            <a:endParaRPr lang="en-US" sz="1050" dirty="0"/>
          </a:p>
        </p:txBody>
      </p:sp>
      <p:sp>
        <p:nvSpPr>
          <p:cNvPr id="12" name="Shape 8"/>
          <p:cNvSpPr/>
          <p:nvPr/>
        </p:nvSpPr>
        <p:spPr>
          <a:xfrm>
            <a:off x="4338218" y="5230368"/>
            <a:ext cx="3515258" cy="1051560"/>
          </a:xfrm>
          <a:prstGeom prst="roundRect">
            <a:avLst>
              <a:gd name="adj" fmla="val 6957"/>
            </a:avLst>
          </a:prstGeom>
          <a:solidFill>
            <a:srgbClr val="EAF0F7"/>
          </a:solidFill>
          <a:ln w="12700">
            <a:solidFill>
              <a:srgbClr val="D7E0EA"/>
            </a:solidFill>
            <a:prstDash val="solid"/>
          </a:ln>
        </p:spPr>
      </p:sp>
      <p:sp>
        <p:nvSpPr>
          <p:cNvPr id="13" name="Text 9"/>
          <p:cNvSpPr/>
          <p:nvPr/>
        </p:nvSpPr>
        <p:spPr>
          <a:xfrm>
            <a:off x="4411370" y="5321808"/>
            <a:ext cx="3368954" cy="609905"/>
          </a:xfrm>
          <a:prstGeom prst="rect">
            <a:avLst/>
          </a:prstGeom>
          <a:noFill/>
          <a:ln/>
        </p:spPr>
        <p:txBody>
          <a:bodyPr wrap="square" lIns="0" tIns="0" rIns="0" bIns="0" rtlCol="0" anchor="b"/>
          <a:lstStyle/>
          <a:p>
            <a:pPr algn="ctr" indent="0" marL="0">
              <a:buNone/>
            </a:pPr>
            <a:r>
              <a:rPr lang="en-US" sz="2000" b="1" dirty="0">
                <a:solidFill>
                  <a:srgbClr val="9C6510"/>
                </a:solidFill>
                <a:latin typeface="Cambria" pitchFamily="34" charset="0"/>
                <a:ea typeface="Cambria" pitchFamily="34" charset="-122"/>
                <a:cs typeface="Cambria" pitchFamily="34" charset="-120"/>
              </a:rPr>
              <a:t>p = 9×10⁻²²</a:t>
            </a:r>
            <a:endParaRPr lang="en-US" sz="2000" dirty="0"/>
          </a:p>
        </p:txBody>
      </p:sp>
      <p:sp>
        <p:nvSpPr>
          <p:cNvPr id="14" name="Text 10"/>
          <p:cNvSpPr/>
          <p:nvPr/>
        </p:nvSpPr>
        <p:spPr>
          <a:xfrm>
            <a:off x="4411370" y="5895137"/>
            <a:ext cx="3368954" cy="399593"/>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paired t-test, n=100, d=−1.23 — wins outright on 88/100 seeds</a:t>
            </a:r>
            <a:endParaRPr lang="en-US" sz="1050" dirty="0"/>
          </a:p>
        </p:txBody>
      </p:sp>
      <p:sp>
        <p:nvSpPr>
          <p:cNvPr id="15" name="Shape 11"/>
          <p:cNvSpPr/>
          <p:nvPr/>
        </p:nvSpPr>
        <p:spPr>
          <a:xfrm>
            <a:off x="8127797" y="5230368"/>
            <a:ext cx="3515258" cy="1051560"/>
          </a:xfrm>
          <a:prstGeom prst="roundRect">
            <a:avLst>
              <a:gd name="adj" fmla="val 6957"/>
            </a:avLst>
          </a:prstGeom>
          <a:solidFill>
            <a:srgbClr val="EAF0F7"/>
          </a:solidFill>
          <a:ln w="12700">
            <a:solidFill>
              <a:srgbClr val="D7E0EA"/>
            </a:solidFill>
            <a:prstDash val="solid"/>
          </a:ln>
        </p:spPr>
      </p:sp>
      <p:sp>
        <p:nvSpPr>
          <p:cNvPr id="16" name="Text 12"/>
          <p:cNvSpPr/>
          <p:nvPr/>
        </p:nvSpPr>
        <p:spPr>
          <a:xfrm>
            <a:off x="8200949" y="5321808"/>
            <a:ext cx="3368954" cy="609905"/>
          </a:xfrm>
          <a:prstGeom prst="rect">
            <a:avLst/>
          </a:prstGeom>
          <a:noFill/>
          <a:ln/>
        </p:spPr>
        <p:txBody>
          <a:bodyPr wrap="square" lIns="0" tIns="0" rIns="0" bIns="0" rtlCol="0" anchor="b"/>
          <a:lstStyle/>
          <a:p>
            <a:pPr algn="ctr" indent="0" marL="0">
              <a:buNone/>
            </a:pPr>
            <a:r>
              <a:rPr lang="en-US" sz="2000" b="1" dirty="0">
                <a:solidFill>
                  <a:srgbClr val="9C4A34"/>
                </a:solidFill>
                <a:latin typeface="Cambria" pitchFamily="34" charset="0"/>
                <a:ea typeface="Cambria" pitchFamily="34" charset="-122"/>
                <a:cs typeface="Cambria" pitchFamily="34" charset="-120"/>
              </a:rPr>
              <a:t>155.1 vs 107</a:t>
            </a:r>
            <a:endParaRPr lang="en-US" sz="2000" dirty="0"/>
          </a:p>
        </p:txBody>
      </p:sp>
      <p:sp>
        <p:nvSpPr>
          <p:cNvPr id="17" name="Text 13"/>
          <p:cNvSpPr/>
          <p:nvPr/>
        </p:nvSpPr>
        <p:spPr>
          <a:xfrm>
            <a:off x="8200949" y="5895137"/>
            <a:ext cx="3368954" cy="399593"/>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still a real, open 45% gap — a win layered on it, not a fix for it</a:t>
            </a:r>
            <a:endParaRPr lang="en-US" sz="1050" dirty="0"/>
          </a:p>
        </p:txBody>
      </p:sp>
      <p:sp>
        <p:nvSpPr>
          <p:cNvPr id="18" name="Text 14"/>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9" name="Text 15"/>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38</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 · DIAGNOSTICS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A Boundary Case — Mixed Clifford / Non-Clifford Ion Trap</a:t>
            </a:r>
            <a:endParaRPr lang="en-US" sz="2900" dirty="0"/>
          </a:p>
        </p:txBody>
      </p:sp>
      <p:sp>
        <p:nvSpPr>
          <p:cNvPr id="4" name="Text 2"/>
          <p:cNvSpPr/>
          <p:nvPr/>
        </p:nvSpPr>
        <p:spPr>
          <a:xfrm>
            <a:off x="548640" y="1572768"/>
            <a:ext cx="11094415" cy="914400"/>
          </a:xfrm>
          <a:prstGeom prst="rect">
            <a:avLst/>
          </a:prstGeom>
          <a:noFill/>
          <a:ln/>
        </p:spPr>
        <p:txBody>
          <a:bodyPr wrap="square" rtlCol="0" anchor="t"/>
          <a:lstStyle/>
          <a:p>
            <a:pPr marL="177800" indent="-177800">
              <a:lnSpc>
                <a:spcPct val="112000"/>
              </a:lnSpc>
              <a:spcAft>
                <a:spcPts val="1000"/>
              </a:spcAft>
              <a:buSzPct val="100000"/>
              <a:buChar char="▪"/>
            </a:pPr>
            <a:r>
              <a:rPr lang="en-US" sz="1300" dirty="0">
                <a:solidFill>
                  <a:srgbClr val="2A3648"/>
                </a:solidFill>
                <a:latin typeface="Calibri" pitchFamily="34" charset="0"/>
                <a:ea typeface="Calibri" pitchFamily="34" charset="-122"/>
                <a:cs typeface="Calibri" pitchFamily="34" charset="-120"/>
              </a:rPr>
              <a:t>Stress test: does the ion-trap advantage survive a richer, more transpiler-realistic pool? RX/RY/RZ at ±π/2, ±π/4, ±π/8, with RXX fixed at π/2 — mixing Clifford and non-Clifford rotations in one pool.</a:t>
            </a:r>
            <a:endParaRPr lang="en-US" sz="1300" dirty="0"/>
          </a:p>
        </p:txBody>
      </p:sp>
      <p:sp>
        <p:nvSpPr>
          <p:cNvPr id="5" name="Shape 3"/>
          <p:cNvSpPr/>
          <p:nvPr/>
        </p:nvSpPr>
        <p:spPr>
          <a:xfrm>
            <a:off x="548640" y="2331720"/>
            <a:ext cx="3515258" cy="1188720"/>
          </a:xfrm>
          <a:prstGeom prst="roundRect">
            <a:avLst>
              <a:gd name="adj" fmla="val 6154"/>
            </a:avLst>
          </a:prstGeom>
          <a:solidFill>
            <a:srgbClr val="EAF0F7"/>
          </a:solidFill>
          <a:ln w="12700">
            <a:solidFill>
              <a:srgbClr val="D7E0EA"/>
            </a:solidFill>
            <a:prstDash val="solid"/>
          </a:ln>
        </p:spPr>
      </p:sp>
      <p:sp>
        <p:nvSpPr>
          <p:cNvPr id="6" name="Text 4"/>
          <p:cNvSpPr/>
          <p:nvPr/>
        </p:nvSpPr>
        <p:spPr>
          <a:xfrm>
            <a:off x="621792" y="2423160"/>
            <a:ext cx="3368954" cy="689458"/>
          </a:xfrm>
          <a:prstGeom prst="rect">
            <a:avLst/>
          </a:prstGeom>
          <a:noFill/>
          <a:ln/>
        </p:spPr>
        <p:txBody>
          <a:bodyPr wrap="square" lIns="0" tIns="0" rIns="0" bIns="0" rtlCol="0" anchor="b"/>
          <a:lstStyle/>
          <a:p>
            <a:pPr algn="ctr" indent="0" marL="0">
              <a:buNone/>
            </a:pPr>
            <a:r>
              <a:rPr lang="en-US" sz="2000" b="1" dirty="0">
                <a:solidFill>
                  <a:srgbClr val="2C5578"/>
                </a:solidFill>
                <a:latin typeface="Cambria" pitchFamily="34" charset="0"/>
                <a:ea typeface="Cambria" pitchFamily="34" charset="-122"/>
                <a:cs typeface="Cambria" pitchFamily="34" charset="-120"/>
              </a:rPr>
              <a:t>18/37/57/78</a:t>
            </a:r>
            <a:endParaRPr lang="en-US" sz="2000" dirty="0"/>
          </a:p>
        </p:txBody>
      </p:sp>
      <p:sp>
        <p:nvSpPr>
          <p:cNvPr id="7" name="Text 5"/>
          <p:cNvSpPr/>
          <p:nvPr/>
        </p:nvSpPr>
        <p:spPr>
          <a:xfrm>
            <a:off x="621792" y="3076042"/>
            <a:ext cx="3368954" cy="451714"/>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pool tokens by wire count — vs. plain ion-trap's 6/13/21/30</a:t>
            </a:r>
            <a:endParaRPr lang="en-US" sz="1050" dirty="0"/>
          </a:p>
        </p:txBody>
      </p:sp>
      <p:sp>
        <p:nvSpPr>
          <p:cNvPr id="8" name="Shape 6"/>
          <p:cNvSpPr/>
          <p:nvPr/>
        </p:nvSpPr>
        <p:spPr>
          <a:xfrm>
            <a:off x="4338218" y="2331720"/>
            <a:ext cx="3515258" cy="1188720"/>
          </a:xfrm>
          <a:prstGeom prst="roundRect">
            <a:avLst>
              <a:gd name="adj" fmla="val 6154"/>
            </a:avLst>
          </a:prstGeom>
          <a:solidFill>
            <a:srgbClr val="EAF0F7"/>
          </a:solidFill>
          <a:ln w="12700">
            <a:solidFill>
              <a:srgbClr val="D7E0EA"/>
            </a:solidFill>
            <a:prstDash val="solid"/>
          </a:ln>
        </p:spPr>
      </p:sp>
      <p:sp>
        <p:nvSpPr>
          <p:cNvPr id="9" name="Text 7"/>
          <p:cNvSpPr/>
          <p:nvPr/>
        </p:nvSpPr>
        <p:spPr>
          <a:xfrm>
            <a:off x="4411370" y="2423160"/>
            <a:ext cx="3368954" cy="689458"/>
          </a:xfrm>
          <a:prstGeom prst="rect">
            <a:avLst/>
          </a:prstGeom>
          <a:noFill/>
          <a:ln/>
        </p:spPr>
        <p:txBody>
          <a:bodyPr wrap="square" lIns="0" tIns="0" rIns="0" bIns="0" rtlCol="0" anchor="b"/>
          <a:lstStyle/>
          <a:p>
            <a:pPr algn="ctr" indent="0" marL="0">
              <a:buNone/>
            </a:pPr>
            <a:r>
              <a:rPr lang="en-US" sz="2600" b="1" dirty="0">
                <a:solidFill>
                  <a:srgbClr val="9C4A34"/>
                </a:solidFill>
                <a:latin typeface="Cambria" pitchFamily="34" charset="0"/>
                <a:ea typeface="Cambria" pitchFamily="34" charset="-122"/>
                <a:cs typeface="Cambria" pitchFamily="34" charset="-120"/>
              </a:rPr>
              <a:t>47×</a:t>
            </a:r>
            <a:endParaRPr lang="en-US" sz="2600" dirty="0"/>
          </a:p>
        </p:txBody>
      </p:sp>
      <p:sp>
        <p:nvSpPr>
          <p:cNvPr id="10" name="Text 8"/>
          <p:cNvSpPr/>
          <p:nvPr/>
        </p:nvSpPr>
        <p:spPr>
          <a:xfrm>
            <a:off x="4411370" y="3076042"/>
            <a:ext cx="3368954" cy="451714"/>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one-wire node-count jump, depth 6 → 8 (545K → 25.6M)</a:t>
            </a:r>
            <a:endParaRPr lang="en-US" sz="1050" dirty="0"/>
          </a:p>
        </p:txBody>
      </p:sp>
      <p:sp>
        <p:nvSpPr>
          <p:cNvPr id="11" name="Shape 9"/>
          <p:cNvSpPr/>
          <p:nvPr/>
        </p:nvSpPr>
        <p:spPr>
          <a:xfrm>
            <a:off x="8127797" y="2331720"/>
            <a:ext cx="3515258" cy="1188720"/>
          </a:xfrm>
          <a:prstGeom prst="roundRect">
            <a:avLst>
              <a:gd name="adj" fmla="val 6154"/>
            </a:avLst>
          </a:prstGeom>
          <a:solidFill>
            <a:srgbClr val="EAF0F7"/>
          </a:solidFill>
          <a:ln w="12700">
            <a:solidFill>
              <a:srgbClr val="D7E0EA"/>
            </a:solidFill>
            <a:prstDash val="solid"/>
          </a:ln>
        </p:spPr>
      </p:sp>
      <p:sp>
        <p:nvSpPr>
          <p:cNvPr id="12" name="Text 10"/>
          <p:cNvSpPr/>
          <p:nvPr/>
        </p:nvSpPr>
        <p:spPr>
          <a:xfrm>
            <a:off x="8200949" y="2423160"/>
            <a:ext cx="3368954" cy="689458"/>
          </a:xfrm>
          <a:prstGeom prst="rect">
            <a:avLst/>
          </a:prstGeom>
          <a:noFill/>
          <a:ln/>
        </p:spPr>
        <p:txBody>
          <a:bodyPr wrap="square" lIns="0" tIns="0" rIns="0" bIns="0" rtlCol="0" anchor="b"/>
          <a:lstStyle/>
          <a:p>
            <a:pPr algn="ctr" indent="0" marL="0">
              <a:buNone/>
            </a:pPr>
            <a:r>
              <a:rPr lang="en-US" sz="2000" b="1" dirty="0">
                <a:solidFill>
                  <a:srgbClr val="2C5578"/>
                </a:solidFill>
                <a:latin typeface="Cambria" pitchFamily="34" charset="0"/>
                <a:ea typeface="Cambria" pitchFamily="34" charset="-122"/>
                <a:cs typeface="Cambria" pitchFamily="34" charset="-120"/>
              </a:rPr>
              <a:t>6/4/4/3</a:t>
            </a:r>
            <a:endParaRPr lang="en-US" sz="2000" dirty="0"/>
          </a:p>
        </p:txBody>
      </p:sp>
      <p:sp>
        <p:nvSpPr>
          <p:cNvPr id="13" name="Text 11"/>
          <p:cNvSpPr/>
          <p:nvPr/>
        </p:nvSpPr>
        <p:spPr>
          <a:xfrm>
            <a:off x="8200949" y="3076042"/>
            <a:ext cx="3368954" cy="451714"/>
          </a:xfrm>
          <a:prstGeom prst="rect">
            <a:avLst/>
          </a:prstGeom>
          <a:noFill/>
          <a:ln/>
        </p:spPr>
        <p:txBody>
          <a:bodyPr wrap="square" lIns="0" tIns="0" rIns="0" bIns="0" rtlCol="0" anchor="t"/>
          <a:lstStyle/>
          <a:p>
            <a:pPr algn="ctr" indent="0" marL="0">
              <a:buNone/>
            </a:pPr>
            <a:r>
              <a:rPr lang="en-US" sz="1050" dirty="0">
                <a:solidFill>
                  <a:srgbClr val="5B6B82"/>
                </a:solidFill>
                <a:latin typeface="Calibri" pitchFamily="34" charset="0"/>
                <a:ea typeface="Calibri" pitchFamily="34" charset="-122"/>
                <a:cs typeface="Calibri" pitchFamily="34" charset="-120"/>
              </a:rPr>
              <a:t>usable depths by wire count — vs. ion-trap's 12/10/7/5</a:t>
            </a:r>
            <a:endParaRPr lang="en-US" sz="1050" dirty="0"/>
          </a:p>
        </p:txBody>
      </p:sp>
      <p:sp>
        <p:nvSpPr>
          <p:cNvPr id="14" name="Shape 12"/>
          <p:cNvSpPr/>
          <p:nvPr/>
        </p:nvSpPr>
        <p:spPr>
          <a:xfrm>
            <a:off x="548640" y="3794760"/>
            <a:ext cx="11094415" cy="2057400"/>
          </a:xfrm>
          <a:prstGeom prst="roundRect">
            <a:avLst>
              <a:gd name="adj" fmla="val 3556"/>
            </a:avLst>
          </a:prstGeom>
          <a:solidFill>
            <a:srgbClr val="F1DCD5"/>
          </a:solidFill>
          <a:ln w="12700">
            <a:solidFill>
              <a:srgbClr val="D7E0EA"/>
            </a:solidFill>
            <a:prstDash val="solid"/>
          </a:ln>
        </p:spPr>
      </p:sp>
      <p:sp>
        <p:nvSpPr>
          <p:cNvPr id="15" name="Text 13"/>
          <p:cNvSpPr/>
          <p:nvPr/>
        </p:nvSpPr>
        <p:spPr>
          <a:xfrm>
            <a:off x="822960" y="3950208"/>
            <a:ext cx="10545775" cy="365760"/>
          </a:xfrm>
          <a:prstGeom prst="rect">
            <a:avLst/>
          </a:prstGeom>
          <a:noFill/>
          <a:ln/>
        </p:spPr>
        <p:txBody>
          <a:bodyPr wrap="square" lIns="0" tIns="0" rIns="0" bIns="0" rtlCol="0" anchor="ctr"/>
          <a:lstStyle/>
          <a:p>
            <a:pPr indent="0" marL="0">
              <a:buNone/>
            </a:pPr>
            <a:r>
              <a:rPr lang="en-US" sz="1550" b="1" dirty="0">
                <a:solidFill>
                  <a:srgbClr val="9C4A34"/>
                </a:solidFill>
                <a:latin typeface="Cambria" pitchFamily="34" charset="0"/>
                <a:ea typeface="Cambria" pitchFamily="34" charset="-122"/>
                <a:cs typeface="Cambria" pitchFamily="34" charset="-120"/>
              </a:rPr>
              <a:t>At these depths, the method loses to plain Qiskit — not just to BQSKit.</a:t>
            </a:r>
            <a:endParaRPr lang="en-US" sz="1550" dirty="0"/>
          </a:p>
        </p:txBody>
      </p:sp>
      <p:sp>
        <p:nvSpPr>
          <p:cNvPr id="16" name="Text 14"/>
          <p:cNvSpPr/>
          <p:nvPr/>
        </p:nvSpPr>
        <p:spPr>
          <a:xfrm>
            <a:off x="822960" y="4343400"/>
            <a:ext cx="10545775" cy="4389120"/>
          </a:xfrm>
          <a:prstGeom prst="rect">
            <a:avLst/>
          </a:prstGeom>
          <a:noFill/>
          <a:ln/>
        </p:spPr>
        <p:txBody>
          <a:bodyPr wrap="square" rtlCol="0" anchor="t"/>
          <a:lstStyle/>
          <a:p>
            <a:pPr marL="177800" indent="-177800">
              <a:lnSpc>
                <a:spcPct val="112000"/>
              </a:lnSpc>
              <a:spcAft>
                <a:spcPts val="600"/>
              </a:spcAft>
              <a:buSzPct val="100000"/>
              <a:buChar char="▪"/>
            </a:pPr>
            <a:r>
              <a:rPr lang="en-US" sz="1150" dirty="0">
                <a:solidFill>
                  <a:srgbClr val="2A3648"/>
                </a:solidFill>
                <a:latin typeface="Calibri" pitchFamily="34" charset="0"/>
                <a:ea typeface="Calibri" pitchFamily="34" charset="-122"/>
                <a:cs typeface="Calibri" pitchFamily="34" charset="-120"/>
              </a:rPr>
              <a:t>Exploratory run (3 circuits, 4-qubit, length-300, 5s budget): 166.0 gates (length-minimizing) / 167.7 (cost-aware), against Qiskit's 115.7–119.0 across levels 1–3 — roughly 42% worse.</a:t>
            </a:r>
            <a:endParaRPr lang="en-US" sz="1150" dirty="0"/>
          </a:p>
          <a:p>
            <a:pPr marL="177800" indent="-177800">
              <a:lnSpc>
                <a:spcPct val="112000"/>
              </a:lnSpc>
              <a:spcAft>
                <a:spcPts val="600"/>
              </a:spcAft>
              <a:buSzPct val="100000"/>
              <a:buChar char="▪"/>
            </a:pPr>
            <a:r>
              <a:rPr lang="en-US" sz="1150" dirty="0">
                <a:solidFill>
                  <a:srgbClr val="2A3648"/>
                </a:solidFill>
                <a:latin typeface="Calibri" pitchFamily="34" charset="0"/>
                <a:ea typeface="Calibri" pitchFamily="34" charset="-122"/>
                <a:cs typeface="Calibri" pitchFamily="34" charset="-120"/>
              </a:rPr>
              <a:t>Every reduced circuit still verifies exactly against its input — this is a search-quality gap, not a correctness one. Directional given n = 3, but the gap is far larger than sampling noise at that size would explain.</a:t>
            </a:r>
            <a:endParaRPr lang="en-US" sz="1150" dirty="0"/>
          </a:p>
        </p:txBody>
      </p:sp>
      <p:sp>
        <p:nvSpPr>
          <p:cNvPr id="17" name="Text 15"/>
          <p:cNvSpPr/>
          <p:nvPr/>
        </p:nvSpPr>
        <p:spPr>
          <a:xfrm>
            <a:off x="548640" y="5989320"/>
            <a:ext cx="11094415" cy="457200"/>
          </a:xfrm>
          <a:prstGeom prst="rect">
            <a:avLst/>
          </a:prstGeom>
          <a:noFill/>
          <a:ln/>
        </p:spPr>
        <p:txBody>
          <a:bodyPr wrap="square" lIns="0" tIns="0" rIns="0" bIns="0" rtlCol="0" anchor="t"/>
          <a:lstStyle/>
          <a:p>
            <a:pPr algn="l" indent="0" marL="0">
              <a:buNone/>
            </a:pPr>
            <a:r>
              <a:rPr lang="en-US" sz="1050" i="1" dirty="0">
                <a:solidFill>
                  <a:srgbClr val="5B6B82"/>
                </a:solidFill>
                <a:latin typeface="Calibri" pitchFamily="34" charset="0"/>
                <a:ea typeface="Calibri" pitchFamily="34" charset="-122"/>
                <a:cs typeface="Calibri" pitchFamily="34" charset="-120"/>
              </a:rPr>
              <a:t>The technique's edge is a direct trade against pool size, not a free property: a richer pool forces shallower graphs under a fixed build budget, and a generic transpiler pays no such price.</a:t>
            </a:r>
            <a:endParaRPr lang="en-US" sz="1050" dirty="0"/>
          </a:p>
        </p:txBody>
      </p:sp>
      <p:sp>
        <p:nvSpPr>
          <p:cNvPr id="18" name="Text 16"/>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9" name="Text 17"/>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39</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2194560" y="3840480"/>
            <a:ext cx="5669280" cy="5669280"/>
          </a:xfrm>
          <a:prstGeom prst="ellipse">
            <a:avLst/>
          </a:prstGeom>
          <a:solidFill>
            <a:srgbClr val="13294C"/>
          </a:solidFill>
          <a:ln/>
        </p:spPr>
      </p:sp>
      <p:sp>
        <p:nvSpPr>
          <p:cNvPr id="3" name="Shape 1"/>
          <p:cNvSpPr/>
          <p:nvPr/>
        </p:nvSpPr>
        <p:spPr>
          <a:xfrm>
            <a:off x="548640" y="640080"/>
            <a:ext cx="457200" cy="457200"/>
          </a:xfrm>
          <a:prstGeom prst="ellipse">
            <a:avLst/>
          </a:prstGeom>
          <a:solidFill>
            <a:srgbClr val="9C6510"/>
          </a:solidFill>
          <a:ln/>
        </p:spPr>
      </p:sp>
      <p:sp>
        <p:nvSpPr>
          <p:cNvPr id="4" name="Text 2"/>
          <p:cNvSpPr/>
          <p:nvPr/>
        </p:nvSpPr>
        <p:spPr>
          <a:xfrm>
            <a:off x="548640" y="640080"/>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5" name="Text 3"/>
          <p:cNvSpPr/>
          <p:nvPr/>
        </p:nvSpPr>
        <p:spPr>
          <a:xfrm>
            <a:off x="1170432" y="640080"/>
            <a:ext cx="5486400" cy="457200"/>
          </a:xfrm>
          <a:prstGeom prst="rect">
            <a:avLst/>
          </a:prstGeom>
          <a:noFill/>
          <a:ln/>
        </p:spPr>
        <p:txBody>
          <a:bodyPr wrap="square" lIns="0" tIns="0" rIns="0" bIns="0" rtlCol="0" anchor="ctr"/>
          <a:lstStyle/>
          <a:p>
            <a:pPr indent="0" marL="0">
              <a:buNone/>
            </a:pPr>
            <a:r>
              <a:rPr lang="en-US" sz="1400" b="1" spc="300" kern="0" dirty="0">
                <a:solidFill>
                  <a:srgbClr val="E8B94B"/>
                </a:solidFill>
                <a:latin typeface="Calibri" pitchFamily="34" charset="0"/>
                <a:ea typeface="Calibri" pitchFamily="34" charset="-122"/>
                <a:cs typeface="Calibri" pitchFamily="34" charset="-120"/>
              </a:rPr>
              <a:t>SECTION VI</a:t>
            </a:r>
            <a:endParaRPr lang="en-US" sz="1400" dirty="0"/>
          </a:p>
        </p:txBody>
      </p:sp>
      <p:sp>
        <p:nvSpPr>
          <p:cNvPr id="6" name="Text 4"/>
          <p:cNvSpPr/>
          <p:nvPr/>
        </p:nvSpPr>
        <p:spPr>
          <a:xfrm>
            <a:off x="548640" y="2286000"/>
            <a:ext cx="9875520" cy="146304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Synthesis</a:t>
            </a:r>
            <a:endParaRPr lang="en-US" sz="4000" dirty="0"/>
          </a:p>
        </p:txBody>
      </p:sp>
      <p:sp>
        <p:nvSpPr>
          <p:cNvPr id="7" name="Text 5"/>
          <p:cNvSpPr/>
          <p:nvPr/>
        </p:nvSpPr>
        <p:spPr>
          <a:xfrm>
            <a:off x="548640" y="3611880"/>
            <a:ext cx="8778240" cy="822960"/>
          </a:xfrm>
          <a:prstGeom prst="rect">
            <a:avLst/>
          </a:prstGeom>
          <a:noFill/>
          <a:ln/>
        </p:spPr>
        <p:txBody>
          <a:bodyPr wrap="square" lIns="0" tIns="0" rIns="0" bIns="0" rtlCol="0" anchor="ctr"/>
          <a:lstStyle/>
          <a:p>
            <a:pPr indent="0" marL="0">
              <a:lnSpc>
                <a:spcPct val="120000"/>
              </a:lnSpc>
              <a:buNone/>
            </a:pPr>
            <a:r>
              <a:rPr lang="en-US" sz="1600" i="1" dirty="0">
                <a:solidFill>
                  <a:srgbClr val="C7D6EA"/>
                </a:solidFill>
                <a:latin typeface="Cambria" pitchFamily="34" charset="0"/>
                <a:ea typeface="Cambria" pitchFamily="34" charset="-122"/>
                <a:cs typeface="Cambria" pitchFamily="34" charset="-120"/>
              </a:rPr>
              <a:t>What this thesis establishes, what it leaves open, and where it points next.</a:t>
            </a:r>
            <a:endParaRPr lang="en-US" sz="1600" dirty="0"/>
          </a:p>
        </p:txBody>
      </p:sp>
      <p:sp>
        <p:nvSpPr>
          <p:cNvPr id="8" name="Shape 6"/>
          <p:cNvSpPr/>
          <p:nvPr/>
        </p:nvSpPr>
        <p:spPr>
          <a:xfrm>
            <a:off x="548640" y="4700016"/>
            <a:ext cx="82296" cy="82296"/>
          </a:xfrm>
          <a:prstGeom prst="ellipse">
            <a:avLst/>
          </a:prstGeom>
          <a:solidFill>
            <a:srgbClr val="E8B94B"/>
          </a:solidFill>
          <a:ln/>
        </p:spPr>
      </p:sp>
      <p:sp>
        <p:nvSpPr>
          <p:cNvPr id="9" name="Text 7"/>
          <p:cNvSpPr/>
          <p:nvPr/>
        </p:nvSpPr>
        <p:spPr>
          <a:xfrm>
            <a:off x="804672" y="456285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Contributions, restated against the published baseline</a:t>
            </a:r>
            <a:endParaRPr lang="en-US" sz="1300" dirty="0"/>
          </a:p>
        </p:txBody>
      </p:sp>
      <p:sp>
        <p:nvSpPr>
          <p:cNvPr id="10" name="Shape 8"/>
          <p:cNvSpPr/>
          <p:nvPr/>
        </p:nvSpPr>
        <p:spPr>
          <a:xfrm>
            <a:off x="548640" y="5065776"/>
            <a:ext cx="82296" cy="82296"/>
          </a:xfrm>
          <a:prstGeom prst="ellipse">
            <a:avLst/>
          </a:prstGeom>
          <a:solidFill>
            <a:srgbClr val="E8B94B"/>
          </a:solidFill>
          <a:ln/>
        </p:spPr>
      </p:sp>
      <p:sp>
        <p:nvSpPr>
          <p:cNvPr id="11" name="Text 9"/>
          <p:cNvSpPr/>
          <p:nvPr/>
        </p:nvSpPr>
        <p:spPr>
          <a:xfrm>
            <a:off x="804672" y="492861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Limitations and threats to validity</a:t>
            </a:r>
            <a:endParaRPr lang="en-US" sz="1300" dirty="0"/>
          </a:p>
        </p:txBody>
      </p:sp>
      <p:sp>
        <p:nvSpPr>
          <p:cNvPr id="12" name="Shape 10"/>
          <p:cNvSpPr/>
          <p:nvPr/>
        </p:nvSpPr>
        <p:spPr>
          <a:xfrm>
            <a:off x="548640" y="5431536"/>
            <a:ext cx="82296" cy="82296"/>
          </a:xfrm>
          <a:prstGeom prst="ellipse">
            <a:avLst/>
          </a:prstGeom>
          <a:solidFill>
            <a:srgbClr val="E8B94B"/>
          </a:solidFill>
          <a:ln/>
        </p:spPr>
      </p:sp>
      <p:sp>
        <p:nvSpPr>
          <p:cNvPr id="13" name="Text 11"/>
          <p:cNvSpPr/>
          <p:nvPr/>
        </p:nvSpPr>
        <p:spPr>
          <a:xfrm>
            <a:off x="804672" y="5294376"/>
            <a:ext cx="9601200" cy="310896"/>
          </a:xfrm>
          <a:prstGeom prst="rect">
            <a:avLst/>
          </a:prstGeom>
          <a:noFill/>
          <a:ln/>
        </p:spPr>
        <p:txBody>
          <a:bodyPr wrap="square" lIns="0" tIns="0" rIns="0" bIns="0" rtlCol="0" anchor="ctr"/>
          <a:lstStyle/>
          <a:p>
            <a:pPr indent="0" marL="0">
              <a:buNone/>
            </a:pPr>
            <a:r>
              <a:rPr lang="en-US" sz="1300" dirty="0">
                <a:solidFill>
                  <a:srgbClr val="DCE6F3"/>
                </a:solidFill>
                <a:latin typeface="Calibri" pitchFamily="34" charset="0"/>
                <a:ea typeface="Calibri" pitchFamily="34" charset="-122"/>
                <a:cs typeface="Calibri" pitchFamily="34" charset="-120"/>
              </a:rPr>
              <a:t>Conclusion and directions for future work</a:t>
            </a:r>
            <a:endParaRPr lang="en-US" sz="1300" dirty="0"/>
          </a:p>
        </p:txBody>
      </p:sp>
      <p:sp>
        <p:nvSpPr>
          <p:cNvPr id="14" name="Text 12"/>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A749A"/>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15" name="Text 13"/>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A749A"/>
                </a:solidFill>
                <a:latin typeface="Calibri" pitchFamily="34" charset="0"/>
                <a:ea typeface="Calibri" pitchFamily="34" charset="-122"/>
                <a:cs typeface="Calibri" pitchFamily="34" charset="-120"/>
              </a:rPr>
              <a:t>40</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VI · SYNTHESIS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Contributions, Restated</a:t>
            </a:r>
            <a:endParaRPr lang="en-US" sz="2900" dirty="0"/>
          </a:p>
        </p:txBody>
      </p:sp>
      <p:sp>
        <p:nvSpPr>
          <p:cNvPr id="4" name="Shape 2"/>
          <p:cNvSpPr/>
          <p:nvPr/>
        </p:nvSpPr>
        <p:spPr>
          <a:xfrm>
            <a:off x="548640" y="1572768"/>
            <a:ext cx="5410048" cy="1298448"/>
          </a:xfrm>
          <a:prstGeom prst="roundRect">
            <a:avLst>
              <a:gd name="adj" fmla="val 5634"/>
            </a:avLst>
          </a:prstGeom>
          <a:solidFill>
            <a:srgbClr val="F4F7FB"/>
          </a:solidFill>
          <a:ln w="12700">
            <a:solidFill>
              <a:srgbClr val="D7E0EA"/>
            </a:solidFill>
            <a:prstDash val="solid"/>
          </a:ln>
        </p:spPr>
      </p:sp>
      <p:sp>
        <p:nvSpPr>
          <p:cNvPr id="5" name="Shape 3"/>
          <p:cNvSpPr/>
          <p:nvPr/>
        </p:nvSpPr>
        <p:spPr>
          <a:xfrm>
            <a:off x="749808" y="1773936"/>
            <a:ext cx="164592" cy="164592"/>
          </a:xfrm>
          <a:prstGeom prst="ellipse">
            <a:avLst/>
          </a:prstGeom>
          <a:solidFill>
            <a:srgbClr val="3E7455"/>
          </a:solidFill>
          <a:ln/>
        </p:spPr>
      </p:sp>
      <p:sp>
        <p:nvSpPr>
          <p:cNvPr id="6" name="Text 4"/>
          <p:cNvSpPr/>
          <p:nvPr/>
        </p:nvSpPr>
        <p:spPr>
          <a:xfrm>
            <a:off x="1051560" y="1700784"/>
            <a:ext cx="4678528" cy="329184"/>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Exact engine</a:t>
            </a:r>
            <a:endParaRPr lang="en-US" sz="1450" dirty="0"/>
          </a:p>
        </p:txBody>
      </p:sp>
      <p:sp>
        <p:nvSpPr>
          <p:cNvPr id="7" name="Text 5"/>
          <p:cNvSpPr/>
          <p:nvPr/>
        </p:nvSpPr>
        <p:spPr>
          <a:xfrm>
            <a:off x="822960" y="2103120"/>
            <a:ext cx="4861408" cy="713232"/>
          </a:xfrm>
          <a:prstGeom prst="rect">
            <a:avLst/>
          </a:prstGeom>
          <a:noFill/>
          <a:ln/>
        </p:spPr>
        <p:txBody>
          <a:bodyPr wrap="square" lIns="0" tIns="0" rIns="0" bIns="0" rtlCol="0" anchor="ctr"/>
          <a:lstStyle/>
          <a:p>
            <a:pPr indent="0" marL="0">
              <a:lnSpc>
                <a:spcPct val="115000"/>
              </a:lnSpc>
              <a:buNone/>
            </a:pPr>
            <a:r>
              <a:rPr lang="en-US" sz="1080" dirty="0">
                <a:solidFill>
                  <a:srgbClr val="5B6B82"/>
                </a:solidFill>
                <a:latin typeface="Calibri" pitchFamily="34" charset="0"/>
                <a:ea typeface="Calibri" pitchFamily="34" charset="-122"/>
                <a:cs typeface="Calibri" pitchFamily="34" charset="-120"/>
              </a:rPr>
              <a:t>A bit-exact signed-symplectic key replaces numerical tolerance for the Clifford pool — correctness by construction.</a:t>
            </a:r>
            <a:endParaRPr lang="en-US" sz="1080" dirty="0"/>
          </a:p>
        </p:txBody>
      </p:sp>
      <p:sp>
        <p:nvSpPr>
          <p:cNvPr id="8" name="Shape 6"/>
          <p:cNvSpPr/>
          <p:nvPr/>
        </p:nvSpPr>
        <p:spPr>
          <a:xfrm>
            <a:off x="6233008" y="1572768"/>
            <a:ext cx="5410048" cy="1298448"/>
          </a:xfrm>
          <a:prstGeom prst="roundRect">
            <a:avLst>
              <a:gd name="adj" fmla="val 5634"/>
            </a:avLst>
          </a:prstGeom>
          <a:solidFill>
            <a:srgbClr val="F4F7FB"/>
          </a:solidFill>
          <a:ln w="12700">
            <a:solidFill>
              <a:srgbClr val="D7E0EA"/>
            </a:solidFill>
            <a:prstDash val="solid"/>
          </a:ln>
        </p:spPr>
      </p:sp>
      <p:sp>
        <p:nvSpPr>
          <p:cNvPr id="9" name="Shape 7"/>
          <p:cNvSpPr/>
          <p:nvPr/>
        </p:nvSpPr>
        <p:spPr>
          <a:xfrm>
            <a:off x="6434176" y="1773936"/>
            <a:ext cx="164592" cy="164592"/>
          </a:xfrm>
          <a:prstGeom prst="ellipse">
            <a:avLst/>
          </a:prstGeom>
          <a:solidFill>
            <a:srgbClr val="3E7455"/>
          </a:solidFill>
          <a:ln/>
        </p:spPr>
      </p:sp>
      <p:sp>
        <p:nvSpPr>
          <p:cNvPr id="10" name="Text 8"/>
          <p:cNvSpPr/>
          <p:nvPr/>
        </p:nvSpPr>
        <p:spPr>
          <a:xfrm>
            <a:off x="6735928" y="1700784"/>
            <a:ext cx="4678528" cy="329184"/>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Cost-aware objective</a:t>
            </a:r>
            <a:endParaRPr lang="en-US" sz="1450" dirty="0"/>
          </a:p>
        </p:txBody>
      </p:sp>
      <p:sp>
        <p:nvSpPr>
          <p:cNvPr id="11" name="Text 9"/>
          <p:cNvSpPr/>
          <p:nvPr/>
        </p:nvSpPr>
        <p:spPr>
          <a:xfrm>
            <a:off x="6507328" y="2103120"/>
            <a:ext cx="4861408" cy="713232"/>
          </a:xfrm>
          <a:prstGeom prst="rect">
            <a:avLst/>
          </a:prstGeom>
          <a:noFill/>
          <a:ln/>
        </p:spPr>
        <p:txBody>
          <a:bodyPr wrap="square" lIns="0" tIns="0" rIns="0" bIns="0" rtlCol="0" anchor="ctr"/>
          <a:lstStyle/>
          <a:p>
            <a:pPr indent="0" marL="0">
              <a:lnSpc>
                <a:spcPct val="115000"/>
              </a:lnSpc>
              <a:buNone/>
            </a:pPr>
            <a:r>
              <a:rPr lang="en-US" sz="1080" dirty="0">
                <a:solidFill>
                  <a:srgbClr val="5B6B82"/>
                </a:solidFill>
                <a:latin typeface="Calibri" pitchFamily="34" charset="0"/>
                <a:ea typeface="Calibri" pitchFamily="34" charset="-122"/>
                <a:cs typeface="Calibri" pitchFamily="34" charset="-120"/>
              </a:rPr>
              <a:t>Lexicographic (two-qubit count, length) ordering — removes ~40% of two-qubit gates on ion trap at comparable length.</a:t>
            </a:r>
            <a:endParaRPr lang="en-US" sz="1080" dirty="0"/>
          </a:p>
        </p:txBody>
      </p:sp>
      <p:sp>
        <p:nvSpPr>
          <p:cNvPr id="12" name="Shape 10"/>
          <p:cNvSpPr/>
          <p:nvPr/>
        </p:nvSpPr>
        <p:spPr>
          <a:xfrm>
            <a:off x="548640" y="3035808"/>
            <a:ext cx="5410048" cy="1298448"/>
          </a:xfrm>
          <a:prstGeom prst="roundRect">
            <a:avLst>
              <a:gd name="adj" fmla="val 5634"/>
            </a:avLst>
          </a:prstGeom>
          <a:solidFill>
            <a:srgbClr val="F4F7FB"/>
          </a:solidFill>
          <a:ln w="12700">
            <a:solidFill>
              <a:srgbClr val="D7E0EA"/>
            </a:solidFill>
            <a:prstDash val="solid"/>
          </a:ln>
        </p:spPr>
      </p:sp>
      <p:sp>
        <p:nvSpPr>
          <p:cNvPr id="13" name="Shape 11"/>
          <p:cNvSpPr/>
          <p:nvPr/>
        </p:nvSpPr>
        <p:spPr>
          <a:xfrm>
            <a:off x="749808" y="3236976"/>
            <a:ext cx="164592" cy="164592"/>
          </a:xfrm>
          <a:prstGeom prst="ellipse">
            <a:avLst/>
          </a:prstGeom>
          <a:solidFill>
            <a:srgbClr val="3E7455"/>
          </a:solidFill>
          <a:ln/>
        </p:spPr>
      </p:sp>
      <p:sp>
        <p:nvSpPr>
          <p:cNvPr id="14" name="Text 12"/>
          <p:cNvSpPr/>
          <p:nvPr/>
        </p:nvSpPr>
        <p:spPr>
          <a:xfrm>
            <a:off x="1051560" y="3163824"/>
            <a:ext cx="4678528" cy="329184"/>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Deterministic reordering</a:t>
            </a:r>
            <a:endParaRPr lang="en-US" sz="1450" dirty="0"/>
          </a:p>
        </p:txBody>
      </p:sp>
      <p:sp>
        <p:nvSpPr>
          <p:cNvPr id="15" name="Text 13"/>
          <p:cNvSpPr/>
          <p:nvPr/>
        </p:nvSpPr>
        <p:spPr>
          <a:xfrm>
            <a:off x="822960" y="3566160"/>
            <a:ext cx="4861408" cy="713232"/>
          </a:xfrm>
          <a:prstGeom prst="rect">
            <a:avLst/>
          </a:prstGeom>
          <a:noFill/>
          <a:ln/>
        </p:spPr>
        <p:txBody>
          <a:bodyPr wrap="square" lIns="0" tIns="0" rIns="0" bIns="0" rtlCol="0" anchor="ctr"/>
          <a:lstStyle/>
          <a:p>
            <a:pPr indent="0" marL="0">
              <a:lnSpc>
                <a:spcPct val="115000"/>
              </a:lnSpc>
              <a:buNone/>
            </a:pPr>
            <a:r>
              <a:rPr lang="en-US" sz="1080" dirty="0">
                <a:solidFill>
                  <a:srgbClr val="5B6B82"/>
                </a:solidFill>
                <a:latin typeface="Calibri" pitchFamily="34" charset="0"/>
                <a:ea typeface="Calibri" pitchFamily="34" charset="-122"/>
                <a:cs typeface="Calibri" pitchFamily="34" charset="-120"/>
              </a:rPr>
              <a:t>A dependency-order pre-pass that exposes windows without displacing the stochastic loop's own diversity.</a:t>
            </a:r>
            <a:endParaRPr lang="en-US" sz="1080" dirty="0"/>
          </a:p>
        </p:txBody>
      </p:sp>
      <p:sp>
        <p:nvSpPr>
          <p:cNvPr id="16" name="Shape 14"/>
          <p:cNvSpPr/>
          <p:nvPr/>
        </p:nvSpPr>
        <p:spPr>
          <a:xfrm>
            <a:off x="6233008" y="3035808"/>
            <a:ext cx="5410048" cy="1298448"/>
          </a:xfrm>
          <a:prstGeom prst="roundRect">
            <a:avLst>
              <a:gd name="adj" fmla="val 5634"/>
            </a:avLst>
          </a:prstGeom>
          <a:solidFill>
            <a:srgbClr val="F4F7FB"/>
          </a:solidFill>
          <a:ln w="12700">
            <a:solidFill>
              <a:srgbClr val="D7E0EA"/>
            </a:solidFill>
            <a:prstDash val="solid"/>
          </a:ln>
        </p:spPr>
      </p:sp>
      <p:sp>
        <p:nvSpPr>
          <p:cNvPr id="17" name="Shape 15"/>
          <p:cNvSpPr/>
          <p:nvPr/>
        </p:nvSpPr>
        <p:spPr>
          <a:xfrm>
            <a:off x="6434176" y="3236976"/>
            <a:ext cx="164592" cy="164592"/>
          </a:xfrm>
          <a:prstGeom prst="ellipse">
            <a:avLst/>
          </a:prstGeom>
          <a:solidFill>
            <a:srgbClr val="3E7455"/>
          </a:solidFill>
          <a:ln/>
        </p:spPr>
      </p:sp>
      <p:sp>
        <p:nvSpPr>
          <p:cNvPr id="18" name="Text 16"/>
          <p:cNvSpPr/>
          <p:nvPr/>
        </p:nvSpPr>
        <p:spPr>
          <a:xfrm>
            <a:off x="6735928" y="3163824"/>
            <a:ext cx="4678528" cy="329184"/>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Incremental construction</a:t>
            </a:r>
            <a:endParaRPr lang="en-US" sz="1450" dirty="0"/>
          </a:p>
        </p:txBody>
      </p:sp>
      <p:sp>
        <p:nvSpPr>
          <p:cNvPr id="19" name="Text 17"/>
          <p:cNvSpPr/>
          <p:nvPr/>
        </p:nvSpPr>
        <p:spPr>
          <a:xfrm>
            <a:off x="6507328" y="3566160"/>
            <a:ext cx="4861408" cy="713232"/>
          </a:xfrm>
          <a:prstGeom prst="rect">
            <a:avLst/>
          </a:prstGeom>
          <a:noFill/>
          <a:ln/>
        </p:spPr>
        <p:txBody>
          <a:bodyPr wrap="square" lIns="0" tIns="0" rIns="0" bIns="0" rtlCol="0" anchor="ctr"/>
          <a:lstStyle/>
          <a:p>
            <a:pPr indent="0" marL="0">
              <a:lnSpc>
                <a:spcPct val="115000"/>
              </a:lnSpc>
              <a:buNone/>
            </a:pPr>
            <a:r>
              <a:rPr lang="en-US" sz="1080" dirty="0">
                <a:solidFill>
                  <a:srgbClr val="5B6B82"/>
                </a:solidFill>
                <a:latin typeface="Calibri" pitchFamily="34" charset="0"/>
                <a:ea typeface="Calibri" pitchFamily="34" charset="-122"/>
                <a:cs typeface="Calibri" pitchFamily="34" charset="-120"/>
              </a:rPr>
              <a:t>4× fewer gate applications per sweep position — several-fold more completed passes per circuit.</a:t>
            </a:r>
            <a:endParaRPr lang="en-US" sz="1080" dirty="0"/>
          </a:p>
        </p:txBody>
      </p:sp>
      <p:sp>
        <p:nvSpPr>
          <p:cNvPr id="20" name="Shape 18"/>
          <p:cNvSpPr/>
          <p:nvPr/>
        </p:nvSpPr>
        <p:spPr>
          <a:xfrm>
            <a:off x="548640" y="4498848"/>
            <a:ext cx="5410048" cy="1298448"/>
          </a:xfrm>
          <a:prstGeom prst="roundRect">
            <a:avLst>
              <a:gd name="adj" fmla="val 5634"/>
            </a:avLst>
          </a:prstGeom>
          <a:solidFill>
            <a:srgbClr val="F4F7FB"/>
          </a:solidFill>
          <a:ln w="12700">
            <a:solidFill>
              <a:srgbClr val="D7E0EA"/>
            </a:solidFill>
            <a:prstDash val="solid"/>
          </a:ln>
        </p:spPr>
      </p:sp>
      <p:sp>
        <p:nvSpPr>
          <p:cNvPr id="21" name="Shape 19"/>
          <p:cNvSpPr/>
          <p:nvPr/>
        </p:nvSpPr>
        <p:spPr>
          <a:xfrm>
            <a:off x="749808" y="4700016"/>
            <a:ext cx="164592" cy="164592"/>
          </a:xfrm>
          <a:prstGeom prst="ellipse">
            <a:avLst/>
          </a:prstGeom>
          <a:solidFill>
            <a:srgbClr val="3E7455"/>
          </a:solidFill>
          <a:ln/>
        </p:spPr>
      </p:sp>
      <p:sp>
        <p:nvSpPr>
          <p:cNvPr id="22" name="Text 20"/>
          <p:cNvSpPr/>
          <p:nvPr/>
        </p:nvSpPr>
        <p:spPr>
          <a:xfrm>
            <a:off x="1051560" y="4626864"/>
            <a:ext cx="4678528" cy="329184"/>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Disk-backed database</a:t>
            </a:r>
            <a:endParaRPr lang="en-US" sz="1450" dirty="0"/>
          </a:p>
        </p:txBody>
      </p:sp>
      <p:sp>
        <p:nvSpPr>
          <p:cNvPr id="23" name="Text 21"/>
          <p:cNvSpPr/>
          <p:nvPr/>
        </p:nvSpPr>
        <p:spPr>
          <a:xfrm>
            <a:off x="822960" y="5029200"/>
            <a:ext cx="4861408" cy="713232"/>
          </a:xfrm>
          <a:prstGeom prst="rect">
            <a:avLst/>
          </a:prstGeom>
          <a:noFill/>
          <a:ln/>
        </p:spPr>
        <p:txBody>
          <a:bodyPr wrap="square" lIns="0" tIns="0" rIns="0" bIns="0" rtlCol="0" anchor="ctr"/>
          <a:lstStyle/>
          <a:p>
            <a:pPr indent="0" marL="0">
              <a:lnSpc>
                <a:spcPct val="115000"/>
              </a:lnSpc>
              <a:buNone/>
            </a:pPr>
            <a:r>
              <a:rPr lang="en-US" sz="1080" dirty="0">
                <a:solidFill>
                  <a:srgbClr val="5B6B82"/>
                </a:solidFill>
                <a:latin typeface="Calibri" pitchFamily="34" charset="0"/>
                <a:ea typeface="Calibri" pitchFamily="34" charset="-122"/>
                <a:cs typeface="Calibri" pitchFamily="34" charset="-120"/>
              </a:rPr>
              <a:t>Extends search past RAM limits — the instrument that let the depth hypothesis be tested exhaustively.</a:t>
            </a:r>
            <a:endParaRPr lang="en-US" sz="1080" dirty="0"/>
          </a:p>
        </p:txBody>
      </p:sp>
      <p:sp>
        <p:nvSpPr>
          <p:cNvPr id="24" name="Shape 22"/>
          <p:cNvSpPr/>
          <p:nvPr/>
        </p:nvSpPr>
        <p:spPr>
          <a:xfrm>
            <a:off x="6233008" y="4498848"/>
            <a:ext cx="5410048" cy="1298448"/>
          </a:xfrm>
          <a:prstGeom prst="roundRect">
            <a:avLst>
              <a:gd name="adj" fmla="val 5634"/>
            </a:avLst>
          </a:prstGeom>
          <a:solidFill>
            <a:srgbClr val="F4F7FB"/>
          </a:solidFill>
          <a:ln w="12700">
            <a:solidFill>
              <a:srgbClr val="D7E0EA"/>
            </a:solidFill>
            <a:prstDash val="solid"/>
          </a:ln>
        </p:spPr>
      </p:sp>
      <p:sp>
        <p:nvSpPr>
          <p:cNvPr id="25" name="Shape 23"/>
          <p:cNvSpPr/>
          <p:nvPr/>
        </p:nvSpPr>
        <p:spPr>
          <a:xfrm>
            <a:off x="6434176" y="4700016"/>
            <a:ext cx="164592" cy="164592"/>
          </a:xfrm>
          <a:prstGeom prst="ellipse">
            <a:avLst/>
          </a:prstGeom>
          <a:solidFill>
            <a:srgbClr val="3E7455"/>
          </a:solidFill>
          <a:ln/>
        </p:spPr>
      </p:sp>
      <p:sp>
        <p:nvSpPr>
          <p:cNvPr id="26" name="Text 24"/>
          <p:cNvSpPr/>
          <p:nvPr/>
        </p:nvSpPr>
        <p:spPr>
          <a:xfrm>
            <a:off x="6735928" y="4626864"/>
            <a:ext cx="4678528" cy="329184"/>
          </a:xfrm>
          <a:prstGeom prst="rect">
            <a:avLst/>
          </a:prstGeom>
          <a:noFill/>
          <a:ln/>
        </p:spPr>
        <p:txBody>
          <a:bodyPr wrap="square" lIns="0" tIns="0" rIns="0" bIns="0" rtlCol="0" anchor="ctr"/>
          <a:lstStyle/>
          <a:p>
            <a:pPr indent="0" marL="0">
              <a:buNone/>
            </a:pPr>
            <a:r>
              <a:rPr lang="en-US" sz="1450" b="1" dirty="0">
                <a:solidFill>
                  <a:srgbClr val="16233F"/>
                </a:solidFill>
                <a:latin typeface="Cambria" pitchFamily="34" charset="0"/>
                <a:ea typeface="Cambria" pitchFamily="34" charset="-122"/>
                <a:cs typeface="Cambria" pitchFamily="34" charset="-120"/>
              </a:rPr>
              <a:t>A diagnosed, open gap</a:t>
            </a:r>
            <a:endParaRPr lang="en-US" sz="1450" dirty="0"/>
          </a:p>
        </p:txBody>
      </p:sp>
      <p:sp>
        <p:nvSpPr>
          <p:cNvPr id="27" name="Text 25"/>
          <p:cNvSpPr/>
          <p:nvPr/>
        </p:nvSpPr>
        <p:spPr>
          <a:xfrm>
            <a:off x="6507328" y="5029200"/>
            <a:ext cx="4861408" cy="713232"/>
          </a:xfrm>
          <a:prstGeom prst="rect">
            <a:avLst/>
          </a:prstGeom>
          <a:noFill/>
          <a:ln/>
        </p:spPr>
        <p:txBody>
          <a:bodyPr wrap="square" lIns="0" tIns="0" rIns="0" bIns="0" rtlCol="0" anchor="ctr"/>
          <a:lstStyle/>
          <a:p>
            <a:pPr indent="0" marL="0">
              <a:lnSpc>
                <a:spcPct val="115000"/>
              </a:lnSpc>
              <a:buNone/>
            </a:pPr>
            <a:r>
              <a:rPr lang="en-US" sz="1080" dirty="0">
                <a:solidFill>
                  <a:srgbClr val="5B6B82"/>
                </a:solidFill>
                <a:latin typeface="Calibri" pitchFamily="34" charset="0"/>
                <a:ea typeface="Calibri" pitchFamily="34" charset="-122"/>
                <a:cs typeface="Calibri" pitchFamily="34" charset="-120"/>
              </a:rPr>
              <a:t>Eight causes systematically eliminated for the NISQ shortfall; a ninth — the reference's own loop, ported — narrows it by ~3% without closing it.</a:t>
            </a:r>
            <a:endParaRPr lang="en-US" sz="1080" dirty="0"/>
          </a:p>
        </p:txBody>
      </p:sp>
      <p:sp>
        <p:nvSpPr>
          <p:cNvPr id="28" name="Text 26"/>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29" name="Text 27"/>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41</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VI · SYNTHESIS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Limitations &amp; Threats to Validity</a:t>
            </a:r>
            <a:endParaRPr lang="en-US" sz="2900" dirty="0"/>
          </a:p>
        </p:txBody>
      </p:sp>
      <p:sp>
        <p:nvSpPr>
          <p:cNvPr id="4" name="Text 2"/>
          <p:cNvSpPr/>
          <p:nvPr/>
        </p:nvSpPr>
        <p:spPr>
          <a:xfrm>
            <a:off x="548640" y="1572768"/>
            <a:ext cx="11094415" cy="4389120"/>
          </a:xfrm>
          <a:prstGeom prst="rect">
            <a:avLst/>
          </a:prstGeom>
          <a:noFill/>
          <a:ln/>
        </p:spPr>
        <p:txBody>
          <a:bodyPr wrap="square" rtlCol="0" anchor="t"/>
          <a:lstStyle/>
          <a:p>
            <a:pPr marL="177800" indent="-177800">
              <a:lnSpc>
                <a:spcPct val="112000"/>
              </a:lnSpc>
              <a:spcAft>
                <a:spcPts val="1100"/>
              </a:spcAft>
              <a:buSzPct val="100000"/>
              <a:buChar char="▪"/>
            </a:pPr>
            <a:r>
              <a:rPr lang="en-US" sz="1250" dirty="0">
                <a:solidFill>
                  <a:srgbClr val="2A3648"/>
                </a:solidFill>
                <a:latin typeface="Calibri" pitchFamily="34" charset="0"/>
                <a:ea typeface="Calibri" pitchFamily="34" charset="-122"/>
                <a:cs typeface="Calibri" pitchFamily="34" charset="-120"/>
              </a:rPr>
              <a:t>Simulation only. Hardware validation on real IBM devices, part of the source paper's own evaluation, is out of scope here — every result is a unitary-verified simulation, not a decoherence measurement.</a:t>
            </a:r>
            <a:endParaRPr lang="en-US" sz="1250" dirty="0"/>
          </a:p>
          <a:p>
            <a:pPr marL="177800" indent="-177800">
              <a:lnSpc>
                <a:spcPct val="112000"/>
              </a:lnSpc>
              <a:spcAft>
                <a:spcPts val="1100"/>
              </a:spcAft>
              <a:buSzPct val="100000"/>
              <a:buChar char="▪"/>
            </a:pPr>
            <a:r>
              <a:rPr lang="en-US" sz="1250" dirty="0">
                <a:solidFill>
                  <a:srgbClr val="2A3648"/>
                </a:solidFill>
                <a:latin typeface="Calibri" pitchFamily="34" charset="0"/>
                <a:ea typeface="Calibri" pitchFamily="34" charset="-122"/>
                <a:cs typeface="Calibri" pitchFamily="34" charset="-120"/>
              </a:rPr>
              <a:t>BQSKit L4 excluded from headline claims. Every circuit failed unitary verification at that level in this setup — likely an internal qubit-relabeling issue — so its numbers are omitted rather than estimated or reported unverified.</a:t>
            </a:r>
            <a:endParaRPr lang="en-US" sz="1250" dirty="0"/>
          </a:p>
          <a:p>
            <a:pPr marL="177800" indent="-177800">
              <a:lnSpc>
                <a:spcPct val="112000"/>
              </a:lnSpc>
              <a:spcAft>
                <a:spcPts val="1100"/>
              </a:spcAft>
              <a:buSzPct val="100000"/>
              <a:buChar char="▪"/>
            </a:pPr>
            <a:r>
              <a:rPr lang="en-US" sz="1250" dirty="0">
                <a:solidFill>
                  <a:srgbClr val="2A3648"/>
                </a:solidFill>
                <a:latin typeface="Calibri" pitchFamily="34" charset="0"/>
                <a:ea typeface="Calibri" pitchFamily="34" charset="-122"/>
                <a:cs typeface="Calibri" pitchFamily="34" charset="-120"/>
              </a:rPr>
              <a:t>The mixed-pool boundary case (Section V) is directional, not statistically powered — n = 3 circuits. The effect size (42%) is far larger than plausible sampling noise at that size, but a properly powered follow-up is future work.</a:t>
            </a:r>
            <a:endParaRPr lang="en-US" sz="1250" dirty="0"/>
          </a:p>
          <a:p>
            <a:pPr marL="177800" indent="-177800">
              <a:lnSpc>
                <a:spcPct val="112000"/>
              </a:lnSpc>
              <a:spcAft>
                <a:spcPts val="1100"/>
              </a:spcAft>
              <a:buSzPct val="100000"/>
              <a:buChar char="▪"/>
            </a:pPr>
            <a:r>
              <a:rPr lang="en-US" sz="1250" dirty="0">
                <a:solidFill>
                  <a:srgbClr val="2A3648"/>
                </a:solidFill>
                <a:latin typeface="Calibri" pitchFamily="34" charset="0"/>
                <a:ea typeface="Calibri" pitchFamily="34" charset="-122"/>
                <a:cs typeface="Calibri" pitchFamily="34" charset="-120"/>
              </a:rPr>
              <a:t>The NISQ database-factorization cause is localized, not resolved. Eight candidate explanations are eliminated by direct experiment; the ninth (Slide 36) narrows the gap empirically without diagnosing it — identifying the specific factorization the published database supports and this one does not remains open.</a:t>
            </a:r>
            <a:endParaRPr lang="en-US" sz="1250" dirty="0"/>
          </a:p>
          <a:p>
            <a:pPr marL="177800" indent="-177800">
              <a:lnSpc>
                <a:spcPct val="112000"/>
              </a:lnSpc>
              <a:spcAft>
                <a:spcPts val="1000"/>
              </a:spcAft>
              <a:buSzPct val="100000"/>
              <a:buChar char="▪"/>
            </a:pPr>
            <a:r>
              <a:rPr lang="en-US" sz="1250" dirty="0">
                <a:solidFill>
                  <a:srgbClr val="2A3648"/>
                </a:solidFill>
                <a:latin typeface="Calibri" pitchFamily="34" charset="0"/>
                <a:ea typeface="Calibri" pitchFamily="34" charset="-122"/>
                <a:cs typeface="Calibri" pitchFamily="34" charset="-120"/>
              </a:rPr>
              <a:t>Single consumer machine (8 cores, 16 GB RAM). The disk-backed database exists specifically to make that constraint tractable; results on server-class hardware with larger in-memory graphs are untested.</a:t>
            </a:r>
            <a:endParaRPr lang="en-US" sz="1250" dirty="0"/>
          </a:p>
        </p:txBody>
      </p:sp>
      <p:sp>
        <p:nvSpPr>
          <p:cNvPr id="5" name="Text 3"/>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6" name="Text 4"/>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42</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38912"/>
            <a:ext cx="9144000" cy="292608"/>
          </a:xfrm>
          <a:prstGeom prst="rect">
            <a:avLst/>
          </a:prstGeom>
          <a:noFill/>
          <a:ln/>
        </p:spPr>
        <p:txBody>
          <a:bodyPr wrap="square" lIns="0" tIns="0" rIns="0" bIns="0" rtlCol="0" anchor="ctr"/>
          <a:lstStyle/>
          <a:p>
            <a:pPr indent="0" marL="0">
              <a:buNone/>
            </a:pPr>
            <a:r>
              <a:rPr lang="en-US" sz="1250" b="1" spc="200" kern="0" dirty="0">
                <a:solidFill>
                  <a:srgbClr val="2C5578"/>
                </a:solidFill>
                <a:latin typeface="Calibri" pitchFamily="34" charset="0"/>
                <a:ea typeface="Calibri" pitchFamily="34" charset="-122"/>
                <a:cs typeface="Calibri" pitchFamily="34" charset="-120"/>
              </a:rPr>
              <a:t>VI · SYNTHESIS</a:t>
            </a:r>
            <a:endParaRPr lang="en-US" sz="1250" dirty="0"/>
          </a:p>
        </p:txBody>
      </p:sp>
      <p:sp>
        <p:nvSpPr>
          <p:cNvPr id="3" name="Text 1"/>
          <p:cNvSpPr/>
          <p:nvPr/>
        </p:nvSpPr>
        <p:spPr>
          <a:xfrm>
            <a:off x="548640" y="749808"/>
            <a:ext cx="11094415" cy="786384"/>
          </a:xfrm>
          <a:prstGeom prst="rect">
            <a:avLst/>
          </a:prstGeom>
          <a:noFill/>
          <a:ln/>
        </p:spPr>
        <p:txBody>
          <a:bodyPr wrap="square" lIns="0" tIns="0" rIns="0" bIns="0" rtlCol="0" anchor="t"/>
          <a:lstStyle/>
          <a:p>
            <a:pPr indent="0" marL="0">
              <a:buNone/>
            </a:pPr>
            <a:r>
              <a:rPr lang="en-US" sz="2900" b="1" dirty="0">
                <a:solidFill>
                  <a:srgbClr val="16233F"/>
                </a:solidFill>
                <a:latin typeface="Cambria" pitchFamily="34" charset="0"/>
                <a:ea typeface="Cambria" pitchFamily="34" charset="-122"/>
                <a:cs typeface="Cambria" pitchFamily="34" charset="-120"/>
              </a:rPr>
              <a:t>Conclusion &amp; Open Questions</a:t>
            </a:r>
            <a:endParaRPr lang="en-US" sz="2900" dirty="0"/>
          </a:p>
        </p:txBody>
      </p:sp>
      <p:sp>
        <p:nvSpPr>
          <p:cNvPr id="4" name="Shape 2"/>
          <p:cNvSpPr/>
          <p:nvPr/>
        </p:nvSpPr>
        <p:spPr>
          <a:xfrm>
            <a:off x="548640" y="1572768"/>
            <a:ext cx="11094415" cy="1600200"/>
          </a:xfrm>
          <a:prstGeom prst="roundRect">
            <a:avLst>
              <a:gd name="adj" fmla="val 4571"/>
            </a:avLst>
          </a:prstGeom>
          <a:solidFill>
            <a:srgbClr val="0B1F3A"/>
          </a:solidFill>
          <a:ln/>
        </p:spPr>
      </p:sp>
      <p:sp>
        <p:nvSpPr>
          <p:cNvPr id="5" name="Text 3"/>
          <p:cNvSpPr/>
          <p:nvPr/>
        </p:nvSpPr>
        <p:spPr>
          <a:xfrm>
            <a:off x="822960" y="1737360"/>
            <a:ext cx="10545775" cy="1280160"/>
          </a:xfrm>
          <a:prstGeom prst="rect">
            <a:avLst/>
          </a:prstGeom>
          <a:noFill/>
          <a:ln/>
        </p:spPr>
        <p:txBody>
          <a:bodyPr wrap="square" lIns="0" tIns="0" rIns="0" bIns="0" rtlCol="0" anchor="ctr"/>
          <a:lstStyle/>
          <a:p>
            <a:pPr indent="0" marL="0">
              <a:lnSpc>
                <a:spcPct val="128000"/>
              </a:lnSpc>
              <a:buNone/>
            </a:pPr>
            <a:r>
              <a:rPr lang="en-US" sz="1450" i="1" dirty="0">
                <a:solidFill>
                  <a:srgbClr val="FFFFFF"/>
                </a:solidFill>
                <a:latin typeface="Cambria" pitchFamily="34" charset="0"/>
                <a:ea typeface="Cambria" pitchFamily="34" charset="-122"/>
                <a:cs typeface="Cambria" pitchFamily="34" charset="-120"/>
              </a:rPr>
              <a:t>An exact engine, a cost-aware objective, deterministic reordering, and incremental construction are, on their own, enough to exceed a strong published baseline on an all-Clifford gate set — on both total length and the two-qubit count that governs hardware fidelity.</a:t>
            </a:r>
            <a:endParaRPr lang="en-US" sz="1450" dirty="0"/>
          </a:p>
        </p:txBody>
      </p:sp>
      <p:sp>
        <p:nvSpPr>
          <p:cNvPr id="6" name="Text 4"/>
          <p:cNvSpPr/>
          <p:nvPr/>
        </p:nvSpPr>
        <p:spPr>
          <a:xfrm>
            <a:off x="548640" y="3401568"/>
            <a:ext cx="11094415" cy="320040"/>
          </a:xfrm>
          <a:prstGeom prst="rect">
            <a:avLst/>
          </a:prstGeom>
          <a:noFill/>
          <a:ln/>
        </p:spPr>
        <p:txBody>
          <a:bodyPr wrap="square" lIns="0" tIns="0" rIns="0" bIns="0" rtlCol="0" anchor="ctr"/>
          <a:lstStyle/>
          <a:p>
            <a:pPr indent="0" marL="0">
              <a:buNone/>
            </a:pPr>
            <a:r>
              <a:rPr lang="en-US" sz="1500" b="1" dirty="0">
                <a:solidFill>
                  <a:srgbClr val="16233F"/>
                </a:solidFill>
                <a:latin typeface="Cambria" pitchFamily="34" charset="0"/>
                <a:ea typeface="Cambria" pitchFamily="34" charset="-122"/>
                <a:cs typeface="Cambria" pitchFamily="34" charset="-120"/>
              </a:rPr>
              <a:t>Open questions for future work</a:t>
            </a:r>
            <a:endParaRPr lang="en-US" sz="1500" dirty="0"/>
          </a:p>
        </p:txBody>
      </p:sp>
      <p:sp>
        <p:nvSpPr>
          <p:cNvPr id="7" name="Text 5"/>
          <p:cNvSpPr/>
          <p:nvPr/>
        </p:nvSpPr>
        <p:spPr>
          <a:xfrm>
            <a:off x="548640" y="3767328"/>
            <a:ext cx="11094415" cy="4389120"/>
          </a:xfrm>
          <a:prstGeom prst="rect">
            <a:avLst/>
          </a:prstGeom>
          <a:noFill/>
          <a:ln/>
        </p:spPr>
        <p:txBody>
          <a:bodyPr wrap="square" rtlCol="0" anchor="t"/>
          <a:lstStyle/>
          <a:p>
            <a:pPr marL="177800" indent="-177800">
              <a:lnSpc>
                <a:spcPct val="112000"/>
              </a:lnSpc>
              <a:spcAft>
                <a:spcPts val="800"/>
              </a:spcAft>
              <a:buSzPct val="100000"/>
              <a:buChar char="▪"/>
            </a:pPr>
            <a:r>
              <a:rPr lang="en-US" sz="1250" dirty="0">
                <a:solidFill>
                  <a:srgbClr val="2A3648"/>
                </a:solidFill>
                <a:latin typeface="Calibri" pitchFamily="34" charset="0"/>
                <a:ea typeface="Calibri" pitchFamily="34" charset="-122"/>
                <a:cs typeface="Calibri" pitchFamily="34" charset="-120"/>
              </a:rPr>
              <a:t>A ninth attempt — porting the reference implementation's own loop — narrows the NISQ gap by ~3% (155.1 vs 107) and is now the default, but identifying the specific database factorization the published method supports that this reimplementation still does not remains open.</a:t>
            </a:r>
            <a:endParaRPr lang="en-US" sz="1250" dirty="0"/>
          </a:p>
          <a:p>
            <a:pPr marL="177800" indent="-177800">
              <a:lnSpc>
                <a:spcPct val="112000"/>
              </a:lnSpc>
              <a:spcAft>
                <a:spcPts val="800"/>
              </a:spcAft>
              <a:buSzPct val="100000"/>
              <a:buChar char="▪"/>
            </a:pPr>
            <a:r>
              <a:rPr lang="en-US" sz="1250" dirty="0">
                <a:solidFill>
                  <a:srgbClr val="2A3648"/>
                </a:solidFill>
                <a:latin typeface="Calibri" pitchFamily="34" charset="0"/>
                <a:ea typeface="Calibri" pitchFamily="34" charset="-122"/>
                <a:cs typeface="Calibri" pitchFamily="34" charset="-120"/>
              </a:rPr>
              <a:t>Close the mixed-pool boundary case: a way to reach deep effective coverage without paying for it in raw branching factor, or a different technique entirely for large pools.</a:t>
            </a:r>
            <a:endParaRPr lang="en-US" sz="1250" dirty="0"/>
          </a:p>
          <a:p>
            <a:pPr marL="177800" indent="-177800">
              <a:lnSpc>
                <a:spcPct val="112000"/>
              </a:lnSpc>
              <a:spcAft>
                <a:spcPts val="1000"/>
              </a:spcAft>
              <a:buSzPct val="100000"/>
              <a:buChar char="▪"/>
            </a:pPr>
            <a:r>
              <a:rPr lang="en-US" sz="1250" dirty="0">
                <a:solidFill>
                  <a:srgbClr val="2A3648"/>
                </a:solidFill>
                <a:latin typeface="Calibri" pitchFamily="34" charset="0"/>
                <a:ea typeface="Calibri" pitchFamily="34" charset="-122"/>
                <a:cs typeface="Calibri" pitchFamily="34" charset="-120"/>
              </a:rPr>
              <a:t>Extend to real hardware validation, completing the loop the source paper closes and this thesis leaves open.</a:t>
            </a:r>
            <a:endParaRPr lang="en-US" sz="1250" dirty="0"/>
          </a:p>
        </p:txBody>
      </p:sp>
      <p:sp>
        <p:nvSpPr>
          <p:cNvPr id="8" name="Text 6"/>
          <p:cNvSpPr/>
          <p:nvPr/>
        </p:nvSpPr>
        <p:spPr>
          <a:xfrm>
            <a:off x="548640" y="6528816"/>
            <a:ext cx="8229600" cy="256032"/>
          </a:xfrm>
          <a:prstGeom prst="rect">
            <a:avLst/>
          </a:prstGeom>
          <a:noFill/>
          <a:ln/>
        </p:spPr>
        <p:txBody>
          <a:bodyPr wrap="square" lIns="0" tIns="0" rIns="0" bIns="0" rtlCol="0" anchor="ctr"/>
          <a:lstStyle/>
          <a:p>
            <a:pPr indent="0" marL="0">
              <a:buNone/>
            </a:pPr>
            <a:r>
              <a:rPr lang="en-US" sz="900" dirty="0">
                <a:solidFill>
                  <a:srgbClr val="5B6B82"/>
                </a:solidFill>
                <a:latin typeface="Calibri" pitchFamily="34" charset="0"/>
                <a:ea typeface="Calibri" pitchFamily="34" charset="-122"/>
                <a:cs typeface="Calibri" pitchFamily="34" charset="-120"/>
              </a:rPr>
              <a:t>Exact Symplectic Reduction for Quantum Circuits  —  Thesis Defense</a:t>
            </a:r>
            <a:endParaRPr lang="en-US" sz="900" dirty="0"/>
          </a:p>
        </p:txBody>
      </p:sp>
      <p:sp>
        <p:nvSpPr>
          <p:cNvPr id="9" name="Text 7"/>
          <p:cNvSpPr/>
          <p:nvPr/>
        </p:nvSpPr>
        <p:spPr>
          <a:xfrm>
            <a:off x="11185855" y="6528816"/>
            <a:ext cx="457200" cy="256032"/>
          </a:xfrm>
          <a:prstGeom prst="rect">
            <a:avLst/>
          </a:prstGeom>
          <a:noFill/>
          <a:ln/>
        </p:spPr>
        <p:txBody>
          <a:bodyPr wrap="square" lIns="0" tIns="0" rIns="0" bIns="0" rtlCol="0" anchor="ctr"/>
          <a:lstStyle/>
          <a:p>
            <a:pPr algn="r" indent="0" marL="0">
              <a:buNone/>
            </a:pPr>
            <a:r>
              <a:rPr lang="en-US" sz="900" dirty="0">
                <a:solidFill>
                  <a:srgbClr val="5B6B82"/>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8778240" y="-2377440"/>
            <a:ext cx="6858000" cy="6858000"/>
          </a:xfrm>
          <a:prstGeom prst="ellipse">
            <a:avLst/>
          </a:prstGeom>
          <a:solidFill>
            <a:srgbClr val="13294C"/>
          </a:solidFill>
          <a:ln/>
        </p:spPr>
      </p:sp>
      <p:sp>
        <p:nvSpPr>
          <p:cNvPr id="3" name="Shape 1"/>
          <p:cNvSpPr/>
          <p:nvPr/>
        </p:nvSpPr>
        <p:spPr>
          <a:xfrm>
            <a:off x="-2194560" y="3840480"/>
            <a:ext cx="5669280" cy="5669280"/>
          </a:xfrm>
          <a:prstGeom prst="ellipse">
            <a:avLst/>
          </a:prstGeom>
          <a:solidFill>
            <a:srgbClr val="13294C"/>
          </a:solidFill>
          <a:ln/>
        </p:spPr>
      </p:sp>
      <p:sp>
        <p:nvSpPr>
          <p:cNvPr id="4" name="Text 2"/>
          <p:cNvSpPr/>
          <p:nvPr/>
        </p:nvSpPr>
        <p:spPr>
          <a:xfrm>
            <a:off x="54864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5" name="Text 3"/>
          <p:cNvSpPr/>
          <p:nvPr/>
        </p:nvSpPr>
        <p:spPr>
          <a:xfrm>
            <a:off x="548640" y="3429000"/>
            <a:ext cx="9144000" cy="548640"/>
          </a:xfrm>
          <a:prstGeom prst="rect">
            <a:avLst/>
          </a:prstGeom>
          <a:noFill/>
          <a:ln/>
        </p:spPr>
        <p:txBody>
          <a:bodyPr wrap="square" lIns="0" tIns="0" rIns="0" bIns="0" rtlCol="0" anchor="ctr"/>
          <a:lstStyle/>
          <a:p>
            <a:pPr indent="0" marL="0">
              <a:buNone/>
            </a:pPr>
            <a:r>
              <a:rPr lang="en-US" sz="1800" i="1" dirty="0">
                <a:solidFill>
                  <a:srgbClr val="E8B94B"/>
                </a:solidFill>
                <a:latin typeface="Cambria" pitchFamily="34" charset="0"/>
                <a:ea typeface="Cambria" pitchFamily="34" charset="-122"/>
                <a:cs typeface="Cambria" pitchFamily="34" charset="-120"/>
              </a:rPr>
              <a:t>Questions &amp; Discussion</a:t>
            </a:r>
            <a:endParaRPr lang="en-US" sz="1800" dirty="0"/>
          </a:p>
        </p:txBody>
      </p:sp>
      <p:sp>
        <p:nvSpPr>
          <p:cNvPr id="6" name="Shape 4"/>
          <p:cNvSpPr/>
          <p:nvPr/>
        </p:nvSpPr>
        <p:spPr>
          <a:xfrm>
            <a:off x="548640" y="4206240"/>
            <a:ext cx="2926080" cy="0"/>
          </a:xfrm>
          <a:prstGeom prst="line">
            <a:avLst/>
          </a:prstGeom>
          <a:noFill/>
          <a:ln w="19050">
            <a:solidFill>
              <a:srgbClr val="E8B94B"/>
            </a:solidFill>
            <a:prstDash val="solid"/>
          </a:ln>
        </p:spPr>
      </p:sp>
      <p:sp>
        <p:nvSpPr>
          <p:cNvPr id="7" name="Text 5"/>
          <p:cNvSpPr/>
          <p:nvPr/>
        </p:nvSpPr>
        <p:spPr>
          <a:xfrm>
            <a:off x="548640" y="4389120"/>
            <a:ext cx="7315200" cy="1005840"/>
          </a:xfrm>
          <a:prstGeom prst="rect">
            <a:avLst/>
          </a:prstGeom>
          <a:noFill/>
          <a:ln/>
        </p:spPr>
        <p:txBody>
          <a:bodyPr wrap="square" lIns="0" tIns="0" rIns="0" bIns="0" rtlCol="0" anchor="ctr"/>
          <a:lstStyle/>
          <a:p>
            <a:pPr indent="0" marL="0">
              <a:lnSpc>
                <a:spcPct val="135000"/>
              </a:lnSpc>
              <a:buNone/>
            </a:pPr>
            <a:r>
              <a:rPr lang="en-US" sz="1400" b="1" dirty="0">
                <a:solidFill>
                  <a:srgbClr val="FFFFFF"/>
                </a:solidFill>
                <a:latin typeface="Calibri" pitchFamily="34" charset="0"/>
                <a:ea typeface="Calibri" pitchFamily="34" charset="-122"/>
                <a:cs typeface="Calibri" pitchFamily="34" charset="-120"/>
              </a:rPr>
              <a:t>Arnav Kapoor
</a:t>
            </a:r>
            <a:pPr indent="0" marL="0">
              <a:lnSpc>
                <a:spcPct val="135000"/>
              </a:lnSpc>
              <a:buNone/>
            </a:pPr>
            <a:r>
              <a:rPr lang="en-US" sz="1150" dirty="0">
                <a:solidFill>
                  <a:srgbClr val="AFC2DB"/>
                </a:solidFill>
                <a:latin typeface="Calibri" pitchFamily="34" charset="0"/>
                <a:ea typeface="Calibri" pitchFamily="34" charset="-122"/>
                <a:cs typeface="Calibri" pitchFamily="34" charset="-120"/>
              </a:rPr>
              <a:t>Indian Institute of Science Education and Research Bhopal
</a:t>
            </a:r>
            <a:pPr indent="0" marL="0">
              <a:lnSpc>
                <a:spcPct val="135000"/>
              </a:lnSpc>
              <a:buNone/>
            </a:pPr>
            <a:r>
              <a:rPr lang="en-US" sz="1150" dirty="0">
                <a:solidFill>
                  <a:srgbClr val="AFC2DB"/>
                </a:solidFill>
                <a:latin typeface="Calibri" pitchFamily="34" charset="0"/>
                <a:ea typeface="Calibri" pitchFamily="34" charset="-122"/>
                <a:cs typeface="Calibri" pitchFamily="34" charset="-120"/>
              </a:rPr>
              <a:t>kapoorarnav43@gmail.com</a:t>
            </a:r>
            <a:endParaRPr lang="en-US" sz="1400" dirty="0"/>
          </a:p>
        </p:txBody>
      </p:sp>
      <p:sp>
        <p:nvSpPr>
          <p:cNvPr id="8" name="Text 6"/>
          <p:cNvSpPr/>
          <p:nvPr/>
        </p:nvSpPr>
        <p:spPr>
          <a:xfrm>
            <a:off x="548640" y="6263640"/>
            <a:ext cx="10058400" cy="320040"/>
          </a:xfrm>
          <a:prstGeom prst="rect">
            <a:avLst/>
          </a:prstGeom>
          <a:noFill/>
          <a:ln/>
        </p:spPr>
        <p:txBody>
          <a:bodyPr wrap="square" lIns="0" tIns="0" rIns="0" bIns="0" rtlCol="0" anchor="ctr"/>
          <a:lstStyle/>
          <a:p>
            <a:pPr indent="0" marL="0">
              <a:buNone/>
            </a:pPr>
            <a:r>
              <a:rPr lang="en-US" sz="1050" i="1" dirty="0">
                <a:solidFill>
                  <a:srgbClr val="8FA2BC"/>
                </a:solidFill>
                <a:latin typeface="Calibri" pitchFamily="34" charset="0"/>
                <a:ea typeface="Calibri" pitchFamily="34" charset="-122"/>
                <a:cs typeface="Calibri" pitchFamily="34" charset="-120"/>
              </a:rPr>
              <a:t>Rosenhahn, Osborne &amp; Hirche — New Journal of Physics 27, 104509 (2025) · doi:10.1088/1367-2630/ae0e40</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2026-09-16T17:49:34Z</dcterms:created>
  <dcterms:modified xsi:type="dcterms:W3CDTF">2026-09-16T17:49:34Z</dcterms:modified>
</cp:coreProperties>
</file>